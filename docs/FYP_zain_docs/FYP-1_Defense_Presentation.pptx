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Bold" charset="1" panose="00000800000000000000"/>
      <p:regular r:id="rId16"/>
    </p:embeddedFont>
    <p:embeddedFont>
      <p:font typeface="Open Sauce Semi-Bold" charset="1" panose="00000700000000000000"/>
      <p:regular r:id="rId17"/>
    </p:embeddedFont>
    <p:embeddedFont>
      <p:font typeface="Open Sauce Medium" charset="1" panose="00000600000000000000"/>
      <p:regular r:id="rId18"/>
    </p:embeddedFont>
    <p:embeddedFont>
      <p:font typeface="Open Sauce"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jpe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1055010">
            <a:off x="12211339" y="-630451"/>
            <a:ext cx="8747129" cy="12495899"/>
          </a:xfrm>
          <a:custGeom>
            <a:avLst/>
            <a:gdLst/>
            <a:ahLst/>
            <a:cxnLst/>
            <a:rect r="r" b="b" t="t" l="l"/>
            <a:pathLst>
              <a:path h="12495899" w="8747129">
                <a:moveTo>
                  <a:pt x="8747129" y="0"/>
                </a:moveTo>
                <a:lnTo>
                  <a:pt x="0" y="0"/>
                </a:lnTo>
                <a:lnTo>
                  <a:pt x="0" y="12495899"/>
                </a:lnTo>
                <a:lnTo>
                  <a:pt x="8747129" y="12495899"/>
                </a:lnTo>
                <a:lnTo>
                  <a:pt x="87471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252298">
            <a:off x="-9957963" y="-2761053"/>
            <a:ext cx="14380666" cy="11648340"/>
          </a:xfrm>
          <a:custGeom>
            <a:avLst/>
            <a:gdLst/>
            <a:ahLst/>
            <a:cxnLst/>
            <a:rect r="r" b="b" t="t" l="l"/>
            <a:pathLst>
              <a:path h="11648340" w="14380666">
                <a:moveTo>
                  <a:pt x="14380667" y="0"/>
                </a:moveTo>
                <a:lnTo>
                  <a:pt x="0" y="0"/>
                </a:lnTo>
                <a:lnTo>
                  <a:pt x="0" y="11648340"/>
                </a:lnTo>
                <a:lnTo>
                  <a:pt x="14380667" y="11648340"/>
                </a:lnTo>
                <a:lnTo>
                  <a:pt x="14380667" y="0"/>
                </a:lnTo>
                <a:close/>
              </a:path>
            </a:pathLst>
          </a:custGeom>
          <a:blipFill>
            <a:blip r:embed="rId4">
              <a:alphaModFix amt="7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92575" y="8603344"/>
            <a:ext cx="966725" cy="654956"/>
          </a:xfrm>
          <a:custGeom>
            <a:avLst/>
            <a:gdLst/>
            <a:ahLst/>
            <a:cxnLst/>
            <a:rect r="r" b="b" t="t" l="l"/>
            <a:pathLst>
              <a:path h="654956" w="966725">
                <a:moveTo>
                  <a:pt x="0" y="0"/>
                </a:moveTo>
                <a:lnTo>
                  <a:pt x="966725" y="0"/>
                </a:lnTo>
                <a:lnTo>
                  <a:pt x="966725" y="654956"/>
                </a:lnTo>
                <a:lnTo>
                  <a:pt x="0" y="6549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8700" y="265672"/>
            <a:ext cx="2121915" cy="2008177"/>
          </a:xfrm>
          <a:custGeom>
            <a:avLst/>
            <a:gdLst/>
            <a:ahLst/>
            <a:cxnLst/>
            <a:rect r="r" b="b" t="t" l="l"/>
            <a:pathLst>
              <a:path h="2008177" w="2121915">
                <a:moveTo>
                  <a:pt x="0" y="0"/>
                </a:moveTo>
                <a:lnTo>
                  <a:pt x="2121915" y="0"/>
                </a:lnTo>
                <a:lnTo>
                  <a:pt x="2121915" y="2008178"/>
                </a:lnTo>
                <a:lnTo>
                  <a:pt x="0" y="2008178"/>
                </a:lnTo>
                <a:lnTo>
                  <a:pt x="0" y="0"/>
                </a:lnTo>
                <a:close/>
              </a:path>
            </a:pathLst>
          </a:custGeom>
          <a:blipFill>
            <a:blip r:embed="rId8"/>
            <a:stretch>
              <a:fillRect l="0" t="0" r="0" b="-5319"/>
            </a:stretch>
          </a:blipFill>
        </p:spPr>
      </p:sp>
      <p:sp>
        <p:nvSpPr>
          <p:cNvPr name="Freeform 6" id="6"/>
          <p:cNvSpPr/>
          <p:nvPr/>
        </p:nvSpPr>
        <p:spPr>
          <a:xfrm flipH="false" flipV="false" rot="0">
            <a:off x="14919736" y="1028700"/>
            <a:ext cx="2363610" cy="645616"/>
          </a:xfrm>
          <a:custGeom>
            <a:avLst/>
            <a:gdLst/>
            <a:ahLst/>
            <a:cxnLst/>
            <a:rect r="r" b="b" t="t" l="l"/>
            <a:pathLst>
              <a:path h="645616" w="2363610">
                <a:moveTo>
                  <a:pt x="0" y="0"/>
                </a:moveTo>
                <a:lnTo>
                  <a:pt x="2363610" y="0"/>
                </a:lnTo>
                <a:lnTo>
                  <a:pt x="2363610" y="645616"/>
                </a:lnTo>
                <a:lnTo>
                  <a:pt x="0" y="645616"/>
                </a:lnTo>
                <a:lnTo>
                  <a:pt x="0" y="0"/>
                </a:lnTo>
                <a:close/>
              </a:path>
            </a:pathLst>
          </a:custGeom>
          <a:blipFill>
            <a:blip r:embed="rId9"/>
            <a:stretch>
              <a:fillRect l="0" t="0" r="0" b="0"/>
            </a:stretch>
          </a:blipFill>
        </p:spPr>
      </p:sp>
      <p:sp>
        <p:nvSpPr>
          <p:cNvPr name="TextBox 7" id="7"/>
          <p:cNvSpPr txBox="true"/>
          <p:nvPr/>
        </p:nvSpPr>
        <p:spPr>
          <a:xfrm rot="0">
            <a:off x="1791807" y="2285729"/>
            <a:ext cx="13322476" cy="1898633"/>
          </a:xfrm>
          <a:prstGeom prst="rect">
            <a:avLst/>
          </a:prstGeom>
        </p:spPr>
        <p:txBody>
          <a:bodyPr anchor="t" rtlCol="false" tIns="0" lIns="0" bIns="0" rIns="0">
            <a:spAutoFit/>
          </a:bodyPr>
          <a:lstStyle/>
          <a:p>
            <a:pPr algn="l">
              <a:lnSpc>
                <a:spcPts val="15575"/>
              </a:lnSpc>
              <a:spcBef>
                <a:spcPct val="0"/>
              </a:spcBef>
            </a:pPr>
            <a:r>
              <a:rPr lang="en-US" sz="11125" b="true">
                <a:solidFill>
                  <a:srgbClr val="FFFFFF"/>
                </a:solidFill>
                <a:latin typeface="Open Sauce Bold"/>
                <a:ea typeface="Open Sauce Bold"/>
                <a:cs typeface="Open Sauce Bold"/>
                <a:sym typeface="Open Sauce Bold"/>
              </a:rPr>
              <a:t>PSL</a:t>
            </a:r>
            <a:r>
              <a:rPr lang="en-US" b="true" sz="11125">
                <a:solidFill>
                  <a:srgbClr val="FFFFFF"/>
                </a:solidFill>
                <a:latin typeface="Open Sauce Bold"/>
                <a:ea typeface="Open Sauce Bold"/>
                <a:cs typeface="Open Sauce Bold"/>
                <a:sym typeface="Open Sauce Bold"/>
              </a:rPr>
              <a:t> Recognizer</a:t>
            </a:r>
          </a:p>
        </p:txBody>
      </p:sp>
      <p:sp>
        <p:nvSpPr>
          <p:cNvPr name="TextBox 8" id="8"/>
          <p:cNvSpPr txBox="true"/>
          <p:nvPr/>
        </p:nvSpPr>
        <p:spPr>
          <a:xfrm rot="0">
            <a:off x="1791807" y="4310684"/>
            <a:ext cx="13322476" cy="1988820"/>
          </a:xfrm>
          <a:prstGeom prst="rect">
            <a:avLst/>
          </a:prstGeom>
        </p:spPr>
        <p:txBody>
          <a:bodyPr anchor="t" rtlCol="false" tIns="0" lIns="0" bIns="0" rIns="0">
            <a:spAutoFit/>
          </a:bodyPr>
          <a:lstStyle/>
          <a:p>
            <a:pPr algn="l">
              <a:lnSpc>
                <a:spcPts val="7980"/>
              </a:lnSpc>
            </a:pPr>
            <a:r>
              <a:rPr lang="en-US" sz="5700" b="true">
                <a:solidFill>
                  <a:srgbClr val="FFFFFF"/>
                </a:solidFill>
                <a:latin typeface="Open Sauce Semi-Bold"/>
                <a:ea typeface="Open Sauce Semi-Bold"/>
                <a:cs typeface="Open Sauce Semi-Bold"/>
                <a:sym typeface="Open Sauce Semi-Bold"/>
              </a:rPr>
              <a:t>Bridging silence and speech: </a:t>
            </a:r>
          </a:p>
          <a:p>
            <a:pPr algn="l">
              <a:lnSpc>
                <a:spcPts val="7980"/>
              </a:lnSpc>
              <a:spcBef>
                <a:spcPct val="0"/>
              </a:spcBef>
            </a:pPr>
            <a:r>
              <a:rPr lang="en-US" sz="5700" b="true">
                <a:solidFill>
                  <a:srgbClr val="FFFFFF"/>
                </a:solidFill>
                <a:latin typeface="Open Sauce Semi-Bold"/>
                <a:ea typeface="Open Sauce Semi-Bold"/>
                <a:cs typeface="Open Sauce Semi-Bold"/>
                <a:sym typeface="Open Sauce Semi-Bold"/>
              </a:rPr>
              <a:t>AI for Pakistan Sign Language.</a:t>
            </a:r>
          </a:p>
        </p:txBody>
      </p:sp>
      <p:sp>
        <p:nvSpPr>
          <p:cNvPr name="TextBox 9" id="9"/>
          <p:cNvSpPr txBox="true"/>
          <p:nvPr/>
        </p:nvSpPr>
        <p:spPr>
          <a:xfrm rot="0">
            <a:off x="1791807" y="6989529"/>
            <a:ext cx="6188336" cy="396089"/>
          </a:xfrm>
          <a:prstGeom prst="rect">
            <a:avLst/>
          </a:prstGeom>
        </p:spPr>
        <p:txBody>
          <a:bodyPr anchor="t" rtlCol="false" tIns="0" lIns="0" bIns="0" rIns="0">
            <a:spAutoFit/>
          </a:bodyPr>
          <a:lstStyle/>
          <a:p>
            <a:pPr algn="l">
              <a:lnSpc>
                <a:spcPts val="3368"/>
              </a:lnSpc>
              <a:spcBef>
                <a:spcPct val="0"/>
              </a:spcBef>
            </a:pPr>
            <a:r>
              <a:rPr lang="en-US" sz="2405" b="true">
                <a:solidFill>
                  <a:srgbClr val="D5D5D5"/>
                </a:solidFill>
                <a:latin typeface="Open Sauce Medium"/>
                <a:ea typeface="Open Sauce Medium"/>
                <a:cs typeface="Open Sauce Medium"/>
                <a:sym typeface="Open Sauce Medium"/>
              </a:rPr>
              <a:t>FYP-1 DEFENSE PRESENTATION</a:t>
            </a:r>
          </a:p>
        </p:txBody>
      </p:sp>
      <p:sp>
        <p:nvSpPr>
          <p:cNvPr name="TextBox 10" id="10"/>
          <p:cNvSpPr txBox="true"/>
          <p:nvPr/>
        </p:nvSpPr>
        <p:spPr>
          <a:xfrm rot="0">
            <a:off x="1791807" y="8591097"/>
            <a:ext cx="2717615" cy="3397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Open Sauce"/>
                <a:ea typeface="Open Sauce"/>
                <a:cs typeface="Open Sauce"/>
                <a:sym typeface="Open Sauce"/>
              </a:rPr>
              <a:t>Group Members:</a:t>
            </a:r>
          </a:p>
        </p:txBody>
      </p:sp>
      <p:grpSp>
        <p:nvGrpSpPr>
          <p:cNvPr name="Group 11" id="11"/>
          <p:cNvGrpSpPr/>
          <p:nvPr/>
        </p:nvGrpSpPr>
        <p:grpSpPr>
          <a:xfrm rot="0">
            <a:off x="1791807" y="9103505"/>
            <a:ext cx="9845148" cy="309589"/>
            <a:chOff x="0" y="0"/>
            <a:chExt cx="13126864" cy="412786"/>
          </a:xfrm>
        </p:grpSpPr>
        <p:sp>
          <p:nvSpPr>
            <p:cNvPr name="TextBox 12" id="12"/>
            <p:cNvSpPr txBox="true"/>
            <p:nvPr/>
          </p:nvSpPr>
          <p:spPr>
            <a:xfrm rot="0">
              <a:off x="0" y="-38100"/>
              <a:ext cx="4478932" cy="450886"/>
            </a:xfrm>
            <a:prstGeom prst="rect">
              <a:avLst/>
            </a:prstGeom>
          </p:spPr>
          <p:txBody>
            <a:bodyPr anchor="t" rtlCol="false" tIns="0" lIns="0" bIns="0" rIns="0">
              <a:spAutoFit/>
            </a:bodyPr>
            <a:lstStyle/>
            <a:p>
              <a:pPr algn="l">
                <a:lnSpc>
                  <a:spcPts val="2886"/>
                </a:lnSpc>
                <a:spcBef>
                  <a:spcPct val="0"/>
                </a:spcBef>
              </a:pPr>
              <a:r>
                <a:rPr lang="en-US" sz="2061" b="true">
                  <a:solidFill>
                    <a:srgbClr val="FFFFFF"/>
                  </a:solidFill>
                  <a:latin typeface="Open Sauce Medium"/>
                  <a:ea typeface="Open Sauce Medium"/>
                  <a:cs typeface="Open Sauce Medium"/>
                  <a:sym typeface="Open Sauce Medium"/>
                </a:rPr>
                <a:t>Zain Baig (Group Leader)              </a:t>
              </a:r>
            </a:p>
          </p:txBody>
        </p:sp>
        <p:sp>
          <p:nvSpPr>
            <p:cNvPr name="TextBox 13" id="13"/>
            <p:cNvSpPr txBox="true"/>
            <p:nvPr/>
          </p:nvSpPr>
          <p:spPr>
            <a:xfrm rot="0">
              <a:off x="5824265" y="-38100"/>
              <a:ext cx="1475243" cy="450886"/>
            </a:xfrm>
            <a:prstGeom prst="rect">
              <a:avLst/>
            </a:prstGeom>
          </p:spPr>
          <p:txBody>
            <a:bodyPr anchor="t" rtlCol="false" tIns="0" lIns="0" bIns="0" rIns="0">
              <a:spAutoFit/>
            </a:bodyPr>
            <a:lstStyle/>
            <a:p>
              <a:pPr algn="l">
                <a:lnSpc>
                  <a:spcPts val="2886"/>
                </a:lnSpc>
                <a:spcBef>
                  <a:spcPct val="0"/>
                </a:spcBef>
              </a:pPr>
              <a:r>
                <a:rPr lang="en-US" sz="2061">
                  <a:solidFill>
                    <a:srgbClr val="FFFFFF"/>
                  </a:solidFill>
                  <a:latin typeface="Open Sauce"/>
                  <a:ea typeface="Open Sauce"/>
                  <a:cs typeface="Open Sauce"/>
                  <a:sym typeface="Open Sauce"/>
                </a:rPr>
                <a:t>Aarij Ali</a:t>
              </a:r>
            </a:p>
          </p:txBody>
        </p:sp>
        <p:sp>
          <p:nvSpPr>
            <p:cNvPr name="TextBox 14" id="14"/>
            <p:cNvSpPr txBox="true"/>
            <p:nvPr/>
          </p:nvSpPr>
          <p:spPr>
            <a:xfrm rot="0">
              <a:off x="9001307" y="-38100"/>
              <a:ext cx="4125557" cy="450886"/>
            </a:xfrm>
            <a:prstGeom prst="rect">
              <a:avLst/>
            </a:prstGeom>
          </p:spPr>
          <p:txBody>
            <a:bodyPr anchor="t" rtlCol="false" tIns="0" lIns="0" bIns="0" rIns="0">
              <a:spAutoFit/>
            </a:bodyPr>
            <a:lstStyle/>
            <a:p>
              <a:pPr algn="l">
                <a:lnSpc>
                  <a:spcPts val="2886"/>
                </a:lnSpc>
                <a:spcBef>
                  <a:spcPct val="0"/>
                </a:spcBef>
              </a:pPr>
              <a:r>
                <a:rPr lang="en-US" sz="2061">
                  <a:solidFill>
                    <a:srgbClr val="FFFFFF"/>
                  </a:solidFill>
                  <a:latin typeface="Open Sauce"/>
                  <a:ea typeface="Open Sauce"/>
                  <a:cs typeface="Open Sauce"/>
                  <a:sym typeface="Open Sauce"/>
                </a:rPr>
                <a:t>Abdur Rehman Khan</a:t>
              </a:r>
            </a:p>
          </p:txBody>
        </p:sp>
      </p:grpSp>
      <p:sp>
        <p:nvSpPr>
          <p:cNvPr name="TextBox 15" id="15"/>
          <p:cNvSpPr txBox="true"/>
          <p:nvPr/>
        </p:nvSpPr>
        <p:spPr>
          <a:xfrm rot="0">
            <a:off x="1791807" y="7808970"/>
            <a:ext cx="3791699" cy="365760"/>
          </a:xfrm>
          <a:prstGeom prst="rect">
            <a:avLst/>
          </a:prstGeom>
        </p:spPr>
        <p:txBody>
          <a:bodyPr anchor="t" rtlCol="false" tIns="0" lIns="0" bIns="0" rIns="0">
            <a:spAutoFit/>
          </a:bodyPr>
          <a:lstStyle/>
          <a:p>
            <a:pPr algn="l">
              <a:lnSpc>
                <a:spcPts val="2939"/>
              </a:lnSpc>
              <a:spcBef>
                <a:spcPct val="0"/>
              </a:spcBef>
            </a:pPr>
            <a:r>
              <a:rPr lang="en-US" sz="2099">
                <a:solidFill>
                  <a:srgbClr val="FFFFFF"/>
                </a:solidFill>
                <a:latin typeface="Open Sauce"/>
                <a:ea typeface="Open Sauce"/>
                <a:cs typeface="Open Sauce"/>
                <a:sym typeface="Open Sauce"/>
              </a:rPr>
              <a:t>Supervisor: </a:t>
            </a:r>
            <a:r>
              <a:rPr lang="en-US" sz="2099" b="true">
                <a:solidFill>
                  <a:srgbClr val="FFFFFF"/>
                </a:solidFill>
                <a:latin typeface="Open Sauce Medium"/>
                <a:ea typeface="Open Sauce Medium"/>
                <a:cs typeface="Open Sauce Medium"/>
                <a:sym typeface="Open Sauce Medium"/>
              </a:rPr>
              <a:t>Dr Anum Qureshi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73737">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571750" y="2381304"/>
            <a:ext cx="9458842" cy="751840"/>
          </a:xfrm>
          <a:prstGeom prst="rect">
            <a:avLst/>
          </a:prstGeom>
        </p:spPr>
        <p:txBody>
          <a:bodyPr anchor="t" rtlCol="false" tIns="0" lIns="0" bIns="0" rIns="0">
            <a:spAutoFit/>
          </a:bodyPr>
          <a:lstStyle/>
          <a:p>
            <a:pPr algn="l">
              <a:lnSpc>
                <a:spcPts val="5600"/>
              </a:lnSpc>
            </a:pPr>
            <a:r>
              <a:rPr lang="en-US" sz="5600" b="true">
                <a:solidFill>
                  <a:srgbClr val="FFFFFF"/>
                </a:solidFill>
                <a:latin typeface="Open Sauce Semi-Bold"/>
                <a:ea typeface="Open Sauce Semi-Bold"/>
                <a:cs typeface="Open Sauce Semi-Bold"/>
                <a:sym typeface="Open Sauce Semi-Bold"/>
              </a:rPr>
              <a:t>TABLE OF CONTENTS</a:t>
            </a:r>
          </a:p>
        </p:txBody>
      </p:sp>
      <p:sp>
        <p:nvSpPr>
          <p:cNvPr name="TextBox 3" id="3"/>
          <p:cNvSpPr txBox="true"/>
          <p:nvPr/>
        </p:nvSpPr>
        <p:spPr>
          <a:xfrm rot="0">
            <a:off x="2571750" y="4085644"/>
            <a:ext cx="56789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01</a:t>
            </a:r>
          </a:p>
        </p:txBody>
      </p:sp>
      <p:sp>
        <p:nvSpPr>
          <p:cNvPr name="TextBox 4" id="4"/>
          <p:cNvSpPr txBox="true"/>
          <p:nvPr/>
        </p:nvSpPr>
        <p:spPr>
          <a:xfrm rot="0">
            <a:off x="3321844" y="4170086"/>
            <a:ext cx="2939497" cy="260350"/>
          </a:xfrm>
          <a:prstGeom prst="rect">
            <a:avLst/>
          </a:prstGeom>
        </p:spPr>
        <p:txBody>
          <a:bodyPr anchor="t" rtlCol="false" tIns="0" lIns="0" bIns="0" rIns="0">
            <a:spAutoFit/>
          </a:bodyPr>
          <a:lstStyle/>
          <a:p>
            <a:pPr algn="l">
              <a:lnSpc>
                <a:spcPts val="1999"/>
              </a:lnSpc>
            </a:pPr>
            <a:r>
              <a:rPr lang="en-US" sz="1999" b="true">
                <a:solidFill>
                  <a:srgbClr val="FFFFFF"/>
                </a:solidFill>
                <a:latin typeface="Open Sauce Semi-Bold"/>
                <a:ea typeface="Open Sauce Semi-Bold"/>
                <a:cs typeface="Open Sauce Semi-Bold"/>
                <a:sym typeface="Open Sauce Semi-Bold"/>
              </a:rPr>
              <a:t>Introduction</a:t>
            </a:r>
          </a:p>
        </p:txBody>
      </p:sp>
      <p:sp>
        <p:nvSpPr>
          <p:cNvPr name="TextBox 5" id="5"/>
          <p:cNvSpPr txBox="true"/>
          <p:nvPr/>
        </p:nvSpPr>
        <p:spPr>
          <a:xfrm rot="0">
            <a:off x="9810750" y="4085644"/>
            <a:ext cx="750094"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05</a:t>
            </a:r>
          </a:p>
        </p:txBody>
      </p:sp>
      <p:sp>
        <p:nvSpPr>
          <p:cNvPr name="TextBox 6" id="6"/>
          <p:cNvSpPr txBox="true"/>
          <p:nvPr/>
        </p:nvSpPr>
        <p:spPr>
          <a:xfrm rot="0">
            <a:off x="10560844" y="4160561"/>
            <a:ext cx="2939497" cy="245745"/>
          </a:xfrm>
          <a:prstGeom prst="rect">
            <a:avLst/>
          </a:prstGeom>
        </p:spPr>
        <p:txBody>
          <a:bodyPr anchor="t" rtlCol="false" tIns="0" lIns="0" bIns="0" rIns="0">
            <a:spAutoFit/>
          </a:bodyPr>
          <a:lstStyle/>
          <a:p>
            <a:pPr algn="l">
              <a:lnSpc>
                <a:spcPts val="1800"/>
              </a:lnSpc>
            </a:pPr>
            <a:r>
              <a:rPr lang="en-US" sz="1800" b="true">
                <a:solidFill>
                  <a:srgbClr val="FFFFFF"/>
                </a:solidFill>
                <a:latin typeface="Open Sauce Medium"/>
                <a:ea typeface="Open Sauce Medium"/>
                <a:cs typeface="Open Sauce Medium"/>
                <a:sym typeface="Open Sauce Medium"/>
              </a:rPr>
              <a:t>System Architecture</a:t>
            </a:r>
          </a:p>
        </p:txBody>
      </p:sp>
      <p:sp>
        <p:nvSpPr>
          <p:cNvPr name="TextBox 7" id="7"/>
          <p:cNvSpPr txBox="true"/>
          <p:nvPr/>
        </p:nvSpPr>
        <p:spPr>
          <a:xfrm rot="0">
            <a:off x="2571750" y="5259377"/>
            <a:ext cx="56789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02</a:t>
            </a:r>
          </a:p>
        </p:txBody>
      </p:sp>
      <p:sp>
        <p:nvSpPr>
          <p:cNvPr name="TextBox 8" id="8"/>
          <p:cNvSpPr txBox="true"/>
          <p:nvPr/>
        </p:nvSpPr>
        <p:spPr>
          <a:xfrm rot="0">
            <a:off x="3321844" y="5343818"/>
            <a:ext cx="2939497" cy="260350"/>
          </a:xfrm>
          <a:prstGeom prst="rect">
            <a:avLst/>
          </a:prstGeom>
        </p:spPr>
        <p:txBody>
          <a:bodyPr anchor="t" rtlCol="false" tIns="0" lIns="0" bIns="0" rIns="0">
            <a:spAutoFit/>
          </a:bodyPr>
          <a:lstStyle/>
          <a:p>
            <a:pPr algn="l">
              <a:lnSpc>
                <a:spcPts val="1999"/>
              </a:lnSpc>
            </a:pPr>
            <a:r>
              <a:rPr lang="en-US" sz="1999" b="true">
                <a:solidFill>
                  <a:srgbClr val="FFFFFF"/>
                </a:solidFill>
                <a:latin typeface="Open Sauce Medium"/>
                <a:ea typeface="Open Sauce Medium"/>
                <a:cs typeface="Open Sauce Medium"/>
                <a:sym typeface="Open Sauce Medium"/>
              </a:rPr>
              <a:t>Lit</a:t>
            </a:r>
            <a:r>
              <a:rPr lang="en-US" sz="1999" b="true">
                <a:solidFill>
                  <a:srgbClr val="FFFFFF"/>
                </a:solidFill>
                <a:latin typeface="Open Sauce Medium"/>
                <a:ea typeface="Open Sauce Medium"/>
                <a:cs typeface="Open Sauce Medium"/>
                <a:sym typeface="Open Sauce Medium"/>
              </a:rPr>
              <a:t>erature review</a:t>
            </a:r>
          </a:p>
        </p:txBody>
      </p:sp>
      <p:sp>
        <p:nvSpPr>
          <p:cNvPr name="TextBox 9" id="9"/>
          <p:cNvSpPr txBox="true"/>
          <p:nvPr/>
        </p:nvSpPr>
        <p:spPr>
          <a:xfrm rot="0">
            <a:off x="9810750" y="5259377"/>
            <a:ext cx="63566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06</a:t>
            </a:r>
          </a:p>
        </p:txBody>
      </p:sp>
      <p:sp>
        <p:nvSpPr>
          <p:cNvPr name="TextBox 10" id="10"/>
          <p:cNvSpPr txBox="true"/>
          <p:nvPr/>
        </p:nvSpPr>
        <p:spPr>
          <a:xfrm rot="0">
            <a:off x="10560844" y="5334293"/>
            <a:ext cx="2939497" cy="245745"/>
          </a:xfrm>
          <a:prstGeom prst="rect">
            <a:avLst/>
          </a:prstGeom>
        </p:spPr>
        <p:txBody>
          <a:bodyPr anchor="t" rtlCol="false" tIns="0" lIns="0" bIns="0" rIns="0">
            <a:spAutoFit/>
          </a:bodyPr>
          <a:lstStyle/>
          <a:p>
            <a:pPr algn="l">
              <a:lnSpc>
                <a:spcPts val="1800"/>
              </a:lnSpc>
            </a:pPr>
            <a:r>
              <a:rPr lang="en-US" sz="1800" b="true">
                <a:solidFill>
                  <a:srgbClr val="FFFFFF"/>
                </a:solidFill>
                <a:latin typeface="Open Sauce Medium"/>
                <a:ea typeface="Open Sauce Medium"/>
                <a:cs typeface="Open Sauce Medium"/>
                <a:sym typeface="Open Sauce Medium"/>
              </a:rPr>
              <a:t>FYP - 1 Goals</a:t>
            </a:r>
          </a:p>
        </p:txBody>
      </p:sp>
      <p:sp>
        <p:nvSpPr>
          <p:cNvPr name="TextBox 11" id="11"/>
          <p:cNvSpPr txBox="true"/>
          <p:nvPr/>
        </p:nvSpPr>
        <p:spPr>
          <a:xfrm rot="0">
            <a:off x="2571750" y="6433110"/>
            <a:ext cx="56789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03</a:t>
            </a:r>
          </a:p>
        </p:txBody>
      </p:sp>
      <p:sp>
        <p:nvSpPr>
          <p:cNvPr name="TextBox 12" id="12"/>
          <p:cNvSpPr txBox="true"/>
          <p:nvPr/>
        </p:nvSpPr>
        <p:spPr>
          <a:xfrm rot="0">
            <a:off x="3321844" y="6517551"/>
            <a:ext cx="2939497" cy="260350"/>
          </a:xfrm>
          <a:prstGeom prst="rect">
            <a:avLst/>
          </a:prstGeom>
        </p:spPr>
        <p:txBody>
          <a:bodyPr anchor="t" rtlCol="false" tIns="0" lIns="0" bIns="0" rIns="0">
            <a:spAutoFit/>
          </a:bodyPr>
          <a:lstStyle/>
          <a:p>
            <a:pPr algn="l">
              <a:lnSpc>
                <a:spcPts val="1999"/>
              </a:lnSpc>
            </a:pPr>
            <a:r>
              <a:rPr lang="en-US" sz="1999" b="true">
                <a:solidFill>
                  <a:srgbClr val="FFFFFF"/>
                </a:solidFill>
                <a:latin typeface="Open Sauce Medium"/>
                <a:ea typeface="Open Sauce Medium"/>
                <a:cs typeface="Open Sauce Medium"/>
                <a:sym typeface="Open Sauce Medium"/>
              </a:rPr>
              <a:t>Mo</a:t>
            </a:r>
            <a:r>
              <a:rPr lang="en-US" sz="1999" b="true">
                <a:solidFill>
                  <a:srgbClr val="FFFFFF"/>
                </a:solidFill>
                <a:latin typeface="Open Sauce Medium"/>
                <a:ea typeface="Open Sauce Medium"/>
                <a:cs typeface="Open Sauce Medium"/>
                <a:sym typeface="Open Sauce Medium"/>
              </a:rPr>
              <a:t>tivation</a:t>
            </a:r>
          </a:p>
        </p:txBody>
      </p:sp>
      <p:sp>
        <p:nvSpPr>
          <p:cNvPr name="TextBox 13" id="13"/>
          <p:cNvSpPr txBox="true"/>
          <p:nvPr/>
        </p:nvSpPr>
        <p:spPr>
          <a:xfrm rot="0">
            <a:off x="9810750" y="6433110"/>
            <a:ext cx="63566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07</a:t>
            </a:r>
          </a:p>
        </p:txBody>
      </p:sp>
      <p:sp>
        <p:nvSpPr>
          <p:cNvPr name="TextBox 14" id="14"/>
          <p:cNvSpPr txBox="true"/>
          <p:nvPr/>
        </p:nvSpPr>
        <p:spPr>
          <a:xfrm rot="0">
            <a:off x="10560844" y="6508026"/>
            <a:ext cx="2939497" cy="245745"/>
          </a:xfrm>
          <a:prstGeom prst="rect">
            <a:avLst/>
          </a:prstGeom>
        </p:spPr>
        <p:txBody>
          <a:bodyPr anchor="t" rtlCol="false" tIns="0" lIns="0" bIns="0" rIns="0">
            <a:spAutoFit/>
          </a:bodyPr>
          <a:lstStyle/>
          <a:p>
            <a:pPr algn="l">
              <a:lnSpc>
                <a:spcPts val="1800"/>
              </a:lnSpc>
            </a:pPr>
            <a:r>
              <a:rPr lang="en-US" sz="1800" b="true">
                <a:solidFill>
                  <a:srgbClr val="FFFFFF"/>
                </a:solidFill>
                <a:latin typeface="Open Sauce Medium"/>
                <a:ea typeface="Open Sauce Medium"/>
                <a:cs typeface="Open Sauce Medium"/>
                <a:sym typeface="Open Sauce Medium"/>
              </a:rPr>
              <a:t>Timeline - Gantt Chart</a:t>
            </a:r>
          </a:p>
        </p:txBody>
      </p:sp>
      <p:sp>
        <p:nvSpPr>
          <p:cNvPr name="TextBox 15" id="15"/>
          <p:cNvSpPr txBox="true"/>
          <p:nvPr/>
        </p:nvSpPr>
        <p:spPr>
          <a:xfrm rot="0">
            <a:off x="2571750" y="7606843"/>
            <a:ext cx="56789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04</a:t>
            </a:r>
          </a:p>
        </p:txBody>
      </p:sp>
      <p:sp>
        <p:nvSpPr>
          <p:cNvPr name="TextBox 16" id="16"/>
          <p:cNvSpPr txBox="true"/>
          <p:nvPr/>
        </p:nvSpPr>
        <p:spPr>
          <a:xfrm rot="0">
            <a:off x="3321844" y="7681759"/>
            <a:ext cx="2939497" cy="245745"/>
          </a:xfrm>
          <a:prstGeom prst="rect">
            <a:avLst/>
          </a:prstGeom>
        </p:spPr>
        <p:txBody>
          <a:bodyPr anchor="t" rtlCol="false" tIns="0" lIns="0" bIns="0" rIns="0">
            <a:spAutoFit/>
          </a:bodyPr>
          <a:lstStyle/>
          <a:p>
            <a:pPr algn="l">
              <a:lnSpc>
                <a:spcPts val="1800"/>
              </a:lnSpc>
            </a:pPr>
            <a:r>
              <a:rPr lang="en-US" sz="1800" b="true">
                <a:solidFill>
                  <a:srgbClr val="FFFFFF"/>
                </a:solidFill>
                <a:latin typeface="Open Sauce Medium"/>
                <a:ea typeface="Open Sauce Medium"/>
                <a:cs typeface="Open Sauce Medium"/>
                <a:sym typeface="Open Sauce Medium"/>
              </a:rPr>
              <a:t>Previous Work</a:t>
            </a:r>
          </a:p>
        </p:txBody>
      </p:sp>
      <p:sp>
        <p:nvSpPr>
          <p:cNvPr name="TextBox 17" id="17"/>
          <p:cNvSpPr txBox="true"/>
          <p:nvPr/>
        </p:nvSpPr>
        <p:spPr>
          <a:xfrm rot="0">
            <a:off x="9810750" y="7606843"/>
            <a:ext cx="635668" cy="424180"/>
          </a:xfrm>
          <a:prstGeom prst="rect">
            <a:avLst/>
          </a:prstGeom>
        </p:spPr>
        <p:txBody>
          <a:bodyPr anchor="t" rtlCol="false" tIns="0" lIns="0" bIns="0" rIns="0">
            <a:spAutoFit/>
          </a:bodyPr>
          <a:lstStyle/>
          <a:p>
            <a:pPr algn="l">
              <a:lnSpc>
                <a:spcPts val="3200"/>
              </a:lnSpc>
            </a:pPr>
            <a:r>
              <a:rPr lang="en-US" sz="3200" b="true">
                <a:solidFill>
                  <a:srgbClr val="FFFFFF"/>
                </a:solidFill>
                <a:latin typeface="Open Sauce Medium"/>
                <a:ea typeface="Open Sauce Medium"/>
                <a:cs typeface="Open Sauce Medium"/>
                <a:sym typeface="Open Sauce Medium"/>
              </a:rPr>
              <a:t>08</a:t>
            </a:r>
          </a:p>
        </p:txBody>
      </p:sp>
      <p:sp>
        <p:nvSpPr>
          <p:cNvPr name="TextBox 18" id="18"/>
          <p:cNvSpPr txBox="true"/>
          <p:nvPr/>
        </p:nvSpPr>
        <p:spPr>
          <a:xfrm rot="0">
            <a:off x="10560844" y="7681759"/>
            <a:ext cx="2939497" cy="245745"/>
          </a:xfrm>
          <a:prstGeom prst="rect">
            <a:avLst/>
          </a:prstGeom>
        </p:spPr>
        <p:txBody>
          <a:bodyPr anchor="t" rtlCol="false" tIns="0" lIns="0" bIns="0" rIns="0">
            <a:spAutoFit/>
          </a:bodyPr>
          <a:lstStyle/>
          <a:p>
            <a:pPr algn="l">
              <a:lnSpc>
                <a:spcPts val="1800"/>
              </a:lnSpc>
            </a:pPr>
            <a:r>
              <a:rPr lang="en-US" sz="1800" b="true">
                <a:solidFill>
                  <a:srgbClr val="FFFFFF"/>
                </a:solidFill>
                <a:latin typeface="Open Sauce Medium"/>
                <a:ea typeface="Open Sauce Medium"/>
                <a:cs typeface="Open Sauce Medium"/>
                <a:sym typeface="Open Sauce Medium"/>
              </a:rPr>
              <a:t>Thankyou</a:t>
            </a:r>
          </a:p>
        </p:txBody>
      </p:sp>
      <p:sp>
        <p:nvSpPr>
          <p:cNvPr name="AutoShape 19" id="19"/>
          <p:cNvSpPr/>
          <p:nvPr/>
        </p:nvSpPr>
        <p:spPr>
          <a:xfrm>
            <a:off x="2571750" y="4856039"/>
            <a:ext cx="5905500" cy="0"/>
          </a:xfrm>
          <a:prstGeom prst="line">
            <a:avLst/>
          </a:prstGeom>
          <a:ln cap="flat" w="9525">
            <a:solidFill>
              <a:srgbClr val="C3C5C6"/>
            </a:solidFill>
            <a:prstDash val="solid"/>
            <a:headEnd type="none" len="sm" w="sm"/>
            <a:tailEnd type="none" len="sm" w="sm"/>
          </a:ln>
        </p:spPr>
      </p:sp>
      <p:sp>
        <p:nvSpPr>
          <p:cNvPr name="AutoShape 20" id="20"/>
          <p:cNvSpPr/>
          <p:nvPr/>
        </p:nvSpPr>
        <p:spPr>
          <a:xfrm>
            <a:off x="9810750" y="4856039"/>
            <a:ext cx="5905500" cy="0"/>
          </a:xfrm>
          <a:prstGeom prst="line">
            <a:avLst/>
          </a:prstGeom>
          <a:ln cap="flat" w="9525">
            <a:solidFill>
              <a:srgbClr val="C3C5C6"/>
            </a:solidFill>
            <a:prstDash val="solid"/>
            <a:headEnd type="none" len="sm" w="sm"/>
            <a:tailEnd type="none" len="sm" w="sm"/>
          </a:ln>
        </p:spPr>
      </p:sp>
      <p:sp>
        <p:nvSpPr>
          <p:cNvPr name="AutoShape 21" id="21"/>
          <p:cNvSpPr/>
          <p:nvPr/>
        </p:nvSpPr>
        <p:spPr>
          <a:xfrm>
            <a:off x="2571750" y="6029772"/>
            <a:ext cx="5905500" cy="0"/>
          </a:xfrm>
          <a:prstGeom prst="line">
            <a:avLst/>
          </a:prstGeom>
          <a:ln cap="flat" w="9525">
            <a:solidFill>
              <a:srgbClr val="C3C5C6"/>
            </a:solidFill>
            <a:prstDash val="solid"/>
            <a:headEnd type="none" len="sm" w="sm"/>
            <a:tailEnd type="none" len="sm" w="sm"/>
          </a:ln>
        </p:spPr>
      </p:sp>
      <p:sp>
        <p:nvSpPr>
          <p:cNvPr name="AutoShape 22" id="22"/>
          <p:cNvSpPr/>
          <p:nvPr/>
        </p:nvSpPr>
        <p:spPr>
          <a:xfrm>
            <a:off x="9810750" y="6029772"/>
            <a:ext cx="5905500" cy="0"/>
          </a:xfrm>
          <a:prstGeom prst="line">
            <a:avLst/>
          </a:prstGeom>
          <a:ln cap="flat" w="9525">
            <a:solidFill>
              <a:srgbClr val="C3C5C6"/>
            </a:solidFill>
            <a:prstDash val="solid"/>
            <a:headEnd type="none" len="sm" w="sm"/>
            <a:tailEnd type="none" len="sm" w="sm"/>
          </a:ln>
        </p:spPr>
      </p:sp>
      <p:sp>
        <p:nvSpPr>
          <p:cNvPr name="AutoShape 23" id="23"/>
          <p:cNvSpPr/>
          <p:nvPr/>
        </p:nvSpPr>
        <p:spPr>
          <a:xfrm>
            <a:off x="2571750" y="7203505"/>
            <a:ext cx="5905500" cy="0"/>
          </a:xfrm>
          <a:prstGeom prst="line">
            <a:avLst/>
          </a:prstGeom>
          <a:ln cap="flat" w="9525">
            <a:solidFill>
              <a:srgbClr val="C3C5C6"/>
            </a:solidFill>
            <a:prstDash val="solid"/>
            <a:headEnd type="none" len="sm" w="sm"/>
            <a:tailEnd type="none" len="sm" w="sm"/>
          </a:ln>
        </p:spPr>
      </p:sp>
      <p:sp>
        <p:nvSpPr>
          <p:cNvPr name="AutoShape 24" id="24"/>
          <p:cNvSpPr/>
          <p:nvPr/>
        </p:nvSpPr>
        <p:spPr>
          <a:xfrm>
            <a:off x="9810750" y="7203505"/>
            <a:ext cx="5905500" cy="0"/>
          </a:xfrm>
          <a:prstGeom prst="line">
            <a:avLst/>
          </a:prstGeom>
          <a:ln cap="flat" w="9525">
            <a:solidFill>
              <a:srgbClr val="C3C5C6"/>
            </a:solidFill>
            <a:prstDash val="solid"/>
            <a:headEnd type="none" len="sm" w="sm"/>
            <a:tailEnd type="none" len="sm" w="sm"/>
          </a:ln>
        </p:spPr>
      </p:sp>
      <p:sp>
        <p:nvSpPr>
          <p:cNvPr name="AutoShape 25" id="25"/>
          <p:cNvSpPr/>
          <p:nvPr/>
        </p:nvSpPr>
        <p:spPr>
          <a:xfrm>
            <a:off x="2571750" y="8377238"/>
            <a:ext cx="5905500" cy="0"/>
          </a:xfrm>
          <a:prstGeom prst="line">
            <a:avLst/>
          </a:prstGeom>
          <a:ln cap="flat" w="9525">
            <a:solidFill>
              <a:srgbClr val="C3C5C6"/>
            </a:solidFill>
            <a:prstDash val="solid"/>
            <a:headEnd type="none" len="sm" w="sm"/>
            <a:tailEnd type="none" len="sm" w="sm"/>
          </a:ln>
        </p:spPr>
      </p:sp>
      <p:sp>
        <p:nvSpPr>
          <p:cNvPr name="AutoShape 26" id="26"/>
          <p:cNvSpPr/>
          <p:nvPr/>
        </p:nvSpPr>
        <p:spPr>
          <a:xfrm>
            <a:off x="9810750" y="8377238"/>
            <a:ext cx="5905500" cy="0"/>
          </a:xfrm>
          <a:prstGeom prst="line">
            <a:avLst/>
          </a:prstGeom>
          <a:ln cap="flat" w="9525">
            <a:solidFill>
              <a:srgbClr val="C3C5C6"/>
            </a:solidFill>
            <a:prstDash val="solid"/>
            <a:headEnd type="none" len="sm" w="sm"/>
            <a:tailEnd type="none" len="sm" w="sm"/>
          </a:ln>
        </p:spPr>
      </p:sp>
      <p:sp>
        <p:nvSpPr>
          <p:cNvPr name="Freeform 27" id="27"/>
          <p:cNvSpPr/>
          <p:nvPr/>
        </p:nvSpPr>
        <p:spPr>
          <a:xfrm flipH="false" flipV="true" rot="0">
            <a:off x="9866352" y="-1009437"/>
            <a:ext cx="20327065" cy="16464922"/>
          </a:xfrm>
          <a:custGeom>
            <a:avLst/>
            <a:gdLst/>
            <a:ahLst/>
            <a:cxnLst/>
            <a:rect r="r" b="b" t="t" l="l"/>
            <a:pathLst>
              <a:path h="16464922" w="20327065">
                <a:moveTo>
                  <a:pt x="0" y="16464922"/>
                </a:moveTo>
                <a:lnTo>
                  <a:pt x="20327064" y="16464922"/>
                </a:lnTo>
                <a:lnTo>
                  <a:pt x="20327064" y="0"/>
                </a:lnTo>
                <a:lnTo>
                  <a:pt x="0" y="0"/>
                </a:lnTo>
                <a:lnTo>
                  <a:pt x="0" y="16464922"/>
                </a:lnTo>
                <a:close/>
              </a:path>
            </a:pathLst>
          </a:custGeom>
          <a:blipFill>
            <a:blip r:embed="rId2">
              <a:alphaModFix amt="62000"/>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0">
            <a:off x="16292575" y="8603344"/>
            <a:ext cx="966725" cy="654956"/>
          </a:xfrm>
          <a:custGeom>
            <a:avLst/>
            <a:gdLst/>
            <a:ahLst/>
            <a:cxnLst/>
            <a:rect r="r" b="b" t="t" l="l"/>
            <a:pathLst>
              <a:path h="654956" w="966725">
                <a:moveTo>
                  <a:pt x="0" y="0"/>
                </a:moveTo>
                <a:lnTo>
                  <a:pt x="966725" y="0"/>
                </a:lnTo>
                <a:lnTo>
                  <a:pt x="966725" y="654956"/>
                </a:lnTo>
                <a:lnTo>
                  <a:pt x="0" y="654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356162">
            <a:off x="13914435" y="-274234"/>
            <a:ext cx="8747129" cy="12495899"/>
          </a:xfrm>
          <a:custGeom>
            <a:avLst/>
            <a:gdLst/>
            <a:ahLst/>
            <a:cxnLst/>
            <a:rect r="r" b="b" t="t" l="l"/>
            <a:pathLst>
              <a:path h="12495899" w="8747129">
                <a:moveTo>
                  <a:pt x="8747130" y="0"/>
                </a:moveTo>
                <a:lnTo>
                  <a:pt x="0" y="0"/>
                </a:lnTo>
                <a:lnTo>
                  <a:pt x="0" y="12495899"/>
                </a:lnTo>
                <a:lnTo>
                  <a:pt x="8747130" y="12495899"/>
                </a:lnTo>
                <a:lnTo>
                  <a:pt x="87471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7470011" cy="10287000"/>
            <a:chOff x="0" y="0"/>
            <a:chExt cx="1029868" cy="1418238"/>
          </a:xfrm>
        </p:grpSpPr>
        <p:sp>
          <p:nvSpPr>
            <p:cNvPr name="Freeform 4" id="4"/>
            <p:cNvSpPr/>
            <p:nvPr/>
          </p:nvSpPr>
          <p:spPr>
            <a:xfrm flipH="false" flipV="false" rot="0">
              <a:off x="0" y="0"/>
              <a:ext cx="1029868" cy="1418238"/>
            </a:xfrm>
            <a:custGeom>
              <a:avLst/>
              <a:gdLst/>
              <a:ahLst/>
              <a:cxnLst/>
              <a:rect r="r" b="b" t="t" l="l"/>
              <a:pathLst>
                <a:path h="1418238" w="1029868">
                  <a:moveTo>
                    <a:pt x="0" y="0"/>
                  </a:moveTo>
                  <a:lnTo>
                    <a:pt x="1029868" y="0"/>
                  </a:lnTo>
                  <a:lnTo>
                    <a:pt x="1029868" y="1418238"/>
                  </a:lnTo>
                  <a:lnTo>
                    <a:pt x="0" y="1418238"/>
                  </a:lnTo>
                  <a:close/>
                </a:path>
              </a:pathLst>
            </a:custGeom>
            <a:blipFill>
              <a:blip r:embed="rId4"/>
              <a:stretch>
                <a:fillRect l="-38689" t="0" r="-38689" b="0"/>
              </a:stretch>
            </a:blipFill>
          </p:spPr>
        </p:sp>
      </p:grpSp>
      <p:sp>
        <p:nvSpPr>
          <p:cNvPr name="TextBox 5" id="5"/>
          <p:cNvSpPr txBox="true"/>
          <p:nvPr/>
        </p:nvSpPr>
        <p:spPr>
          <a:xfrm rot="0">
            <a:off x="8283255" y="521392"/>
            <a:ext cx="8320285" cy="1442246"/>
          </a:xfrm>
          <a:prstGeom prst="rect">
            <a:avLst/>
          </a:prstGeom>
        </p:spPr>
        <p:txBody>
          <a:bodyPr anchor="t" rtlCol="false" tIns="0" lIns="0" bIns="0" rIns="0">
            <a:spAutoFit/>
          </a:bodyPr>
          <a:lstStyle/>
          <a:p>
            <a:pPr algn="l">
              <a:lnSpc>
                <a:spcPts val="11722"/>
              </a:lnSpc>
              <a:spcBef>
                <a:spcPct val="0"/>
              </a:spcBef>
            </a:pPr>
            <a:r>
              <a:rPr lang="en-US" sz="8373" b="true">
                <a:solidFill>
                  <a:srgbClr val="FFFFFF"/>
                </a:solidFill>
                <a:latin typeface="Open Sauce Bold"/>
                <a:ea typeface="Open Sauce Bold"/>
                <a:cs typeface="Open Sauce Bold"/>
                <a:sym typeface="Open Sauce Bold"/>
              </a:rPr>
              <a:t>I</a:t>
            </a:r>
            <a:r>
              <a:rPr lang="en-US" b="true" sz="8373">
                <a:solidFill>
                  <a:srgbClr val="FFFFFF"/>
                </a:solidFill>
                <a:latin typeface="Open Sauce Bold"/>
                <a:ea typeface="Open Sauce Bold"/>
                <a:cs typeface="Open Sauce Bold"/>
                <a:sym typeface="Open Sauce Bold"/>
              </a:rPr>
              <a:t>ntroduction</a:t>
            </a:r>
          </a:p>
        </p:txBody>
      </p:sp>
      <p:sp>
        <p:nvSpPr>
          <p:cNvPr name="TextBox 6" id="6"/>
          <p:cNvSpPr txBox="true"/>
          <p:nvPr/>
        </p:nvSpPr>
        <p:spPr>
          <a:xfrm rot="0">
            <a:off x="8283255" y="2363687"/>
            <a:ext cx="7643386" cy="4847982"/>
          </a:xfrm>
          <a:prstGeom prst="rect">
            <a:avLst/>
          </a:prstGeom>
        </p:spPr>
        <p:txBody>
          <a:bodyPr anchor="t" rtlCol="false" tIns="0" lIns="0" bIns="0" rIns="0">
            <a:spAutoFit/>
          </a:bodyPr>
          <a:lstStyle/>
          <a:p>
            <a:pPr algn="just">
              <a:lnSpc>
                <a:spcPts val="2799"/>
              </a:lnSpc>
              <a:spcBef>
                <a:spcPct val="0"/>
              </a:spcBef>
            </a:pPr>
            <a:r>
              <a:rPr lang="en-US" sz="1999">
                <a:solidFill>
                  <a:srgbClr val="D5D5D5"/>
                </a:solidFill>
                <a:latin typeface="Open Sauce"/>
                <a:ea typeface="Open Sauce"/>
                <a:cs typeface="Open Sauce"/>
                <a:sym typeface="Open Sauce"/>
              </a:rPr>
              <a:t>Pak</a:t>
            </a:r>
            <a:r>
              <a:rPr lang="en-US" sz="1999">
                <a:solidFill>
                  <a:srgbClr val="D5D5D5"/>
                </a:solidFill>
                <a:latin typeface="Open Sauce"/>
                <a:ea typeface="Open Sauce"/>
                <a:cs typeface="Open Sauce"/>
                <a:sym typeface="Open Sauce"/>
              </a:rPr>
              <a:t>istani Sign Language (PSL) recognition plays a vital role in breaki</a:t>
            </a:r>
            <a:r>
              <a:rPr lang="en-US" sz="1999">
                <a:solidFill>
                  <a:srgbClr val="D5D5D5"/>
                </a:solidFill>
                <a:latin typeface="Open Sauce"/>
                <a:ea typeface="Open Sauce"/>
                <a:cs typeface="Open Sauce"/>
                <a:sym typeface="Open Sauce"/>
              </a:rPr>
              <a:t>ng communication barriers for the deaf community in Pakistan, enabling greater inclusion in education, workplaces, and daily life. </a:t>
            </a:r>
          </a:p>
          <a:p>
            <a:pPr algn="just">
              <a:lnSpc>
                <a:spcPts val="2520"/>
              </a:lnSpc>
              <a:spcBef>
                <a:spcPct val="0"/>
              </a:spcBef>
            </a:pPr>
          </a:p>
          <a:p>
            <a:pPr algn="just">
              <a:lnSpc>
                <a:spcPts val="2799"/>
              </a:lnSpc>
              <a:spcBef>
                <a:spcPct val="0"/>
              </a:spcBef>
            </a:pPr>
            <a:r>
              <a:rPr lang="en-US" sz="1999">
                <a:solidFill>
                  <a:srgbClr val="D5D5D5"/>
                </a:solidFill>
                <a:latin typeface="Open Sauce"/>
                <a:ea typeface="Open Sauce"/>
                <a:cs typeface="Open Sauce"/>
                <a:sym typeface="Open Sauce"/>
              </a:rPr>
              <a:t>Our project builds on prior research work done by the previous group by expanding the existing dataset with new recordings and controlled variations, applying preprocessing and augmentation for robustness, and benchmarking deep learning models for stronger accuracy. In the long run, we aim to progress beyond single-word recognition toward sentence-level translation, taking a meaningful step toward real-time PSL ↔ Urdu/English communication.</a:t>
            </a:r>
          </a:p>
          <a:p>
            <a:pPr algn="just">
              <a:lnSpc>
                <a:spcPts val="2476"/>
              </a:lnSpc>
              <a:spcBef>
                <a:spcPct val="0"/>
              </a:spcBef>
            </a:pPr>
          </a:p>
        </p:txBody>
      </p:sp>
      <p:grpSp>
        <p:nvGrpSpPr>
          <p:cNvPr name="Group 7" id="7"/>
          <p:cNvGrpSpPr/>
          <p:nvPr/>
        </p:nvGrpSpPr>
        <p:grpSpPr>
          <a:xfrm rot="0">
            <a:off x="8283255" y="8570629"/>
            <a:ext cx="7643386" cy="1160469"/>
            <a:chOff x="0" y="0"/>
            <a:chExt cx="2013073" cy="305638"/>
          </a:xfrm>
        </p:grpSpPr>
        <p:sp>
          <p:nvSpPr>
            <p:cNvPr name="Freeform 8" id="8"/>
            <p:cNvSpPr/>
            <p:nvPr/>
          </p:nvSpPr>
          <p:spPr>
            <a:xfrm flipH="false" flipV="false" rot="0">
              <a:off x="0" y="0"/>
              <a:ext cx="2013073" cy="305638"/>
            </a:xfrm>
            <a:custGeom>
              <a:avLst/>
              <a:gdLst/>
              <a:ahLst/>
              <a:cxnLst/>
              <a:rect r="r" b="b" t="t" l="l"/>
              <a:pathLst>
                <a:path h="305638" w="2013073">
                  <a:moveTo>
                    <a:pt x="0" y="0"/>
                  </a:moveTo>
                  <a:lnTo>
                    <a:pt x="2013073" y="0"/>
                  </a:lnTo>
                  <a:lnTo>
                    <a:pt x="2013073" y="305638"/>
                  </a:lnTo>
                  <a:lnTo>
                    <a:pt x="0" y="305638"/>
                  </a:lnTo>
                  <a:close/>
                </a:path>
              </a:pathLst>
            </a:custGeom>
            <a:gradFill rotWithShape="true">
              <a:gsLst>
                <a:gs pos="0">
                  <a:srgbClr val="2A7487">
                    <a:alpha val="100000"/>
                  </a:srgbClr>
                </a:gs>
                <a:gs pos="100000">
                  <a:srgbClr val="ECB835">
                    <a:alpha val="100000"/>
                  </a:srgbClr>
                </a:gs>
              </a:gsLst>
              <a:lin ang="0"/>
            </a:gradFill>
          </p:spPr>
        </p:sp>
        <p:sp>
          <p:nvSpPr>
            <p:cNvPr name="TextBox 9" id="9"/>
            <p:cNvSpPr txBox="true"/>
            <p:nvPr/>
          </p:nvSpPr>
          <p:spPr>
            <a:xfrm>
              <a:off x="0" y="-38100"/>
              <a:ext cx="2013073" cy="343738"/>
            </a:xfrm>
            <a:prstGeom prst="rect">
              <a:avLst/>
            </a:prstGeom>
          </p:spPr>
          <p:txBody>
            <a:bodyPr anchor="ctr" rtlCol="false" tIns="50800" lIns="50800" bIns="50800" rIns="50800"/>
            <a:lstStyle/>
            <a:p>
              <a:pPr algn="ctr">
                <a:lnSpc>
                  <a:spcPts val="3368"/>
                </a:lnSpc>
              </a:pPr>
            </a:p>
          </p:txBody>
        </p:sp>
      </p:grpSp>
      <p:grpSp>
        <p:nvGrpSpPr>
          <p:cNvPr name="Group 10" id="10"/>
          <p:cNvGrpSpPr/>
          <p:nvPr/>
        </p:nvGrpSpPr>
        <p:grpSpPr>
          <a:xfrm rot="0">
            <a:off x="8283255" y="7324696"/>
            <a:ext cx="7643386" cy="964687"/>
            <a:chOff x="0" y="0"/>
            <a:chExt cx="2013073" cy="254074"/>
          </a:xfrm>
        </p:grpSpPr>
        <p:sp>
          <p:nvSpPr>
            <p:cNvPr name="Freeform 11" id="11"/>
            <p:cNvSpPr/>
            <p:nvPr/>
          </p:nvSpPr>
          <p:spPr>
            <a:xfrm flipH="false" flipV="false" rot="0">
              <a:off x="0" y="0"/>
              <a:ext cx="2013073" cy="254074"/>
            </a:xfrm>
            <a:custGeom>
              <a:avLst/>
              <a:gdLst/>
              <a:ahLst/>
              <a:cxnLst/>
              <a:rect r="r" b="b" t="t" l="l"/>
              <a:pathLst>
                <a:path h="254074" w="2013073">
                  <a:moveTo>
                    <a:pt x="0" y="0"/>
                  </a:moveTo>
                  <a:lnTo>
                    <a:pt x="2013073" y="0"/>
                  </a:lnTo>
                  <a:lnTo>
                    <a:pt x="2013073" y="254074"/>
                  </a:lnTo>
                  <a:lnTo>
                    <a:pt x="0" y="254074"/>
                  </a:lnTo>
                  <a:close/>
                </a:path>
              </a:pathLst>
            </a:custGeom>
            <a:gradFill rotWithShape="true">
              <a:gsLst>
                <a:gs pos="0">
                  <a:srgbClr val="2A7487">
                    <a:alpha val="100000"/>
                  </a:srgbClr>
                </a:gs>
                <a:gs pos="100000">
                  <a:srgbClr val="ECB835">
                    <a:alpha val="100000"/>
                  </a:srgbClr>
                </a:gs>
              </a:gsLst>
              <a:lin ang="0"/>
            </a:gradFill>
          </p:spPr>
        </p:sp>
        <p:sp>
          <p:nvSpPr>
            <p:cNvPr name="TextBox 12" id="12"/>
            <p:cNvSpPr txBox="true"/>
            <p:nvPr/>
          </p:nvSpPr>
          <p:spPr>
            <a:xfrm>
              <a:off x="0" y="-38100"/>
              <a:ext cx="2013073" cy="292174"/>
            </a:xfrm>
            <a:prstGeom prst="rect">
              <a:avLst/>
            </a:prstGeom>
          </p:spPr>
          <p:txBody>
            <a:bodyPr anchor="ctr" rtlCol="false" tIns="50800" lIns="50800" bIns="50800" rIns="50800"/>
            <a:lstStyle/>
            <a:p>
              <a:pPr algn="ctr">
                <a:lnSpc>
                  <a:spcPts val="3368"/>
                </a:lnSpc>
              </a:pPr>
            </a:p>
          </p:txBody>
        </p:sp>
      </p:grpSp>
      <p:sp>
        <p:nvSpPr>
          <p:cNvPr name="TextBox 13" id="13"/>
          <p:cNvSpPr txBox="true"/>
          <p:nvPr/>
        </p:nvSpPr>
        <p:spPr>
          <a:xfrm rot="0">
            <a:off x="8432382" y="8627941"/>
            <a:ext cx="7217653" cy="1007745"/>
          </a:xfrm>
          <a:prstGeom prst="rect">
            <a:avLst/>
          </a:prstGeom>
        </p:spPr>
        <p:txBody>
          <a:bodyPr anchor="t" rtlCol="false" tIns="0" lIns="0" bIns="0" rIns="0">
            <a:spAutoFit/>
          </a:bodyPr>
          <a:lstStyle/>
          <a:p>
            <a:pPr algn="just">
              <a:lnSpc>
                <a:spcPts val="2799"/>
              </a:lnSpc>
            </a:pPr>
            <a:r>
              <a:rPr lang="en-US" sz="1999" b="true">
                <a:solidFill>
                  <a:srgbClr val="FFFFFF"/>
                </a:solidFill>
                <a:latin typeface="Open Sauce Semi-Bold"/>
                <a:ea typeface="Open Sauce Semi-Bold"/>
                <a:cs typeface="Open Sauce Semi-Bold"/>
                <a:sym typeface="Open Sauce Semi-Bold"/>
              </a:rPr>
              <a:t>Long-Term Vision:</a:t>
            </a:r>
          </a:p>
          <a:p>
            <a:pPr algn="just">
              <a:lnSpc>
                <a:spcPts val="2659"/>
              </a:lnSpc>
              <a:spcBef>
                <a:spcPct val="0"/>
              </a:spcBef>
            </a:pPr>
            <a:r>
              <a:rPr lang="en-US" b="true" sz="1899">
                <a:solidFill>
                  <a:srgbClr val="FFFFFF"/>
                </a:solidFill>
                <a:latin typeface="Open Sauce Medium"/>
                <a:ea typeface="Open Sauce Medium"/>
                <a:cs typeface="Open Sauce Medium"/>
                <a:sym typeface="Open Sauce Medium"/>
              </a:rPr>
              <a:t>Extend towards sentence-level translation between PSL a</a:t>
            </a:r>
            <a:r>
              <a:rPr lang="en-US" b="true" sz="1899">
                <a:solidFill>
                  <a:srgbClr val="FFFFFF"/>
                </a:solidFill>
                <a:latin typeface="Open Sauce Medium"/>
                <a:ea typeface="Open Sauce Medium"/>
                <a:cs typeface="Open Sauce Medium"/>
                <a:sym typeface="Open Sauce Medium"/>
              </a:rPr>
              <a:t>nd Urdu/E</a:t>
            </a:r>
            <a:r>
              <a:rPr lang="en-US" b="true" sz="1899">
                <a:solidFill>
                  <a:srgbClr val="FFFFFF"/>
                </a:solidFill>
                <a:latin typeface="Open Sauce Medium"/>
                <a:ea typeface="Open Sauce Medium"/>
                <a:cs typeface="Open Sauce Medium"/>
                <a:sym typeface="Open Sauce Medium"/>
              </a:rPr>
              <a:t>nglish.</a:t>
            </a:r>
          </a:p>
        </p:txBody>
      </p:sp>
      <p:sp>
        <p:nvSpPr>
          <p:cNvPr name="TextBox 14" id="14"/>
          <p:cNvSpPr txBox="true"/>
          <p:nvPr/>
        </p:nvSpPr>
        <p:spPr>
          <a:xfrm rot="0">
            <a:off x="8432382" y="7432390"/>
            <a:ext cx="7345133" cy="701675"/>
          </a:xfrm>
          <a:prstGeom prst="rect">
            <a:avLst/>
          </a:prstGeom>
        </p:spPr>
        <p:txBody>
          <a:bodyPr anchor="t" rtlCol="false" tIns="0" lIns="0" bIns="0" rIns="0">
            <a:spAutoFit/>
          </a:bodyPr>
          <a:lstStyle/>
          <a:p>
            <a:pPr algn="just">
              <a:lnSpc>
                <a:spcPts val="2800"/>
              </a:lnSpc>
            </a:pPr>
            <a:r>
              <a:rPr lang="en-US" sz="2000" b="true">
                <a:solidFill>
                  <a:srgbClr val="FFFFFF"/>
                </a:solidFill>
                <a:latin typeface="Open Sauce Semi-Bold"/>
                <a:ea typeface="Open Sauce Semi-Bold"/>
                <a:cs typeface="Open Sauce Semi-Bold"/>
                <a:sym typeface="Open Sauce Semi-Bold"/>
              </a:rPr>
              <a:t>Short-Term Goal:</a:t>
            </a:r>
          </a:p>
          <a:p>
            <a:pPr algn="just">
              <a:lnSpc>
                <a:spcPts val="2800"/>
              </a:lnSpc>
              <a:spcBef>
                <a:spcPct val="0"/>
              </a:spcBef>
            </a:pPr>
            <a:r>
              <a:rPr lang="en-US" b="true" sz="2000">
                <a:solidFill>
                  <a:srgbClr val="FFFFFF"/>
                </a:solidFill>
                <a:latin typeface="Open Sauce Medium"/>
                <a:ea typeface="Open Sauce Medium"/>
                <a:cs typeface="Open Sauce Medium"/>
                <a:sym typeface="Open Sauce Medium"/>
              </a:rPr>
              <a:t>Refine recognition accuracy for iso</a:t>
            </a:r>
            <a:r>
              <a:rPr lang="en-US" b="true" sz="2000">
                <a:solidFill>
                  <a:srgbClr val="FFFFFF"/>
                </a:solidFill>
                <a:latin typeface="Open Sauce Medium"/>
                <a:ea typeface="Open Sauce Medium"/>
                <a:cs typeface="Open Sauce Medium"/>
                <a:sym typeface="Open Sauce Medium"/>
              </a:rPr>
              <a:t>lated words.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3987713">
            <a:off x="10762759" y="-10277816"/>
            <a:ext cx="19057065" cy="15436222"/>
          </a:xfrm>
          <a:custGeom>
            <a:avLst/>
            <a:gdLst/>
            <a:ahLst/>
            <a:cxnLst/>
            <a:rect r="r" b="b" t="t" l="l"/>
            <a:pathLst>
              <a:path h="15436222" w="19057065">
                <a:moveTo>
                  <a:pt x="19057065" y="15436223"/>
                </a:moveTo>
                <a:lnTo>
                  <a:pt x="0" y="15436223"/>
                </a:lnTo>
                <a:lnTo>
                  <a:pt x="0" y="0"/>
                </a:lnTo>
                <a:lnTo>
                  <a:pt x="19057065" y="0"/>
                </a:lnTo>
                <a:lnTo>
                  <a:pt x="19057065" y="15436223"/>
                </a:lnTo>
                <a:close/>
              </a:path>
            </a:pathLst>
          </a:custGeom>
          <a:blipFill>
            <a:blip r:embed="rId2">
              <a:alphaModFix amt="62000"/>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66012" y="1642652"/>
          <a:ext cx="16755976" cy="8284190"/>
        </p:xfrm>
        <a:graphic>
          <a:graphicData uri="http://schemas.openxmlformats.org/drawingml/2006/table">
            <a:tbl>
              <a:tblPr/>
              <a:tblGrid>
                <a:gridCol w="3351195"/>
                <a:gridCol w="3351195"/>
                <a:gridCol w="3351195"/>
                <a:gridCol w="3351195"/>
                <a:gridCol w="3351195"/>
              </a:tblGrid>
              <a:tr h="1078117">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r>
              <a:tr h="1365455">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r>
              <a:tr h="1554744">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r>
              <a:tr h="1549233">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r>
              <a:tr h="1368321">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r>
              <a:tr h="1368321">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c>
                  <a:txBody>
                    <a:bodyPr anchor="t" rtlCol="false"/>
                    <a:lstStyle/>
                    <a:p>
                      <a:pPr algn="ctr">
                        <a:lnSpc>
                          <a:spcPts val="1919"/>
                        </a:lnSpc>
                        <a:defRPr/>
                      </a:pPr>
                      <a:endParaRPr lang="en-US" sz="1100"/>
                    </a:p>
                  </a:txBody>
                  <a:tcPr marL="142875" marR="142875" marT="142875" marB="142875" anchor="ctr">
                    <a:lnL cmpd="sng" algn="ctr" cap="flat" w="38100">
                      <a:solidFill>
                        <a:srgbClr val="E6B637"/>
                      </a:solidFill>
                      <a:prstDash val="solid"/>
                      <a:round/>
                      <a:headEnd type="none" w="med" len="med"/>
                      <a:tailEnd type="none" w="med" len="med"/>
                    </a:lnL>
                    <a:lnR cmpd="sng" algn="ctr" cap="flat" w="38100">
                      <a:solidFill>
                        <a:srgbClr val="E6B637"/>
                      </a:solidFill>
                      <a:prstDash val="solid"/>
                      <a:round/>
                      <a:headEnd type="none" w="med" len="med"/>
                      <a:tailEnd type="none" w="med" len="med"/>
                    </a:lnR>
                    <a:lnT cmpd="sng" algn="ctr" cap="flat" w="38100">
                      <a:solidFill>
                        <a:srgbClr val="E6B637"/>
                      </a:solidFill>
                      <a:prstDash val="solid"/>
                      <a:round/>
                      <a:headEnd type="none" w="med" len="med"/>
                      <a:tailEnd type="none" w="med" len="med"/>
                    </a:lnT>
                    <a:lnB cmpd="sng" algn="ctr" cap="flat" w="38100">
                      <a:solidFill>
                        <a:srgbClr val="E6B637"/>
                      </a:solidFill>
                      <a:prstDash val="solid"/>
                      <a:round/>
                      <a:headEnd type="none" w="med" len="med"/>
                      <a:tailEnd type="none" w="med" len="med"/>
                    </a:lnB>
                  </a:tcPr>
                </a:tc>
              </a:tr>
            </a:tbl>
          </a:graphicData>
        </a:graphic>
      </p:graphicFrame>
      <p:sp>
        <p:nvSpPr>
          <p:cNvPr name="TextBox 4" id="4"/>
          <p:cNvSpPr txBox="true"/>
          <p:nvPr/>
        </p:nvSpPr>
        <p:spPr>
          <a:xfrm rot="0">
            <a:off x="4569322" y="282655"/>
            <a:ext cx="9149356" cy="1359997"/>
          </a:xfrm>
          <a:prstGeom prst="rect">
            <a:avLst/>
          </a:prstGeom>
        </p:spPr>
        <p:txBody>
          <a:bodyPr anchor="t" rtlCol="false" tIns="0" lIns="0" bIns="0" rIns="0">
            <a:spAutoFit/>
          </a:bodyPr>
          <a:lstStyle/>
          <a:p>
            <a:pPr algn="l">
              <a:lnSpc>
                <a:spcPts val="11139"/>
              </a:lnSpc>
              <a:spcBef>
                <a:spcPct val="0"/>
              </a:spcBef>
            </a:pPr>
            <a:r>
              <a:rPr lang="en-US" sz="7956" b="true">
                <a:solidFill>
                  <a:srgbClr val="FFFFFF"/>
                </a:solidFill>
                <a:latin typeface="Open Sauce Bold"/>
                <a:ea typeface="Open Sauce Bold"/>
                <a:cs typeface="Open Sauce Bold"/>
                <a:sym typeface="Open Sauce Bold"/>
              </a:rPr>
              <a:t>Literature Review</a:t>
            </a:r>
          </a:p>
        </p:txBody>
      </p:sp>
      <p:sp>
        <p:nvSpPr>
          <p:cNvPr name="TextBox 5" id="5"/>
          <p:cNvSpPr txBox="true"/>
          <p:nvPr/>
        </p:nvSpPr>
        <p:spPr>
          <a:xfrm rot="0">
            <a:off x="1028700" y="3300024"/>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A</a:t>
            </a:r>
            <a:r>
              <a:rPr lang="en-US" b="true" sz="2307">
                <a:solidFill>
                  <a:srgbClr val="D5D5D5"/>
                </a:solidFill>
                <a:latin typeface="Open Sauce Medium"/>
                <a:ea typeface="Open Sauce Medium"/>
                <a:cs typeface="Open Sauce Medium"/>
                <a:sym typeface="Open Sauce Medium"/>
              </a:rPr>
              <a:t>rooj et al. 2024</a:t>
            </a:r>
          </a:p>
        </p:txBody>
      </p:sp>
      <p:sp>
        <p:nvSpPr>
          <p:cNvPr name="TextBox 6" id="6"/>
          <p:cNvSpPr txBox="true"/>
          <p:nvPr/>
        </p:nvSpPr>
        <p:spPr>
          <a:xfrm rot="0">
            <a:off x="766012" y="1953902"/>
            <a:ext cx="3075927" cy="473080"/>
          </a:xfrm>
          <a:prstGeom prst="rect">
            <a:avLst/>
          </a:prstGeom>
        </p:spPr>
        <p:txBody>
          <a:bodyPr anchor="t" rtlCol="false" tIns="0" lIns="0" bIns="0" rIns="0">
            <a:spAutoFit/>
          </a:bodyPr>
          <a:lstStyle/>
          <a:p>
            <a:pPr algn="ctr">
              <a:lnSpc>
                <a:spcPts val="3849"/>
              </a:lnSpc>
              <a:spcBef>
                <a:spcPct val="0"/>
              </a:spcBef>
            </a:pPr>
            <a:r>
              <a:rPr lang="en-US" b="true" sz="2749">
                <a:solidFill>
                  <a:srgbClr val="FFFFFF"/>
                </a:solidFill>
                <a:latin typeface="Open Sauce Bold"/>
                <a:ea typeface="Open Sauce Bold"/>
                <a:cs typeface="Open Sauce Bold"/>
                <a:sym typeface="Open Sauce Bold"/>
              </a:rPr>
              <a:t>P</a:t>
            </a:r>
            <a:r>
              <a:rPr lang="en-US" b="true" sz="2749">
                <a:solidFill>
                  <a:srgbClr val="FFFFFF"/>
                </a:solidFill>
                <a:latin typeface="Open Sauce Bold"/>
                <a:ea typeface="Open Sauce Bold"/>
                <a:cs typeface="Open Sauce Bold"/>
                <a:sym typeface="Open Sauce Bold"/>
              </a:rPr>
              <a:t>aper &amp; Year</a:t>
            </a:r>
          </a:p>
        </p:txBody>
      </p:sp>
      <p:sp>
        <p:nvSpPr>
          <p:cNvPr name="TextBox 7" id="7"/>
          <p:cNvSpPr txBox="true"/>
          <p:nvPr/>
        </p:nvSpPr>
        <p:spPr>
          <a:xfrm rot="0">
            <a:off x="4146739" y="1953902"/>
            <a:ext cx="3075927" cy="473080"/>
          </a:xfrm>
          <a:prstGeom prst="rect">
            <a:avLst/>
          </a:prstGeom>
        </p:spPr>
        <p:txBody>
          <a:bodyPr anchor="t" rtlCol="false" tIns="0" lIns="0" bIns="0" rIns="0">
            <a:spAutoFit/>
          </a:bodyPr>
          <a:lstStyle/>
          <a:p>
            <a:pPr algn="ctr">
              <a:lnSpc>
                <a:spcPts val="3849"/>
              </a:lnSpc>
              <a:spcBef>
                <a:spcPct val="0"/>
              </a:spcBef>
            </a:pPr>
            <a:r>
              <a:rPr lang="en-US" b="true" sz="2749">
                <a:solidFill>
                  <a:srgbClr val="FFFFFF"/>
                </a:solidFill>
                <a:latin typeface="Open Sauce Bold"/>
                <a:ea typeface="Open Sauce Bold"/>
                <a:cs typeface="Open Sauce Bold"/>
                <a:sym typeface="Open Sauce Bold"/>
              </a:rPr>
              <a:t>Ap</a:t>
            </a:r>
            <a:r>
              <a:rPr lang="en-US" b="true" sz="2749">
                <a:solidFill>
                  <a:srgbClr val="FFFFFF"/>
                </a:solidFill>
                <a:latin typeface="Open Sauce Bold"/>
                <a:ea typeface="Open Sauce Bold"/>
                <a:cs typeface="Open Sauce Bold"/>
                <a:sym typeface="Open Sauce Bold"/>
              </a:rPr>
              <a:t>proach</a:t>
            </a:r>
          </a:p>
        </p:txBody>
      </p:sp>
      <p:sp>
        <p:nvSpPr>
          <p:cNvPr name="TextBox 8" id="8"/>
          <p:cNvSpPr txBox="true"/>
          <p:nvPr/>
        </p:nvSpPr>
        <p:spPr>
          <a:xfrm rot="0">
            <a:off x="10940019" y="1953902"/>
            <a:ext cx="3075927" cy="473080"/>
          </a:xfrm>
          <a:prstGeom prst="rect">
            <a:avLst/>
          </a:prstGeom>
        </p:spPr>
        <p:txBody>
          <a:bodyPr anchor="t" rtlCol="false" tIns="0" lIns="0" bIns="0" rIns="0">
            <a:spAutoFit/>
          </a:bodyPr>
          <a:lstStyle/>
          <a:p>
            <a:pPr algn="ctr">
              <a:lnSpc>
                <a:spcPts val="3849"/>
              </a:lnSpc>
              <a:spcBef>
                <a:spcPct val="0"/>
              </a:spcBef>
            </a:pPr>
            <a:r>
              <a:rPr lang="en-US" b="true" sz="2749">
                <a:solidFill>
                  <a:srgbClr val="FFFFFF"/>
                </a:solidFill>
                <a:latin typeface="Open Sauce Bold"/>
                <a:ea typeface="Open Sauce Bold"/>
                <a:cs typeface="Open Sauce Bold"/>
                <a:sym typeface="Open Sauce Bold"/>
              </a:rPr>
              <a:t>R</a:t>
            </a:r>
            <a:r>
              <a:rPr lang="en-US" b="true" sz="2749">
                <a:solidFill>
                  <a:srgbClr val="FFFFFF"/>
                </a:solidFill>
                <a:latin typeface="Open Sauce Bold"/>
                <a:ea typeface="Open Sauce Bold"/>
                <a:cs typeface="Open Sauce Bold"/>
                <a:sym typeface="Open Sauce Bold"/>
              </a:rPr>
              <a:t>esults</a:t>
            </a:r>
          </a:p>
        </p:txBody>
      </p:sp>
      <p:sp>
        <p:nvSpPr>
          <p:cNvPr name="TextBox 9" id="9"/>
          <p:cNvSpPr txBox="true"/>
          <p:nvPr/>
        </p:nvSpPr>
        <p:spPr>
          <a:xfrm rot="0">
            <a:off x="7606037" y="1953902"/>
            <a:ext cx="3075927" cy="473080"/>
          </a:xfrm>
          <a:prstGeom prst="rect">
            <a:avLst/>
          </a:prstGeom>
        </p:spPr>
        <p:txBody>
          <a:bodyPr anchor="t" rtlCol="false" tIns="0" lIns="0" bIns="0" rIns="0">
            <a:spAutoFit/>
          </a:bodyPr>
          <a:lstStyle/>
          <a:p>
            <a:pPr algn="ctr">
              <a:lnSpc>
                <a:spcPts val="3849"/>
              </a:lnSpc>
              <a:spcBef>
                <a:spcPct val="0"/>
              </a:spcBef>
            </a:pPr>
            <a:r>
              <a:rPr lang="en-US" b="true" sz="2749">
                <a:solidFill>
                  <a:srgbClr val="FFFFFF"/>
                </a:solidFill>
                <a:latin typeface="Open Sauce Bold"/>
                <a:ea typeface="Open Sauce Bold"/>
                <a:cs typeface="Open Sauce Bold"/>
                <a:sym typeface="Open Sauce Bold"/>
              </a:rPr>
              <a:t>D</a:t>
            </a:r>
            <a:r>
              <a:rPr lang="en-US" b="true" sz="2749">
                <a:solidFill>
                  <a:srgbClr val="FFFFFF"/>
                </a:solidFill>
                <a:latin typeface="Open Sauce Bold"/>
                <a:ea typeface="Open Sauce Bold"/>
                <a:cs typeface="Open Sauce Bold"/>
                <a:sym typeface="Open Sauce Bold"/>
              </a:rPr>
              <a:t>ataset</a:t>
            </a:r>
          </a:p>
        </p:txBody>
      </p:sp>
      <p:sp>
        <p:nvSpPr>
          <p:cNvPr name="TextBox 10" id="10"/>
          <p:cNvSpPr txBox="true"/>
          <p:nvPr/>
        </p:nvSpPr>
        <p:spPr>
          <a:xfrm rot="0">
            <a:off x="14273120" y="1953902"/>
            <a:ext cx="3075927" cy="473080"/>
          </a:xfrm>
          <a:prstGeom prst="rect">
            <a:avLst/>
          </a:prstGeom>
        </p:spPr>
        <p:txBody>
          <a:bodyPr anchor="t" rtlCol="false" tIns="0" lIns="0" bIns="0" rIns="0">
            <a:spAutoFit/>
          </a:bodyPr>
          <a:lstStyle/>
          <a:p>
            <a:pPr algn="ctr">
              <a:lnSpc>
                <a:spcPts val="3849"/>
              </a:lnSpc>
              <a:spcBef>
                <a:spcPct val="0"/>
              </a:spcBef>
            </a:pPr>
            <a:r>
              <a:rPr lang="en-US" b="true" sz="2749">
                <a:solidFill>
                  <a:srgbClr val="FFFFFF"/>
                </a:solidFill>
                <a:latin typeface="Open Sauce Bold"/>
                <a:ea typeface="Open Sauce Bold"/>
                <a:cs typeface="Open Sauce Bold"/>
                <a:sym typeface="Open Sauce Bold"/>
              </a:rPr>
              <a:t>Limit</a:t>
            </a:r>
            <a:r>
              <a:rPr lang="en-US" b="true" sz="2749">
                <a:solidFill>
                  <a:srgbClr val="FFFFFF"/>
                </a:solidFill>
                <a:latin typeface="Open Sauce Bold"/>
                <a:ea typeface="Open Sauce Bold"/>
                <a:cs typeface="Open Sauce Bold"/>
                <a:sym typeface="Open Sauce Bold"/>
              </a:rPr>
              <a:t>ation</a:t>
            </a:r>
          </a:p>
        </p:txBody>
      </p:sp>
      <p:sp>
        <p:nvSpPr>
          <p:cNvPr name="TextBox 11" id="11"/>
          <p:cNvSpPr txBox="true"/>
          <p:nvPr/>
        </p:nvSpPr>
        <p:spPr>
          <a:xfrm rot="0">
            <a:off x="1028700" y="6214278"/>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Khan et al.</a:t>
            </a:r>
          </a:p>
        </p:txBody>
      </p:sp>
      <p:sp>
        <p:nvSpPr>
          <p:cNvPr name="TextBox 12" id="12"/>
          <p:cNvSpPr txBox="true"/>
          <p:nvPr/>
        </p:nvSpPr>
        <p:spPr>
          <a:xfrm rot="0">
            <a:off x="1028700" y="4717787"/>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Hamza &amp; Wali</a:t>
            </a:r>
          </a:p>
        </p:txBody>
      </p:sp>
      <p:sp>
        <p:nvSpPr>
          <p:cNvPr name="TextBox 13" id="13"/>
          <p:cNvSpPr txBox="true"/>
          <p:nvPr/>
        </p:nvSpPr>
        <p:spPr>
          <a:xfrm rot="0">
            <a:off x="1028700" y="7710769"/>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Farooq et al</a:t>
            </a:r>
          </a:p>
        </p:txBody>
      </p:sp>
      <p:sp>
        <p:nvSpPr>
          <p:cNvPr name="TextBox 14" id="14"/>
          <p:cNvSpPr txBox="true"/>
          <p:nvPr/>
        </p:nvSpPr>
        <p:spPr>
          <a:xfrm rot="0">
            <a:off x="1028700" y="9044719"/>
            <a:ext cx="2813239" cy="3256088"/>
          </a:xfrm>
          <a:prstGeom prst="rect">
            <a:avLst/>
          </a:prstGeom>
        </p:spPr>
        <p:txBody>
          <a:bodyPr anchor="t" rtlCol="false" tIns="0" lIns="0" bIns="0" rIns="0">
            <a:spAutoFit/>
          </a:bodyPr>
          <a:lstStyle/>
          <a:p>
            <a:pPr algn="l">
              <a:lnSpc>
                <a:spcPts val="3230"/>
              </a:lnSpc>
            </a:pPr>
            <a:r>
              <a:rPr lang="en-US" sz="2307" b="true">
                <a:solidFill>
                  <a:srgbClr val="D5D5D5"/>
                </a:solidFill>
                <a:latin typeface="Open Sauce Medium"/>
                <a:ea typeface="Open Sauce Medium"/>
                <a:cs typeface="Open Sauce Medium"/>
                <a:sym typeface="Open Sauce Medium"/>
              </a:rPr>
              <a:t>Ghamini et al</a:t>
            </a:r>
          </a:p>
          <a:p>
            <a:pPr algn="l">
              <a:lnSpc>
                <a:spcPts val="3230"/>
              </a:lnSpc>
            </a:pPr>
          </a:p>
          <a:p>
            <a:pPr algn="l">
              <a:lnSpc>
                <a:spcPts val="3230"/>
              </a:lnSpc>
            </a:pPr>
          </a:p>
          <a:p>
            <a:pPr algn="l">
              <a:lnSpc>
                <a:spcPts val="3230"/>
              </a:lnSpc>
            </a:pPr>
          </a:p>
          <a:p>
            <a:pPr algn="l">
              <a:lnSpc>
                <a:spcPts val="3230"/>
              </a:lnSpc>
            </a:pPr>
          </a:p>
          <a:p>
            <a:pPr algn="l">
              <a:lnSpc>
                <a:spcPts val="3230"/>
              </a:lnSpc>
            </a:pPr>
          </a:p>
          <a:p>
            <a:pPr algn="l">
              <a:lnSpc>
                <a:spcPts val="3230"/>
              </a:lnSpc>
            </a:pPr>
          </a:p>
          <a:p>
            <a:pPr algn="l">
              <a:lnSpc>
                <a:spcPts val="3230"/>
              </a:lnSpc>
              <a:spcBef>
                <a:spcPct val="0"/>
              </a:spcBef>
            </a:pPr>
          </a:p>
        </p:txBody>
      </p:sp>
      <p:sp>
        <p:nvSpPr>
          <p:cNvPr name="TextBox 15" id="15"/>
          <p:cNvSpPr txBox="true"/>
          <p:nvPr/>
        </p:nvSpPr>
        <p:spPr>
          <a:xfrm rot="0">
            <a:off x="4409427" y="3095237"/>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CNN +</a:t>
            </a:r>
            <a:r>
              <a:rPr lang="en-US" b="true" sz="2307">
                <a:solidFill>
                  <a:srgbClr val="D5D5D5"/>
                </a:solidFill>
                <a:latin typeface="Open Sauce Medium"/>
                <a:ea typeface="Open Sauce Medium"/>
                <a:cs typeface="Open Sauce Medium"/>
                <a:sym typeface="Open Sauce Medium"/>
              </a:rPr>
              <a:t> SIFT for alphabets</a:t>
            </a:r>
          </a:p>
        </p:txBody>
      </p:sp>
      <p:sp>
        <p:nvSpPr>
          <p:cNvPr name="TextBox 16" id="16"/>
          <p:cNvSpPr txBox="true"/>
          <p:nvPr/>
        </p:nvSpPr>
        <p:spPr>
          <a:xfrm rot="0">
            <a:off x="4409427" y="4560624"/>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Video-b</a:t>
            </a:r>
            <a:r>
              <a:rPr lang="en-US" b="true" sz="2307">
                <a:solidFill>
                  <a:srgbClr val="D5D5D5"/>
                </a:solidFill>
                <a:latin typeface="Open Sauce Medium"/>
                <a:ea typeface="Open Sauce Medium"/>
                <a:cs typeface="Open Sauce Medium"/>
                <a:sym typeface="Open Sauce Medium"/>
              </a:rPr>
              <a:t>ased C3D, I3D, TSM + aug.</a:t>
            </a:r>
          </a:p>
        </p:txBody>
      </p:sp>
      <p:sp>
        <p:nvSpPr>
          <p:cNvPr name="TextBox 17" id="17"/>
          <p:cNvSpPr txBox="true"/>
          <p:nvPr/>
        </p:nvSpPr>
        <p:spPr>
          <a:xfrm rot="0">
            <a:off x="4409427" y="6026012"/>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R</a:t>
            </a:r>
            <a:r>
              <a:rPr lang="en-US" b="true" sz="2307">
                <a:solidFill>
                  <a:srgbClr val="D5D5D5"/>
                </a:solidFill>
                <a:latin typeface="Open Sauce Medium"/>
                <a:ea typeface="Open Sauce Medium"/>
                <a:cs typeface="Open Sauce Medium"/>
                <a:sym typeface="Open Sauce Medium"/>
              </a:rPr>
              <a:t>ule-based MT (English→PSL)</a:t>
            </a:r>
          </a:p>
        </p:txBody>
      </p:sp>
      <p:sp>
        <p:nvSpPr>
          <p:cNvPr name="TextBox 18" id="18"/>
          <p:cNvSpPr txBox="true"/>
          <p:nvPr/>
        </p:nvSpPr>
        <p:spPr>
          <a:xfrm rot="0">
            <a:off x="4409427" y="7491399"/>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GRU +</a:t>
            </a:r>
            <a:r>
              <a:rPr lang="en-US" b="true" sz="2307">
                <a:solidFill>
                  <a:srgbClr val="D5D5D5"/>
                </a:solidFill>
                <a:latin typeface="Open Sauce Medium"/>
                <a:ea typeface="Open Sauce Medium"/>
                <a:cs typeface="Open Sauce Medium"/>
                <a:sym typeface="Open Sauce Medium"/>
              </a:rPr>
              <a:t> Attention NMT</a:t>
            </a:r>
          </a:p>
        </p:txBody>
      </p:sp>
      <p:sp>
        <p:nvSpPr>
          <p:cNvPr name="TextBox 19" id="19"/>
          <p:cNvSpPr txBox="true"/>
          <p:nvPr/>
        </p:nvSpPr>
        <p:spPr>
          <a:xfrm rot="0">
            <a:off x="4409792" y="8839931"/>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Medi</a:t>
            </a:r>
            <a:r>
              <a:rPr lang="en-US" b="true" sz="2307">
                <a:solidFill>
                  <a:srgbClr val="D5D5D5"/>
                </a:solidFill>
                <a:latin typeface="Open Sauce Medium"/>
                <a:ea typeface="Open Sauce Medium"/>
                <a:cs typeface="Open Sauce Medium"/>
                <a:sym typeface="Open Sauce Medium"/>
              </a:rPr>
              <a:t>aPipe + CNN-BiLSTM (mobile)</a:t>
            </a:r>
          </a:p>
        </p:txBody>
      </p:sp>
      <p:sp>
        <p:nvSpPr>
          <p:cNvPr name="TextBox 20" id="20"/>
          <p:cNvSpPr txBox="true"/>
          <p:nvPr/>
        </p:nvSpPr>
        <p:spPr>
          <a:xfrm rot="0">
            <a:off x="7737381" y="3095237"/>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Ki</a:t>
            </a:r>
            <a:r>
              <a:rPr lang="en-US" b="true" sz="2307">
                <a:solidFill>
                  <a:srgbClr val="D5D5D5"/>
                </a:solidFill>
                <a:latin typeface="Open Sauce Medium"/>
                <a:ea typeface="Open Sauce Medium"/>
                <a:cs typeface="Open Sauce Medium"/>
                <a:sym typeface="Open Sauce Medium"/>
              </a:rPr>
              <a:t>nect images</a:t>
            </a:r>
          </a:p>
        </p:txBody>
      </p:sp>
      <p:sp>
        <p:nvSpPr>
          <p:cNvPr name="TextBox 21" id="21"/>
          <p:cNvSpPr txBox="true"/>
          <p:nvPr/>
        </p:nvSpPr>
        <p:spPr>
          <a:xfrm rot="0">
            <a:off x="7737381" y="4560624"/>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PSL Dictio</a:t>
            </a:r>
            <a:r>
              <a:rPr lang="en-US" b="true" sz="2307">
                <a:solidFill>
                  <a:srgbClr val="D5D5D5"/>
                </a:solidFill>
                <a:latin typeface="Open Sauce Medium"/>
                <a:ea typeface="Open Sauce Medium"/>
                <a:cs typeface="Open Sauce Medium"/>
                <a:sym typeface="Open Sauce Medium"/>
              </a:rPr>
              <a:t>nary (2 samples/sign)</a:t>
            </a:r>
          </a:p>
        </p:txBody>
      </p:sp>
      <p:sp>
        <p:nvSpPr>
          <p:cNvPr name="TextBox 22" id="22"/>
          <p:cNvSpPr txBox="true"/>
          <p:nvPr/>
        </p:nvSpPr>
        <p:spPr>
          <a:xfrm rot="0">
            <a:off x="7727856" y="6230799"/>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Small </a:t>
            </a:r>
            <a:r>
              <a:rPr lang="en-US" b="true" sz="2307">
                <a:solidFill>
                  <a:srgbClr val="D5D5D5"/>
                </a:solidFill>
                <a:latin typeface="Open Sauce Medium"/>
                <a:ea typeface="Open Sauce Medium"/>
                <a:cs typeface="Open Sauce Medium"/>
                <a:sym typeface="Open Sauce Medium"/>
              </a:rPr>
              <a:t>corpora</a:t>
            </a:r>
          </a:p>
        </p:txBody>
      </p:sp>
      <p:sp>
        <p:nvSpPr>
          <p:cNvPr name="TextBox 23" id="23"/>
          <p:cNvSpPr txBox="true"/>
          <p:nvPr/>
        </p:nvSpPr>
        <p:spPr>
          <a:xfrm rot="0">
            <a:off x="7737381" y="7491399"/>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50k</a:t>
            </a:r>
            <a:r>
              <a:rPr lang="en-US" b="true" sz="2307">
                <a:solidFill>
                  <a:srgbClr val="D5D5D5"/>
                </a:solidFill>
                <a:latin typeface="Open Sauce Medium"/>
                <a:ea typeface="Open Sauce Medium"/>
                <a:cs typeface="Open Sauce Medium"/>
                <a:sym typeface="Open Sauce Medium"/>
              </a:rPr>
              <a:t> synthetic sents</a:t>
            </a:r>
          </a:p>
        </p:txBody>
      </p:sp>
      <p:sp>
        <p:nvSpPr>
          <p:cNvPr name="TextBox 24" id="24"/>
          <p:cNvSpPr txBox="true"/>
          <p:nvPr/>
        </p:nvSpPr>
        <p:spPr>
          <a:xfrm rot="0">
            <a:off x="7737381" y="8839931"/>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Be</a:t>
            </a:r>
            <a:r>
              <a:rPr lang="en-US" b="true" sz="2307">
                <a:solidFill>
                  <a:srgbClr val="D5D5D5"/>
                </a:solidFill>
                <a:latin typeface="Open Sauce Medium"/>
                <a:ea typeface="Open Sauce Medium"/>
                <a:cs typeface="Open Sauce Medium"/>
                <a:sym typeface="Open Sauce Medium"/>
              </a:rPr>
              <a:t>nchmarks (not PSL)</a:t>
            </a:r>
          </a:p>
        </p:txBody>
      </p:sp>
      <p:sp>
        <p:nvSpPr>
          <p:cNvPr name="TextBox 25" id="25"/>
          <p:cNvSpPr txBox="true"/>
          <p:nvPr/>
        </p:nvSpPr>
        <p:spPr>
          <a:xfrm rot="0">
            <a:off x="11122119" y="3095237"/>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98.74% </a:t>
            </a:r>
            <a:r>
              <a:rPr lang="en-US" b="true" sz="2307">
                <a:solidFill>
                  <a:srgbClr val="D5D5D5"/>
                </a:solidFill>
                <a:latin typeface="Open Sauce Medium"/>
                <a:ea typeface="Open Sauce Medium"/>
                <a:cs typeface="Open Sauce Medium"/>
                <a:sym typeface="Open Sauce Medium"/>
              </a:rPr>
              <a:t>accuracy</a:t>
            </a:r>
          </a:p>
        </p:txBody>
      </p:sp>
      <p:sp>
        <p:nvSpPr>
          <p:cNvPr name="TextBox 26" id="26"/>
          <p:cNvSpPr txBox="true"/>
          <p:nvPr/>
        </p:nvSpPr>
        <p:spPr>
          <a:xfrm rot="0">
            <a:off x="11122119" y="4765412"/>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C3D: 93.3%</a:t>
            </a:r>
          </a:p>
        </p:txBody>
      </p:sp>
      <p:sp>
        <p:nvSpPr>
          <p:cNvPr name="TextBox 27" id="27"/>
          <p:cNvSpPr txBox="true"/>
          <p:nvPr/>
        </p:nvSpPr>
        <p:spPr>
          <a:xfrm rot="0">
            <a:off x="11071363" y="6230799"/>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BLE</a:t>
            </a:r>
            <a:r>
              <a:rPr lang="en-US" b="true" sz="2307">
                <a:solidFill>
                  <a:srgbClr val="D5D5D5"/>
                </a:solidFill>
                <a:latin typeface="Open Sauce Medium"/>
                <a:ea typeface="Open Sauce Medium"/>
                <a:cs typeface="Open Sauce Medium"/>
                <a:sym typeface="Open Sauce Medium"/>
              </a:rPr>
              <a:t>U=0.78</a:t>
            </a:r>
          </a:p>
        </p:txBody>
      </p:sp>
      <p:sp>
        <p:nvSpPr>
          <p:cNvPr name="TextBox 28" id="28"/>
          <p:cNvSpPr txBox="true"/>
          <p:nvPr/>
        </p:nvSpPr>
        <p:spPr>
          <a:xfrm rot="0">
            <a:off x="11007819" y="7491399"/>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BLE</a:t>
            </a:r>
            <a:r>
              <a:rPr lang="en-US" b="true" sz="2307">
                <a:solidFill>
                  <a:srgbClr val="D5D5D5"/>
                </a:solidFill>
                <a:latin typeface="Open Sauce Medium"/>
                <a:ea typeface="Open Sauce Medium"/>
                <a:cs typeface="Open Sauce Medium"/>
                <a:sym typeface="Open Sauce Medium"/>
              </a:rPr>
              <a:t>U=0.83, WER=0.17</a:t>
            </a:r>
          </a:p>
        </p:txBody>
      </p:sp>
      <p:sp>
        <p:nvSpPr>
          <p:cNvPr name="TextBox 29" id="29"/>
          <p:cNvSpPr txBox="true"/>
          <p:nvPr/>
        </p:nvSpPr>
        <p:spPr>
          <a:xfrm rot="0">
            <a:off x="11064969" y="9015412"/>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&gt;95% accuracy</a:t>
            </a:r>
          </a:p>
        </p:txBody>
      </p:sp>
      <p:sp>
        <p:nvSpPr>
          <p:cNvPr name="TextBox 30" id="30"/>
          <p:cNvSpPr txBox="true"/>
          <p:nvPr/>
        </p:nvSpPr>
        <p:spPr>
          <a:xfrm rot="0">
            <a:off x="14404465" y="3095237"/>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A</a:t>
            </a:r>
            <a:r>
              <a:rPr lang="en-US" b="true" sz="2307">
                <a:solidFill>
                  <a:srgbClr val="D5D5D5"/>
                </a:solidFill>
                <a:latin typeface="Open Sauce Medium"/>
                <a:ea typeface="Open Sauce Medium"/>
                <a:cs typeface="Open Sauce Medium"/>
                <a:sym typeface="Open Sauce Medium"/>
              </a:rPr>
              <a:t>lphabet only, Kinect-dependent</a:t>
            </a:r>
          </a:p>
        </p:txBody>
      </p:sp>
      <p:sp>
        <p:nvSpPr>
          <p:cNvPr name="TextBox 31" id="31"/>
          <p:cNvSpPr txBox="true"/>
          <p:nvPr/>
        </p:nvSpPr>
        <p:spPr>
          <a:xfrm rot="0">
            <a:off x="14404465" y="4512999"/>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Very</a:t>
            </a:r>
            <a:r>
              <a:rPr lang="en-US" b="true" sz="2307">
                <a:solidFill>
                  <a:srgbClr val="D5D5D5"/>
                </a:solidFill>
                <a:latin typeface="Open Sauce Medium"/>
                <a:ea typeface="Open Sauce Medium"/>
                <a:cs typeface="Open Sauce Medium"/>
                <a:sym typeface="Open Sauce Medium"/>
              </a:rPr>
              <a:t> small dataset, risk of overfit</a:t>
            </a:r>
          </a:p>
        </p:txBody>
      </p:sp>
      <p:sp>
        <p:nvSpPr>
          <p:cNvPr name="TextBox 32" id="32"/>
          <p:cNvSpPr txBox="true"/>
          <p:nvPr/>
        </p:nvSpPr>
        <p:spPr>
          <a:xfrm rot="0">
            <a:off x="14404465" y="5930762"/>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Fails o</a:t>
            </a:r>
            <a:r>
              <a:rPr lang="en-US" b="true" sz="2307">
                <a:solidFill>
                  <a:srgbClr val="D5D5D5"/>
                </a:solidFill>
                <a:latin typeface="Open Sauce Medium"/>
                <a:ea typeface="Open Sauce Medium"/>
                <a:cs typeface="Open Sauce Medium"/>
                <a:sym typeface="Open Sauce Medium"/>
              </a:rPr>
              <a:t>n complex sentences</a:t>
            </a:r>
          </a:p>
        </p:txBody>
      </p:sp>
      <p:sp>
        <p:nvSpPr>
          <p:cNvPr name="TextBox 33" id="33"/>
          <p:cNvSpPr txBox="true"/>
          <p:nvPr/>
        </p:nvSpPr>
        <p:spPr>
          <a:xfrm rot="0">
            <a:off x="14404465" y="7348524"/>
            <a:ext cx="2813239" cy="798638"/>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Limi</a:t>
            </a:r>
            <a:r>
              <a:rPr lang="en-US" b="true" sz="2307">
                <a:solidFill>
                  <a:srgbClr val="D5D5D5"/>
                </a:solidFill>
                <a:latin typeface="Open Sauce Medium"/>
                <a:ea typeface="Open Sauce Medium"/>
                <a:cs typeface="Open Sauce Medium"/>
                <a:sym typeface="Open Sauce Medium"/>
              </a:rPr>
              <a:t>ted gloss diversity</a:t>
            </a:r>
          </a:p>
        </p:txBody>
      </p:sp>
      <p:sp>
        <p:nvSpPr>
          <p:cNvPr name="TextBox 34" id="34"/>
          <p:cNvSpPr txBox="true"/>
          <p:nvPr/>
        </p:nvSpPr>
        <p:spPr>
          <a:xfrm rot="0">
            <a:off x="14392558" y="9044719"/>
            <a:ext cx="2813239" cy="389063"/>
          </a:xfrm>
          <a:prstGeom prst="rect">
            <a:avLst/>
          </a:prstGeom>
        </p:spPr>
        <p:txBody>
          <a:bodyPr anchor="t" rtlCol="false" tIns="0" lIns="0" bIns="0" rIns="0">
            <a:spAutoFit/>
          </a:bodyPr>
          <a:lstStyle/>
          <a:p>
            <a:pPr algn="l">
              <a:lnSpc>
                <a:spcPts val="3230"/>
              </a:lnSpc>
              <a:spcBef>
                <a:spcPct val="0"/>
              </a:spcBef>
            </a:pPr>
            <a:r>
              <a:rPr lang="en-US" sz="2307" b="true">
                <a:solidFill>
                  <a:srgbClr val="D5D5D5"/>
                </a:solidFill>
                <a:latin typeface="Open Sauce Medium"/>
                <a:ea typeface="Open Sauce Medium"/>
                <a:cs typeface="Open Sauce Medium"/>
                <a:sym typeface="Open Sauce Medium"/>
              </a:rPr>
              <a:t>Not</a:t>
            </a:r>
            <a:r>
              <a:rPr lang="en-US" b="true" sz="2307">
                <a:solidFill>
                  <a:srgbClr val="D5D5D5"/>
                </a:solidFill>
                <a:latin typeface="Open Sauce Medium"/>
                <a:ea typeface="Open Sauce Medium"/>
                <a:cs typeface="Open Sauce Medium"/>
                <a:sym typeface="Open Sauce Medium"/>
              </a:rPr>
              <a:t> PSL-specific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4814217" y="0"/>
            <a:ext cx="8747129" cy="12495899"/>
          </a:xfrm>
          <a:custGeom>
            <a:avLst/>
            <a:gdLst/>
            <a:ahLst/>
            <a:cxnLst/>
            <a:rect r="r" b="b" t="t" l="l"/>
            <a:pathLst>
              <a:path h="12495899" w="8747129">
                <a:moveTo>
                  <a:pt x="8747130" y="0"/>
                </a:moveTo>
                <a:lnTo>
                  <a:pt x="0" y="0"/>
                </a:lnTo>
                <a:lnTo>
                  <a:pt x="0" y="12495899"/>
                </a:lnTo>
                <a:lnTo>
                  <a:pt x="8747130" y="12495899"/>
                </a:lnTo>
                <a:lnTo>
                  <a:pt x="87471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683656"/>
            <a:ext cx="9486272" cy="8603108"/>
            <a:chOff x="0" y="0"/>
            <a:chExt cx="2498442" cy="2265839"/>
          </a:xfrm>
        </p:grpSpPr>
        <p:sp>
          <p:nvSpPr>
            <p:cNvPr name="Freeform 4" id="4"/>
            <p:cNvSpPr/>
            <p:nvPr/>
          </p:nvSpPr>
          <p:spPr>
            <a:xfrm flipH="false" flipV="false" rot="0">
              <a:off x="0" y="0"/>
              <a:ext cx="2498442" cy="2265839"/>
            </a:xfrm>
            <a:custGeom>
              <a:avLst/>
              <a:gdLst/>
              <a:ahLst/>
              <a:cxnLst/>
              <a:rect r="r" b="b" t="t" l="l"/>
              <a:pathLst>
                <a:path h="2265839" w="2498442">
                  <a:moveTo>
                    <a:pt x="0" y="0"/>
                  </a:moveTo>
                  <a:lnTo>
                    <a:pt x="2498442" y="0"/>
                  </a:lnTo>
                  <a:lnTo>
                    <a:pt x="2498442" y="2265839"/>
                  </a:lnTo>
                  <a:lnTo>
                    <a:pt x="0" y="2265839"/>
                  </a:lnTo>
                  <a:close/>
                </a:path>
              </a:pathLst>
            </a:custGeom>
            <a:gradFill rotWithShape="true">
              <a:gsLst>
                <a:gs pos="0">
                  <a:srgbClr val="2A7487">
                    <a:alpha val="100000"/>
                  </a:srgbClr>
                </a:gs>
                <a:gs pos="100000">
                  <a:srgbClr val="ECB835">
                    <a:alpha val="100000"/>
                  </a:srgbClr>
                </a:gs>
              </a:gsLst>
              <a:lin ang="2700000"/>
            </a:gradFill>
          </p:spPr>
        </p:sp>
        <p:sp>
          <p:nvSpPr>
            <p:cNvPr name="TextBox 5" id="5"/>
            <p:cNvSpPr txBox="true"/>
            <p:nvPr/>
          </p:nvSpPr>
          <p:spPr>
            <a:xfrm>
              <a:off x="0" y="-38100"/>
              <a:ext cx="2498442" cy="2303939"/>
            </a:xfrm>
            <a:prstGeom prst="rect">
              <a:avLst/>
            </a:prstGeom>
          </p:spPr>
          <p:txBody>
            <a:bodyPr anchor="ctr" rtlCol="false" tIns="50800" lIns="50800" bIns="50800" rIns="50800"/>
            <a:lstStyle/>
            <a:p>
              <a:pPr algn="ctr">
                <a:lnSpc>
                  <a:spcPts val="3368"/>
                </a:lnSpc>
              </a:pPr>
            </a:p>
          </p:txBody>
        </p:sp>
      </p:grpSp>
      <p:sp>
        <p:nvSpPr>
          <p:cNvPr name="Freeform 6" id="6"/>
          <p:cNvSpPr/>
          <p:nvPr/>
        </p:nvSpPr>
        <p:spPr>
          <a:xfrm flipH="false" flipV="false" rot="0">
            <a:off x="16292575" y="8603344"/>
            <a:ext cx="966725" cy="654956"/>
          </a:xfrm>
          <a:custGeom>
            <a:avLst/>
            <a:gdLst/>
            <a:ahLst/>
            <a:cxnLst/>
            <a:rect r="r" b="b" t="t" l="l"/>
            <a:pathLst>
              <a:path h="654956" w="966725">
                <a:moveTo>
                  <a:pt x="0" y="0"/>
                </a:moveTo>
                <a:lnTo>
                  <a:pt x="966725" y="0"/>
                </a:lnTo>
                <a:lnTo>
                  <a:pt x="966725" y="654956"/>
                </a:lnTo>
                <a:lnTo>
                  <a:pt x="0" y="654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093234" y="1531256"/>
            <a:ext cx="7872712" cy="1359997"/>
          </a:xfrm>
          <a:prstGeom prst="rect">
            <a:avLst/>
          </a:prstGeom>
        </p:spPr>
        <p:txBody>
          <a:bodyPr anchor="t" rtlCol="false" tIns="0" lIns="0" bIns="0" rIns="0">
            <a:spAutoFit/>
          </a:bodyPr>
          <a:lstStyle/>
          <a:p>
            <a:pPr algn="l">
              <a:lnSpc>
                <a:spcPts val="11139"/>
              </a:lnSpc>
              <a:spcBef>
                <a:spcPct val="0"/>
              </a:spcBef>
            </a:pPr>
            <a:r>
              <a:rPr lang="en-US" sz="7956" b="true">
                <a:solidFill>
                  <a:srgbClr val="FFFFFF"/>
                </a:solidFill>
                <a:latin typeface="Open Sauce Bold"/>
                <a:ea typeface="Open Sauce Bold"/>
                <a:cs typeface="Open Sauce Bold"/>
                <a:sym typeface="Open Sauce Bold"/>
              </a:rPr>
              <a:t>Previous Work</a:t>
            </a:r>
          </a:p>
        </p:txBody>
      </p:sp>
      <p:sp>
        <p:nvSpPr>
          <p:cNvPr name="TextBox 8" id="8"/>
          <p:cNvSpPr txBox="true"/>
          <p:nvPr/>
        </p:nvSpPr>
        <p:spPr>
          <a:xfrm rot="0">
            <a:off x="10285644" y="3808772"/>
            <a:ext cx="6973656" cy="2268132"/>
          </a:xfrm>
          <a:prstGeom prst="rect">
            <a:avLst/>
          </a:prstGeom>
        </p:spPr>
        <p:txBody>
          <a:bodyPr anchor="t" rtlCol="false" tIns="0" lIns="0" bIns="0" rIns="0">
            <a:spAutoFit/>
          </a:bodyPr>
          <a:lstStyle/>
          <a:p>
            <a:pPr algn="l">
              <a:lnSpc>
                <a:spcPts val="3609"/>
              </a:lnSpc>
              <a:spcBef>
                <a:spcPct val="0"/>
              </a:spcBef>
            </a:pPr>
            <a:r>
              <a:rPr lang="en-US" sz="2578">
                <a:solidFill>
                  <a:srgbClr val="D5D5D5"/>
                </a:solidFill>
                <a:latin typeface="Open Sauce"/>
                <a:ea typeface="Open Sauce"/>
                <a:cs typeface="Open Sauce"/>
                <a:sym typeface="Open Sauce"/>
              </a:rPr>
              <a:t>K</a:t>
            </a:r>
            <a:r>
              <a:rPr lang="en-US" sz="2578">
                <a:solidFill>
                  <a:srgbClr val="D5D5D5"/>
                </a:solidFill>
                <a:latin typeface="Open Sauce"/>
                <a:ea typeface="Open Sauce"/>
                <a:cs typeface="Open Sauce"/>
                <a:sym typeface="Open Sauce"/>
              </a:rPr>
              <a:t>ey conclusions from prior work: dataset scarcity and class richness (104 classes) pose the main chall</a:t>
            </a:r>
            <a:r>
              <a:rPr lang="en-US" sz="2578">
                <a:solidFill>
                  <a:srgbClr val="D5D5D5"/>
                </a:solidFill>
                <a:latin typeface="Open Sauce"/>
                <a:ea typeface="Open Sauce"/>
                <a:cs typeface="Open Sauce"/>
                <a:sym typeface="Open Sauce"/>
              </a:rPr>
              <a:t>enge; model selection &amp; generalization must account for limited natural samples and large label space.</a:t>
            </a:r>
          </a:p>
        </p:txBody>
      </p:sp>
      <p:sp>
        <p:nvSpPr>
          <p:cNvPr name="TextBox 9" id="9"/>
          <p:cNvSpPr txBox="true"/>
          <p:nvPr/>
        </p:nvSpPr>
        <p:spPr>
          <a:xfrm rot="0">
            <a:off x="641152" y="2962731"/>
            <a:ext cx="2810982" cy="1749232"/>
          </a:xfrm>
          <a:prstGeom prst="rect">
            <a:avLst/>
          </a:prstGeom>
        </p:spPr>
        <p:txBody>
          <a:bodyPr anchor="t" rtlCol="false" tIns="0" lIns="0" bIns="0" rIns="0">
            <a:spAutoFit/>
          </a:bodyPr>
          <a:lstStyle/>
          <a:p>
            <a:pPr algn="l">
              <a:lnSpc>
                <a:spcPts val="2810"/>
              </a:lnSpc>
              <a:spcBef>
                <a:spcPct val="0"/>
              </a:spcBef>
            </a:pPr>
            <a:r>
              <a:rPr lang="en-US" sz="2007">
                <a:solidFill>
                  <a:srgbClr val="FFFFFF"/>
                </a:solidFill>
                <a:latin typeface="Open Sauce"/>
                <a:ea typeface="Open Sauce"/>
                <a:cs typeface="Open Sauce"/>
                <a:sym typeface="Open Sauce"/>
              </a:rPr>
              <a:t>B</a:t>
            </a:r>
            <a:r>
              <a:rPr lang="en-US" sz="2007">
                <a:solidFill>
                  <a:srgbClr val="FFFFFF"/>
                </a:solidFill>
                <a:latin typeface="Open Sauce"/>
                <a:ea typeface="Open Sauce"/>
                <a:cs typeface="Open Sauce"/>
                <a:sym typeface="Open Sauce"/>
              </a:rPr>
              <a:t>uilt a PSL dataset of 104 signs (common daily use words) with 6,240 augment</a:t>
            </a:r>
            <a:r>
              <a:rPr lang="en-US" sz="2007">
                <a:solidFill>
                  <a:srgbClr val="FFFFFF"/>
                </a:solidFill>
                <a:latin typeface="Open Sauce"/>
                <a:ea typeface="Open Sauce"/>
                <a:cs typeface="Open Sauce"/>
                <a:sym typeface="Open Sauce"/>
              </a:rPr>
              <a:t>ed videos.</a:t>
            </a:r>
          </a:p>
        </p:txBody>
      </p:sp>
      <p:sp>
        <p:nvSpPr>
          <p:cNvPr name="TextBox 10" id="10"/>
          <p:cNvSpPr txBox="true"/>
          <p:nvPr/>
        </p:nvSpPr>
        <p:spPr>
          <a:xfrm rot="0">
            <a:off x="641152" y="2298495"/>
            <a:ext cx="2951328" cy="421010"/>
          </a:xfrm>
          <a:prstGeom prst="rect">
            <a:avLst/>
          </a:prstGeom>
        </p:spPr>
        <p:txBody>
          <a:bodyPr anchor="t" rtlCol="false" tIns="0" lIns="0" bIns="0" rIns="0">
            <a:spAutoFit/>
          </a:bodyPr>
          <a:lstStyle/>
          <a:p>
            <a:pPr algn="l">
              <a:lnSpc>
                <a:spcPts val="3569"/>
              </a:lnSpc>
              <a:spcBef>
                <a:spcPct val="0"/>
              </a:spcBef>
            </a:pPr>
            <a:r>
              <a:rPr lang="en-US" sz="2549" b="true">
                <a:solidFill>
                  <a:srgbClr val="FFFFFF"/>
                </a:solidFill>
                <a:latin typeface="Open Sauce Bold"/>
                <a:ea typeface="Open Sauce Bold"/>
                <a:cs typeface="Open Sauce Bold"/>
                <a:sym typeface="Open Sauce Bold"/>
              </a:rPr>
              <a:t>Dataset Cr</a:t>
            </a:r>
            <a:r>
              <a:rPr lang="en-US" b="true" sz="2549">
                <a:solidFill>
                  <a:srgbClr val="FFFFFF"/>
                </a:solidFill>
                <a:latin typeface="Open Sauce Bold"/>
                <a:ea typeface="Open Sauce Bold"/>
                <a:cs typeface="Open Sauce Bold"/>
                <a:sym typeface="Open Sauce Bold"/>
              </a:rPr>
              <a:t>eation</a:t>
            </a:r>
          </a:p>
        </p:txBody>
      </p:sp>
      <p:sp>
        <p:nvSpPr>
          <p:cNvPr name="TextBox 11" id="11"/>
          <p:cNvSpPr txBox="true"/>
          <p:nvPr/>
        </p:nvSpPr>
        <p:spPr>
          <a:xfrm rot="0">
            <a:off x="5595158" y="2298495"/>
            <a:ext cx="2951328" cy="421010"/>
          </a:xfrm>
          <a:prstGeom prst="rect">
            <a:avLst/>
          </a:prstGeom>
        </p:spPr>
        <p:txBody>
          <a:bodyPr anchor="t" rtlCol="false" tIns="0" lIns="0" bIns="0" rIns="0">
            <a:spAutoFit/>
          </a:bodyPr>
          <a:lstStyle/>
          <a:p>
            <a:pPr algn="l">
              <a:lnSpc>
                <a:spcPts val="3569"/>
              </a:lnSpc>
              <a:spcBef>
                <a:spcPct val="0"/>
              </a:spcBef>
            </a:pPr>
            <a:r>
              <a:rPr lang="en-US" sz="2549" b="true">
                <a:solidFill>
                  <a:srgbClr val="FFFFFF"/>
                </a:solidFill>
                <a:latin typeface="Open Sauce Bold"/>
                <a:ea typeface="Open Sauce Bold"/>
                <a:cs typeface="Open Sauce Bold"/>
                <a:sym typeface="Open Sauce Bold"/>
              </a:rPr>
              <a:t>Model Evalu</a:t>
            </a:r>
            <a:r>
              <a:rPr lang="en-US" b="true" sz="2549">
                <a:solidFill>
                  <a:srgbClr val="FFFFFF"/>
                </a:solidFill>
                <a:latin typeface="Open Sauce Bold"/>
                <a:ea typeface="Open Sauce Bold"/>
                <a:cs typeface="Open Sauce Bold"/>
                <a:sym typeface="Open Sauce Bold"/>
              </a:rPr>
              <a:t>ation</a:t>
            </a:r>
          </a:p>
        </p:txBody>
      </p:sp>
      <p:sp>
        <p:nvSpPr>
          <p:cNvPr name="TextBox 12" id="12"/>
          <p:cNvSpPr txBox="true"/>
          <p:nvPr/>
        </p:nvSpPr>
        <p:spPr>
          <a:xfrm rot="0">
            <a:off x="5595158" y="2902293"/>
            <a:ext cx="2810982" cy="2806507"/>
          </a:xfrm>
          <a:prstGeom prst="rect">
            <a:avLst/>
          </a:prstGeom>
        </p:spPr>
        <p:txBody>
          <a:bodyPr anchor="t" rtlCol="false" tIns="0" lIns="0" bIns="0" rIns="0">
            <a:spAutoFit/>
          </a:bodyPr>
          <a:lstStyle/>
          <a:p>
            <a:pPr algn="l">
              <a:lnSpc>
                <a:spcPts val="2810"/>
              </a:lnSpc>
            </a:pPr>
            <a:r>
              <a:rPr lang="en-US" sz="2007">
                <a:solidFill>
                  <a:srgbClr val="FFFFFF"/>
                </a:solidFill>
                <a:latin typeface="Open Sauce"/>
                <a:ea typeface="Open Sauce"/>
                <a:cs typeface="Open Sauce"/>
                <a:sym typeface="Open Sauce"/>
              </a:rPr>
              <a:t>Evaluated 3 distinct models namely,</a:t>
            </a:r>
          </a:p>
          <a:p>
            <a:pPr algn="l">
              <a:lnSpc>
                <a:spcPts val="2810"/>
              </a:lnSpc>
            </a:pPr>
            <a:r>
              <a:rPr lang="en-US" sz="2007">
                <a:solidFill>
                  <a:srgbClr val="FFFFFF"/>
                </a:solidFill>
                <a:latin typeface="Open Sauce"/>
                <a:ea typeface="Open Sauce"/>
                <a:cs typeface="Open Sauce"/>
                <a:sym typeface="Open Sauce"/>
              </a:rPr>
              <a:t>ViViT, </a:t>
            </a:r>
          </a:p>
          <a:p>
            <a:pPr algn="l">
              <a:lnSpc>
                <a:spcPts val="2810"/>
              </a:lnSpc>
              <a:spcBef>
                <a:spcPct val="0"/>
              </a:spcBef>
            </a:pPr>
            <a:r>
              <a:rPr lang="en-US" sz="2007">
                <a:solidFill>
                  <a:srgbClr val="FFFFFF"/>
                </a:solidFill>
                <a:latin typeface="Open Sauce"/>
                <a:ea typeface="Open Sauce"/>
                <a:cs typeface="Open Sauce"/>
                <a:sym typeface="Open Sauce"/>
              </a:rPr>
              <a:t>ResNet-18 + LSTM, an</a:t>
            </a:r>
            <a:r>
              <a:rPr lang="en-US" sz="2007">
                <a:solidFill>
                  <a:srgbClr val="FFFFFF"/>
                </a:solidFill>
                <a:latin typeface="Open Sauce"/>
                <a:ea typeface="Open Sauce"/>
                <a:cs typeface="Open Sauce"/>
                <a:sym typeface="Open Sauce"/>
              </a:rPr>
              <a:t>d a 3DCNN + ResidualBlock + BiLSTM hybrid models.</a:t>
            </a:r>
          </a:p>
          <a:p>
            <a:pPr algn="l">
              <a:lnSpc>
                <a:spcPts val="2810"/>
              </a:lnSpc>
              <a:spcBef>
                <a:spcPct val="0"/>
              </a:spcBef>
            </a:pPr>
          </a:p>
        </p:txBody>
      </p:sp>
      <p:sp>
        <p:nvSpPr>
          <p:cNvPr name="TextBox 13" id="13"/>
          <p:cNvSpPr txBox="true"/>
          <p:nvPr/>
        </p:nvSpPr>
        <p:spPr>
          <a:xfrm rot="0">
            <a:off x="641152" y="5875754"/>
            <a:ext cx="2951328" cy="421010"/>
          </a:xfrm>
          <a:prstGeom prst="rect">
            <a:avLst/>
          </a:prstGeom>
        </p:spPr>
        <p:txBody>
          <a:bodyPr anchor="t" rtlCol="false" tIns="0" lIns="0" bIns="0" rIns="0">
            <a:spAutoFit/>
          </a:bodyPr>
          <a:lstStyle/>
          <a:p>
            <a:pPr algn="l">
              <a:lnSpc>
                <a:spcPts val="3569"/>
              </a:lnSpc>
              <a:spcBef>
                <a:spcPct val="0"/>
              </a:spcBef>
            </a:pPr>
            <a:r>
              <a:rPr lang="en-US" sz="2549" b="true">
                <a:solidFill>
                  <a:srgbClr val="FFFFFF"/>
                </a:solidFill>
                <a:latin typeface="Open Sauce Bold"/>
                <a:ea typeface="Open Sauce Bold"/>
                <a:cs typeface="Open Sauce Bold"/>
                <a:sym typeface="Open Sauce Bold"/>
              </a:rPr>
              <a:t>Key Ou</a:t>
            </a:r>
            <a:r>
              <a:rPr lang="en-US" b="true" sz="2549">
                <a:solidFill>
                  <a:srgbClr val="FFFFFF"/>
                </a:solidFill>
                <a:latin typeface="Open Sauce Bold"/>
                <a:ea typeface="Open Sauce Bold"/>
                <a:cs typeface="Open Sauce Bold"/>
                <a:sym typeface="Open Sauce Bold"/>
              </a:rPr>
              <a:t>tcomes</a:t>
            </a:r>
          </a:p>
        </p:txBody>
      </p:sp>
      <p:sp>
        <p:nvSpPr>
          <p:cNvPr name="TextBox 14" id="14"/>
          <p:cNvSpPr txBox="true"/>
          <p:nvPr/>
        </p:nvSpPr>
        <p:spPr>
          <a:xfrm rot="0">
            <a:off x="386760" y="6544414"/>
            <a:ext cx="7581103" cy="3327842"/>
          </a:xfrm>
          <a:prstGeom prst="rect">
            <a:avLst/>
          </a:prstGeom>
        </p:spPr>
        <p:txBody>
          <a:bodyPr anchor="t" rtlCol="false" tIns="0" lIns="0" bIns="0" rIns="0">
            <a:spAutoFit/>
          </a:bodyPr>
          <a:lstStyle/>
          <a:p>
            <a:pPr algn="l" marL="455027" indent="-227514" lvl="1">
              <a:lnSpc>
                <a:spcPts val="2950"/>
              </a:lnSpc>
              <a:buFont typeface="Arial"/>
              <a:buChar char="•"/>
            </a:pPr>
            <a:r>
              <a:rPr lang="en-US" sz="2107">
                <a:solidFill>
                  <a:srgbClr val="FFFFFF"/>
                </a:solidFill>
                <a:latin typeface="Open Sauce"/>
                <a:ea typeface="Open Sauce"/>
                <a:cs typeface="Open Sauce"/>
                <a:sym typeface="Open Sauce"/>
              </a:rPr>
              <a:t>ViViT (</a:t>
            </a:r>
            <a:r>
              <a:rPr lang="en-US" sz="2107">
                <a:solidFill>
                  <a:srgbClr val="FFFFFF"/>
                </a:solidFill>
                <a:latin typeface="Open Sauce"/>
                <a:ea typeface="Open Sauce"/>
                <a:cs typeface="Open Sauce"/>
                <a:sym typeface="Open Sauce"/>
              </a:rPr>
              <a:t>Tubelet Embedding): Very high train accuracy (~96%) but large train–val gap (~75%) → strong overfitting.</a:t>
            </a:r>
          </a:p>
          <a:p>
            <a:pPr algn="l" marL="455027" indent="-227514" lvl="1">
              <a:lnSpc>
                <a:spcPts val="2950"/>
              </a:lnSpc>
              <a:buFont typeface="Arial"/>
              <a:buChar char="•"/>
            </a:pPr>
            <a:r>
              <a:rPr lang="en-US" sz="2107">
                <a:solidFill>
                  <a:srgbClr val="FFFFFF"/>
                </a:solidFill>
                <a:latin typeface="Open Sauce"/>
                <a:ea typeface="Open Sauce"/>
                <a:cs typeface="Open Sauce"/>
                <a:sym typeface="Open Sauce"/>
              </a:rPr>
              <a:t>ResNet-18 + LSTM: Better generalization than ViViT, but validation gap persists.</a:t>
            </a:r>
          </a:p>
          <a:p>
            <a:pPr algn="l" marL="455027" indent="-227514" lvl="1">
              <a:lnSpc>
                <a:spcPts val="2950"/>
              </a:lnSpc>
              <a:buFont typeface="Arial"/>
              <a:buChar char="•"/>
            </a:pPr>
            <a:r>
              <a:rPr lang="en-US" sz="2107">
                <a:solidFill>
                  <a:srgbClr val="FFFFFF"/>
                </a:solidFill>
                <a:latin typeface="Open Sauce"/>
                <a:ea typeface="Open Sauce"/>
                <a:cs typeface="Open Sauce"/>
                <a:sym typeface="Open Sauce"/>
              </a:rPr>
              <a:t>Proposed 3DCNN + Residual Block + BiLSTM: Most balanced model, achieving best test accuracy of 83.89%.</a:t>
            </a:r>
          </a:p>
          <a:p>
            <a:pPr algn="l">
              <a:lnSpc>
                <a:spcPts val="295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0740718" y="0"/>
            <a:ext cx="8747129" cy="12495899"/>
          </a:xfrm>
          <a:custGeom>
            <a:avLst/>
            <a:gdLst/>
            <a:ahLst/>
            <a:cxnLst/>
            <a:rect r="r" b="b" t="t" l="l"/>
            <a:pathLst>
              <a:path h="12495899" w="8747129">
                <a:moveTo>
                  <a:pt x="8747130" y="0"/>
                </a:moveTo>
                <a:lnTo>
                  <a:pt x="0" y="0"/>
                </a:lnTo>
                <a:lnTo>
                  <a:pt x="0" y="12495899"/>
                </a:lnTo>
                <a:lnTo>
                  <a:pt x="8747130" y="12495899"/>
                </a:lnTo>
                <a:lnTo>
                  <a:pt x="87471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252298">
            <a:off x="-9957963" y="-2761053"/>
            <a:ext cx="14380666" cy="11648340"/>
          </a:xfrm>
          <a:custGeom>
            <a:avLst/>
            <a:gdLst/>
            <a:ahLst/>
            <a:cxnLst/>
            <a:rect r="r" b="b" t="t" l="l"/>
            <a:pathLst>
              <a:path h="11648340" w="14380666">
                <a:moveTo>
                  <a:pt x="14380667" y="0"/>
                </a:moveTo>
                <a:lnTo>
                  <a:pt x="0" y="0"/>
                </a:lnTo>
                <a:lnTo>
                  <a:pt x="0" y="11648340"/>
                </a:lnTo>
                <a:lnTo>
                  <a:pt x="14380667" y="11648340"/>
                </a:lnTo>
                <a:lnTo>
                  <a:pt x="14380667" y="0"/>
                </a:lnTo>
                <a:close/>
              </a:path>
            </a:pathLst>
          </a:custGeom>
          <a:blipFill>
            <a:blip r:embed="rId4">
              <a:alphaModFix amt="79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816261" y="1345214"/>
            <a:ext cx="8471739" cy="5895535"/>
            <a:chOff x="0" y="0"/>
            <a:chExt cx="1167974" cy="812800"/>
          </a:xfrm>
        </p:grpSpPr>
        <p:sp>
          <p:nvSpPr>
            <p:cNvPr name="Freeform 5" id="5"/>
            <p:cNvSpPr/>
            <p:nvPr/>
          </p:nvSpPr>
          <p:spPr>
            <a:xfrm flipH="false" flipV="false" rot="0">
              <a:off x="0" y="0"/>
              <a:ext cx="1167974" cy="812800"/>
            </a:xfrm>
            <a:custGeom>
              <a:avLst/>
              <a:gdLst/>
              <a:ahLst/>
              <a:cxnLst/>
              <a:rect r="r" b="b" t="t" l="l"/>
              <a:pathLst>
                <a:path h="812800" w="1167974">
                  <a:moveTo>
                    <a:pt x="0" y="0"/>
                  </a:moveTo>
                  <a:lnTo>
                    <a:pt x="1167974" y="0"/>
                  </a:lnTo>
                  <a:lnTo>
                    <a:pt x="1167974" y="812800"/>
                  </a:lnTo>
                  <a:lnTo>
                    <a:pt x="0" y="812800"/>
                  </a:lnTo>
                  <a:close/>
                </a:path>
              </a:pathLst>
            </a:custGeom>
            <a:blipFill>
              <a:blip r:embed="rId6"/>
              <a:stretch>
                <a:fillRect l="-7992" t="0" r="-7992" b="0"/>
              </a:stretch>
            </a:blipFill>
          </p:spPr>
        </p:sp>
      </p:grpSp>
      <p:sp>
        <p:nvSpPr>
          <p:cNvPr name="TextBox 6" id="6"/>
          <p:cNvSpPr txBox="true"/>
          <p:nvPr/>
        </p:nvSpPr>
        <p:spPr>
          <a:xfrm rot="0">
            <a:off x="1102274" y="589015"/>
            <a:ext cx="7081268" cy="1359997"/>
          </a:xfrm>
          <a:prstGeom prst="rect">
            <a:avLst/>
          </a:prstGeom>
        </p:spPr>
        <p:txBody>
          <a:bodyPr anchor="t" rtlCol="false" tIns="0" lIns="0" bIns="0" rIns="0">
            <a:spAutoFit/>
          </a:bodyPr>
          <a:lstStyle/>
          <a:p>
            <a:pPr algn="l">
              <a:lnSpc>
                <a:spcPts val="11139"/>
              </a:lnSpc>
              <a:spcBef>
                <a:spcPct val="0"/>
              </a:spcBef>
            </a:pPr>
            <a:r>
              <a:rPr lang="en-US" sz="7956" b="true">
                <a:solidFill>
                  <a:srgbClr val="FFFFFF"/>
                </a:solidFill>
                <a:latin typeface="Open Sauce Bold"/>
                <a:ea typeface="Open Sauce Bold"/>
                <a:cs typeface="Open Sauce Bold"/>
                <a:sym typeface="Open Sauce Bold"/>
              </a:rPr>
              <a:t>Motivation</a:t>
            </a:r>
          </a:p>
        </p:txBody>
      </p:sp>
      <p:sp>
        <p:nvSpPr>
          <p:cNvPr name="TextBox 7" id="7"/>
          <p:cNvSpPr txBox="true"/>
          <p:nvPr/>
        </p:nvSpPr>
        <p:spPr>
          <a:xfrm rot="0">
            <a:off x="1102274" y="2461140"/>
            <a:ext cx="7669376" cy="7167318"/>
          </a:xfrm>
          <a:prstGeom prst="rect">
            <a:avLst/>
          </a:prstGeom>
        </p:spPr>
        <p:txBody>
          <a:bodyPr anchor="t" rtlCol="false" tIns="0" lIns="0" bIns="0" rIns="0">
            <a:spAutoFit/>
          </a:bodyPr>
          <a:lstStyle/>
          <a:p>
            <a:pPr algn="just">
              <a:lnSpc>
                <a:spcPts val="2981"/>
              </a:lnSpc>
            </a:pPr>
            <a:r>
              <a:rPr lang="en-US" sz="2129">
                <a:solidFill>
                  <a:srgbClr val="D5D5D5"/>
                </a:solidFill>
                <a:latin typeface="Open Sauce"/>
                <a:ea typeface="Open Sauce"/>
                <a:cs typeface="Open Sauce"/>
                <a:sym typeface="Open Sauce"/>
              </a:rPr>
              <a:t>F</a:t>
            </a:r>
            <a:r>
              <a:rPr lang="en-US" sz="2129">
                <a:solidFill>
                  <a:srgbClr val="D5D5D5"/>
                </a:solidFill>
                <a:latin typeface="Open Sauce"/>
                <a:ea typeface="Open Sauce"/>
                <a:cs typeface="Open Sauce"/>
                <a:sym typeface="Open Sauce"/>
              </a:rPr>
              <a:t>or us, this project is more than a technical challenge — it is a human one. Millions of voices in Pakistan’s deaf community remain unheard because of a language gap, limiting access to education, jobs, and social connection. </a:t>
            </a:r>
          </a:p>
          <a:p>
            <a:pPr algn="just">
              <a:lnSpc>
                <a:spcPts val="2981"/>
              </a:lnSpc>
            </a:pPr>
          </a:p>
          <a:p>
            <a:pPr algn="just">
              <a:lnSpc>
                <a:spcPts val="2981"/>
              </a:lnSpc>
              <a:spcBef>
                <a:spcPct val="0"/>
              </a:spcBef>
            </a:pPr>
            <a:r>
              <a:rPr lang="en-US" sz="2129">
                <a:solidFill>
                  <a:srgbClr val="D5D5D5"/>
                </a:solidFill>
                <a:latin typeface="Open Sauce"/>
                <a:ea typeface="Open Sauce"/>
                <a:cs typeface="Open Sauce"/>
                <a:sym typeface="Open Sauce"/>
              </a:rPr>
              <a:t>We chose this project because we believe technology should serve everyone, especially communities that are often overlooked. By building a system that can automatically r</a:t>
            </a:r>
            <a:r>
              <a:rPr lang="en-US" sz="2129">
                <a:solidFill>
                  <a:srgbClr val="D5D5D5"/>
                </a:solidFill>
                <a:latin typeface="Open Sauce"/>
                <a:ea typeface="Open Sauce"/>
                <a:cs typeface="Open Sauce"/>
                <a:sym typeface="Open Sauce"/>
              </a:rPr>
              <a:t>ecognize PSL and translate it into text or speech, we want to create a bridge between the deaf community and the rest of society.</a:t>
            </a:r>
          </a:p>
          <a:p>
            <a:pPr algn="just">
              <a:lnSpc>
                <a:spcPts val="2981"/>
              </a:lnSpc>
              <a:spcBef>
                <a:spcPct val="0"/>
              </a:spcBef>
            </a:pPr>
          </a:p>
          <a:p>
            <a:pPr algn="just">
              <a:lnSpc>
                <a:spcPts val="2981"/>
              </a:lnSpc>
              <a:spcBef>
                <a:spcPct val="0"/>
              </a:spcBef>
            </a:pPr>
            <a:r>
              <a:rPr lang="en-US" sz="2129">
                <a:solidFill>
                  <a:srgbClr val="D5D5D5"/>
                </a:solidFill>
                <a:latin typeface="Open Sauce"/>
                <a:ea typeface="Open Sauce"/>
                <a:cs typeface="Open Sauce"/>
                <a:sym typeface="Open Sauce"/>
              </a:rPr>
              <a:t>Beyond fulfilling an academic requirement, this project motivates us to apply AI and computer vision for real social impact, while growing as learners. If successful, our work could lay the foundation for future systems that provide equal communication opportunities for the deaf community in Pakistan.</a:t>
            </a:r>
          </a:p>
          <a:p>
            <a:pPr algn="just">
              <a:lnSpc>
                <a:spcPts val="3464"/>
              </a:lnSpc>
              <a:spcBef>
                <a:spcPct val="0"/>
              </a:spcBef>
            </a:pPr>
          </a:p>
        </p:txBody>
      </p:sp>
      <p:grpSp>
        <p:nvGrpSpPr>
          <p:cNvPr name="Group 8" id="8"/>
          <p:cNvGrpSpPr/>
          <p:nvPr/>
        </p:nvGrpSpPr>
        <p:grpSpPr>
          <a:xfrm rot="0">
            <a:off x="10967675" y="6580713"/>
            <a:ext cx="6168911" cy="3047744"/>
            <a:chOff x="0" y="0"/>
            <a:chExt cx="8225215" cy="4063659"/>
          </a:xfrm>
        </p:grpSpPr>
        <p:grpSp>
          <p:nvGrpSpPr>
            <p:cNvPr name="Group 9" id="9"/>
            <p:cNvGrpSpPr/>
            <p:nvPr/>
          </p:nvGrpSpPr>
          <p:grpSpPr>
            <a:xfrm rot="0">
              <a:off x="0" y="0"/>
              <a:ext cx="8225215" cy="4063659"/>
              <a:chOff x="0" y="0"/>
              <a:chExt cx="1735547" cy="857445"/>
            </a:xfrm>
          </p:grpSpPr>
          <p:sp>
            <p:nvSpPr>
              <p:cNvPr name="Freeform 10" id="10"/>
              <p:cNvSpPr/>
              <p:nvPr/>
            </p:nvSpPr>
            <p:spPr>
              <a:xfrm flipH="false" flipV="false" rot="0">
                <a:off x="0" y="0"/>
                <a:ext cx="1735547" cy="857445"/>
              </a:xfrm>
              <a:custGeom>
                <a:avLst/>
                <a:gdLst/>
                <a:ahLst/>
                <a:cxnLst/>
                <a:rect r="r" b="b" t="t" l="l"/>
                <a:pathLst>
                  <a:path h="857445" w="1735547">
                    <a:moveTo>
                      <a:pt x="0" y="0"/>
                    </a:moveTo>
                    <a:lnTo>
                      <a:pt x="1735547" y="0"/>
                    </a:lnTo>
                    <a:lnTo>
                      <a:pt x="1735547" y="857445"/>
                    </a:lnTo>
                    <a:lnTo>
                      <a:pt x="0" y="857445"/>
                    </a:lnTo>
                    <a:close/>
                  </a:path>
                </a:pathLst>
              </a:custGeom>
              <a:gradFill rotWithShape="true">
                <a:gsLst>
                  <a:gs pos="0">
                    <a:srgbClr val="2A7487">
                      <a:alpha val="100000"/>
                    </a:srgbClr>
                  </a:gs>
                  <a:gs pos="100000">
                    <a:srgbClr val="ECB835">
                      <a:alpha val="100000"/>
                    </a:srgbClr>
                  </a:gs>
                </a:gsLst>
                <a:lin ang="2700000"/>
              </a:gradFill>
            </p:spPr>
          </p:sp>
          <p:sp>
            <p:nvSpPr>
              <p:cNvPr name="TextBox 11" id="11"/>
              <p:cNvSpPr txBox="true"/>
              <p:nvPr/>
            </p:nvSpPr>
            <p:spPr>
              <a:xfrm>
                <a:off x="0" y="-38100"/>
                <a:ext cx="1735547" cy="895545"/>
              </a:xfrm>
              <a:prstGeom prst="rect">
                <a:avLst/>
              </a:prstGeom>
            </p:spPr>
            <p:txBody>
              <a:bodyPr anchor="ctr" rtlCol="false" tIns="50800" lIns="50800" bIns="50800" rIns="50800"/>
              <a:lstStyle/>
              <a:p>
                <a:pPr algn="ctr">
                  <a:lnSpc>
                    <a:spcPts val="3368"/>
                  </a:lnSpc>
                </a:pPr>
              </a:p>
            </p:txBody>
          </p:sp>
        </p:grpSp>
        <p:sp>
          <p:nvSpPr>
            <p:cNvPr name="TextBox 12" id="12"/>
            <p:cNvSpPr txBox="true"/>
            <p:nvPr/>
          </p:nvSpPr>
          <p:spPr>
            <a:xfrm rot="0">
              <a:off x="378003" y="440022"/>
              <a:ext cx="7469208" cy="3030994"/>
            </a:xfrm>
            <a:prstGeom prst="rect">
              <a:avLst/>
            </a:prstGeom>
          </p:spPr>
          <p:txBody>
            <a:bodyPr anchor="t" rtlCol="false" tIns="0" lIns="0" bIns="0" rIns="0">
              <a:spAutoFit/>
            </a:bodyPr>
            <a:lstStyle/>
            <a:p>
              <a:pPr algn="just" marL="474927" indent="-237464" lvl="1">
                <a:lnSpc>
                  <a:spcPts val="3079"/>
                </a:lnSpc>
                <a:buFont typeface="Arial"/>
                <a:buChar char="•"/>
              </a:pPr>
              <a:r>
                <a:rPr lang="en-US" b="true" sz="2199">
                  <a:solidFill>
                    <a:srgbClr val="FFFFFF"/>
                  </a:solidFill>
                  <a:latin typeface="Open Sauce Bold"/>
                  <a:ea typeface="Open Sauce Bold"/>
                  <a:cs typeface="Open Sauce Bold"/>
                  <a:sym typeface="Open Sauce Bold"/>
                </a:rPr>
                <a:t>Bridging the communication gap for the deaf commu</a:t>
              </a:r>
              <a:r>
                <a:rPr lang="en-US" b="true" sz="2199">
                  <a:solidFill>
                    <a:srgbClr val="FFFFFF"/>
                  </a:solidFill>
                  <a:latin typeface="Open Sauce Bold"/>
                  <a:ea typeface="Open Sauce Bold"/>
                  <a:cs typeface="Open Sauce Bold"/>
                  <a:sym typeface="Open Sauce Bold"/>
                </a:rPr>
                <a:t>nity.</a:t>
              </a:r>
            </a:p>
            <a:p>
              <a:pPr algn="just" marL="474927" indent="-237464" lvl="1">
                <a:lnSpc>
                  <a:spcPts val="3079"/>
                </a:lnSpc>
                <a:buFont typeface="Arial"/>
                <a:buChar char="•"/>
              </a:pPr>
              <a:r>
                <a:rPr lang="en-US" b="true" sz="2199">
                  <a:solidFill>
                    <a:srgbClr val="FFFFFF"/>
                  </a:solidFill>
                  <a:latin typeface="Open Sauce Bold"/>
                  <a:ea typeface="Open Sauce Bold"/>
                  <a:cs typeface="Open Sauce Bold"/>
                  <a:sym typeface="Open Sauce Bold"/>
                </a:rPr>
                <a:t>Making classrooms, workplaces, and homes more inclusive.</a:t>
              </a:r>
            </a:p>
            <a:p>
              <a:pPr algn="just" marL="474927" indent="-237464" lvl="1">
                <a:lnSpc>
                  <a:spcPts val="3079"/>
                </a:lnSpc>
                <a:buFont typeface="Arial"/>
                <a:buChar char="•"/>
              </a:pPr>
              <a:r>
                <a:rPr lang="en-US" b="true" sz="2199">
                  <a:solidFill>
                    <a:srgbClr val="FFFFFF"/>
                  </a:solidFill>
                  <a:latin typeface="Open Sauce Bold"/>
                  <a:ea typeface="Open Sauce Bold"/>
                  <a:cs typeface="Open Sauce Bold"/>
                  <a:sym typeface="Open Sauce Bold"/>
                </a:rPr>
                <a:t>Using AI for real social impact beyond academics</a:t>
              </a:r>
            </a:p>
          </p:txBody>
        </p:sp>
      </p:grpSp>
      <p:sp>
        <p:nvSpPr>
          <p:cNvPr name="Freeform 13" id="13"/>
          <p:cNvSpPr/>
          <p:nvPr/>
        </p:nvSpPr>
        <p:spPr>
          <a:xfrm flipH="false" flipV="false" rot="0">
            <a:off x="11309774" y="6969428"/>
            <a:ext cx="271321" cy="271321"/>
          </a:xfrm>
          <a:custGeom>
            <a:avLst/>
            <a:gdLst/>
            <a:ahLst/>
            <a:cxnLst/>
            <a:rect r="r" b="b" t="t" l="l"/>
            <a:pathLst>
              <a:path h="271321" w="271321">
                <a:moveTo>
                  <a:pt x="0" y="0"/>
                </a:moveTo>
                <a:lnTo>
                  <a:pt x="271321" y="0"/>
                </a:lnTo>
                <a:lnTo>
                  <a:pt x="271321" y="271321"/>
                </a:lnTo>
                <a:lnTo>
                  <a:pt x="0" y="2713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1309774" y="7741853"/>
            <a:ext cx="271321" cy="271321"/>
          </a:xfrm>
          <a:custGeom>
            <a:avLst/>
            <a:gdLst/>
            <a:ahLst/>
            <a:cxnLst/>
            <a:rect r="r" b="b" t="t" l="l"/>
            <a:pathLst>
              <a:path h="271321" w="271321">
                <a:moveTo>
                  <a:pt x="0" y="0"/>
                </a:moveTo>
                <a:lnTo>
                  <a:pt x="271321" y="0"/>
                </a:lnTo>
                <a:lnTo>
                  <a:pt x="271321" y="271321"/>
                </a:lnTo>
                <a:lnTo>
                  <a:pt x="0" y="2713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1309774" y="8514279"/>
            <a:ext cx="271321" cy="271321"/>
          </a:xfrm>
          <a:custGeom>
            <a:avLst/>
            <a:gdLst/>
            <a:ahLst/>
            <a:cxnLst/>
            <a:rect r="r" b="b" t="t" l="l"/>
            <a:pathLst>
              <a:path h="271321" w="271321">
                <a:moveTo>
                  <a:pt x="0" y="0"/>
                </a:moveTo>
                <a:lnTo>
                  <a:pt x="271321" y="0"/>
                </a:lnTo>
                <a:lnTo>
                  <a:pt x="271321" y="271320"/>
                </a:lnTo>
                <a:lnTo>
                  <a:pt x="0" y="2713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737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0">
            <a:off x="-1217285" y="-1574030"/>
            <a:ext cx="20327065" cy="16464922"/>
          </a:xfrm>
          <a:custGeom>
            <a:avLst/>
            <a:gdLst/>
            <a:ahLst/>
            <a:cxnLst/>
            <a:rect r="r" b="b" t="t" l="l"/>
            <a:pathLst>
              <a:path h="16464922" w="20327065">
                <a:moveTo>
                  <a:pt x="0" y="16464922"/>
                </a:moveTo>
                <a:lnTo>
                  <a:pt x="20327065" y="16464922"/>
                </a:lnTo>
                <a:lnTo>
                  <a:pt x="20327065" y="0"/>
                </a:lnTo>
                <a:lnTo>
                  <a:pt x="0" y="0"/>
                </a:lnTo>
                <a:lnTo>
                  <a:pt x="0" y="16464922"/>
                </a:lnTo>
                <a:close/>
              </a:path>
            </a:pathLst>
          </a:custGeom>
          <a:blipFill>
            <a:blip r:embed="rId2">
              <a:alphaModFix amt="6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06792" y="1768214"/>
            <a:ext cx="15274417" cy="7789952"/>
          </a:xfrm>
          <a:custGeom>
            <a:avLst/>
            <a:gdLst/>
            <a:ahLst/>
            <a:cxnLst/>
            <a:rect r="r" b="b" t="t" l="l"/>
            <a:pathLst>
              <a:path h="7789952" w="15274417">
                <a:moveTo>
                  <a:pt x="0" y="0"/>
                </a:moveTo>
                <a:lnTo>
                  <a:pt x="15274416" y="0"/>
                </a:lnTo>
                <a:lnTo>
                  <a:pt x="15274416" y="7789953"/>
                </a:lnTo>
                <a:lnTo>
                  <a:pt x="0" y="7789953"/>
                </a:lnTo>
                <a:lnTo>
                  <a:pt x="0" y="0"/>
                </a:lnTo>
                <a:close/>
              </a:path>
            </a:pathLst>
          </a:custGeom>
          <a:blipFill>
            <a:blip r:embed="rId4"/>
            <a:stretch>
              <a:fillRect l="0" t="0" r="0" b="0"/>
            </a:stretch>
          </a:blipFill>
        </p:spPr>
      </p:sp>
      <p:sp>
        <p:nvSpPr>
          <p:cNvPr name="TextBox 4" id="4"/>
          <p:cNvSpPr txBox="true"/>
          <p:nvPr/>
        </p:nvSpPr>
        <p:spPr>
          <a:xfrm rot="0">
            <a:off x="4536766" y="700405"/>
            <a:ext cx="8818962" cy="751840"/>
          </a:xfrm>
          <a:prstGeom prst="rect">
            <a:avLst/>
          </a:prstGeom>
        </p:spPr>
        <p:txBody>
          <a:bodyPr anchor="t" rtlCol="false" tIns="0" lIns="0" bIns="0" rIns="0">
            <a:spAutoFit/>
          </a:bodyPr>
          <a:lstStyle/>
          <a:p>
            <a:pPr algn="l">
              <a:lnSpc>
                <a:spcPts val="5600"/>
              </a:lnSpc>
            </a:pPr>
            <a:r>
              <a:rPr lang="en-US" sz="5600" b="true">
                <a:solidFill>
                  <a:srgbClr val="FFFFFF"/>
                </a:solidFill>
                <a:latin typeface="Open Sauce Semi-Bold"/>
                <a:ea typeface="Open Sauce Semi-Bold"/>
                <a:cs typeface="Open Sauce Semi-Bold"/>
                <a:sym typeface="Open Sauce Semi-Bold"/>
              </a:rPr>
              <a:t>SYSTEM 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0549491" y="0"/>
            <a:ext cx="8747129" cy="12495899"/>
          </a:xfrm>
          <a:custGeom>
            <a:avLst/>
            <a:gdLst/>
            <a:ahLst/>
            <a:cxnLst/>
            <a:rect r="r" b="b" t="t" l="l"/>
            <a:pathLst>
              <a:path h="12495899" w="8747129">
                <a:moveTo>
                  <a:pt x="8747130" y="0"/>
                </a:moveTo>
                <a:lnTo>
                  <a:pt x="0" y="0"/>
                </a:lnTo>
                <a:lnTo>
                  <a:pt x="0" y="12495899"/>
                </a:lnTo>
                <a:lnTo>
                  <a:pt x="8747130" y="12495899"/>
                </a:lnTo>
                <a:lnTo>
                  <a:pt x="87471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252298">
            <a:off x="-9957963" y="-2761053"/>
            <a:ext cx="14380666" cy="11648340"/>
          </a:xfrm>
          <a:custGeom>
            <a:avLst/>
            <a:gdLst/>
            <a:ahLst/>
            <a:cxnLst/>
            <a:rect r="r" b="b" t="t" l="l"/>
            <a:pathLst>
              <a:path h="11648340" w="14380666">
                <a:moveTo>
                  <a:pt x="14380667" y="0"/>
                </a:moveTo>
                <a:lnTo>
                  <a:pt x="0" y="0"/>
                </a:lnTo>
                <a:lnTo>
                  <a:pt x="0" y="11648340"/>
                </a:lnTo>
                <a:lnTo>
                  <a:pt x="14380667" y="11648340"/>
                </a:lnTo>
                <a:lnTo>
                  <a:pt x="14380667" y="0"/>
                </a:lnTo>
                <a:close/>
              </a:path>
            </a:pathLst>
          </a:custGeom>
          <a:blipFill>
            <a:blip r:embed="rId4">
              <a:alphaModFix amt="79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396232" y="2776915"/>
            <a:ext cx="4139787" cy="7509849"/>
            <a:chOff x="0" y="0"/>
            <a:chExt cx="1090314" cy="1977903"/>
          </a:xfrm>
        </p:grpSpPr>
        <p:sp>
          <p:nvSpPr>
            <p:cNvPr name="Freeform 5" id="5"/>
            <p:cNvSpPr/>
            <p:nvPr/>
          </p:nvSpPr>
          <p:spPr>
            <a:xfrm flipH="false" flipV="false" rot="0">
              <a:off x="0" y="0"/>
              <a:ext cx="1090314" cy="1977903"/>
            </a:xfrm>
            <a:custGeom>
              <a:avLst/>
              <a:gdLst/>
              <a:ahLst/>
              <a:cxnLst/>
              <a:rect r="r" b="b" t="t" l="l"/>
              <a:pathLst>
                <a:path h="1977903" w="1090314">
                  <a:moveTo>
                    <a:pt x="0" y="0"/>
                  </a:moveTo>
                  <a:lnTo>
                    <a:pt x="1090314" y="0"/>
                  </a:lnTo>
                  <a:lnTo>
                    <a:pt x="1090314" y="1977903"/>
                  </a:lnTo>
                  <a:lnTo>
                    <a:pt x="0" y="1977903"/>
                  </a:lnTo>
                  <a:close/>
                </a:path>
              </a:pathLst>
            </a:custGeom>
            <a:gradFill rotWithShape="true">
              <a:gsLst>
                <a:gs pos="0">
                  <a:srgbClr val="2A7487">
                    <a:alpha val="100000"/>
                  </a:srgbClr>
                </a:gs>
                <a:gs pos="100000">
                  <a:srgbClr val="ECB835">
                    <a:alpha val="100000"/>
                  </a:srgbClr>
                </a:gs>
              </a:gsLst>
              <a:lin ang="2700000"/>
            </a:gradFill>
          </p:spPr>
        </p:sp>
        <p:sp>
          <p:nvSpPr>
            <p:cNvPr name="TextBox 6" id="6"/>
            <p:cNvSpPr txBox="true"/>
            <p:nvPr/>
          </p:nvSpPr>
          <p:spPr>
            <a:xfrm>
              <a:off x="0" y="-38100"/>
              <a:ext cx="1090314" cy="2016003"/>
            </a:xfrm>
            <a:prstGeom prst="rect">
              <a:avLst/>
            </a:prstGeom>
          </p:spPr>
          <p:txBody>
            <a:bodyPr anchor="ctr" rtlCol="false" tIns="50800" lIns="50800" bIns="50800" rIns="50800"/>
            <a:lstStyle/>
            <a:p>
              <a:pPr algn="ctr">
                <a:lnSpc>
                  <a:spcPts val="3368"/>
                </a:lnSpc>
              </a:pPr>
            </a:p>
          </p:txBody>
        </p:sp>
      </p:grpSp>
      <p:grpSp>
        <p:nvGrpSpPr>
          <p:cNvPr name="Group 7" id="7"/>
          <p:cNvGrpSpPr/>
          <p:nvPr/>
        </p:nvGrpSpPr>
        <p:grpSpPr>
          <a:xfrm rot="0">
            <a:off x="7074107" y="2776915"/>
            <a:ext cx="4139787" cy="7509849"/>
            <a:chOff x="0" y="0"/>
            <a:chExt cx="1090314" cy="1977903"/>
          </a:xfrm>
        </p:grpSpPr>
        <p:sp>
          <p:nvSpPr>
            <p:cNvPr name="Freeform 8" id="8"/>
            <p:cNvSpPr/>
            <p:nvPr/>
          </p:nvSpPr>
          <p:spPr>
            <a:xfrm flipH="false" flipV="false" rot="0">
              <a:off x="0" y="0"/>
              <a:ext cx="1090314" cy="1977903"/>
            </a:xfrm>
            <a:custGeom>
              <a:avLst/>
              <a:gdLst/>
              <a:ahLst/>
              <a:cxnLst/>
              <a:rect r="r" b="b" t="t" l="l"/>
              <a:pathLst>
                <a:path h="1977903" w="1090314">
                  <a:moveTo>
                    <a:pt x="0" y="0"/>
                  </a:moveTo>
                  <a:lnTo>
                    <a:pt x="1090314" y="0"/>
                  </a:lnTo>
                  <a:lnTo>
                    <a:pt x="1090314" y="1977903"/>
                  </a:lnTo>
                  <a:lnTo>
                    <a:pt x="0" y="1977903"/>
                  </a:lnTo>
                  <a:close/>
                </a:path>
              </a:pathLst>
            </a:custGeom>
            <a:gradFill rotWithShape="true">
              <a:gsLst>
                <a:gs pos="0">
                  <a:srgbClr val="2A7487">
                    <a:alpha val="100000"/>
                  </a:srgbClr>
                </a:gs>
                <a:gs pos="100000">
                  <a:srgbClr val="ECB835">
                    <a:alpha val="100000"/>
                  </a:srgbClr>
                </a:gs>
              </a:gsLst>
              <a:lin ang="2700000"/>
            </a:gradFill>
          </p:spPr>
        </p:sp>
        <p:sp>
          <p:nvSpPr>
            <p:cNvPr name="TextBox 9" id="9"/>
            <p:cNvSpPr txBox="true"/>
            <p:nvPr/>
          </p:nvSpPr>
          <p:spPr>
            <a:xfrm>
              <a:off x="0" y="-38100"/>
              <a:ext cx="1090314" cy="2016003"/>
            </a:xfrm>
            <a:prstGeom prst="rect">
              <a:avLst/>
            </a:prstGeom>
          </p:spPr>
          <p:txBody>
            <a:bodyPr anchor="ctr" rtlCol="false" tIns="50800" lIns="50800" bIns="50800" rIns="50800"/>
            <a:lstStyle/>
            <a:p>
              <a:pPr algn="ctr">
                <a:lnSpc>
                  <a:spcPts val="3368"/>
                </a:lnSpc>
              </a:pPr>
            </a:p>
          </p:txBody>
        </p:sp>
      </p:grpSp>
      <p:grpSp>
        <p:nvGrpSpPr>
          <p:cNvPr name="Group 10" id="10"/>
          <p:cNvGrpSpPr/>
          <p:nvPr/>
        </p:nvGrpSpPr>
        <p:grpSpPr>
          <a:xfrm rot="0">
            <a:off x="11751981" y="2776915"/>
            <a:ext cx="4139787" cy="7509849"/>
            <a:chOff x="0" y="0"/>
            <a:chExt cx="1090314" cy="1977903"/>
          </a:xfrm>
        </p:grpSpPr>
        <p:sp>
          <p:nvSpPr>
            <p:cNvPr name="Freeform 11" id="11"/>
            <p:cNvSpPr/>
            <p:nvPr/>
          </p:nvSpPr>
          <p:spPr>
            <a:xfrm flipH="false" flipV="false" rot="0">
              <a:off x="0" y="0"/>
              <a:ext cx="1090314" cy="1977903"/>
            </a:xfrm>
            <a:custGeom>
              <a:avLst/>
              <a:gdLst/>
              <a:ahLst/>
              <a:cxnLst/>
              <a:rect r="r" b="b" t="t" l="l"/>
              <a:pathLst>
                <a:path h="1977903" w="1090314">
                  <a:moveTo>
                    <a:pt x="0" y="0"/>
                  </a:moveTo>
                  <a:lnTo>
                    <a:pt x="1090314" y="0"/>
                  </a:lnTo>
                  <a:lnTo>
                    <a:pt x="1090314" y="1977903"/>
                  </a:lnTo>
                  <a:lnTo>
                    <a:pt x="0" y="1977903"/>
                  </a:lnTo>
                  <a:close/>
                </a:path>
              </a:pathLst>
            </a:custGeom>
            <a:gradFill rotWithShape="true">
              <a:gsLst>
                <a:gs pos="0">
                  <a:srgbClr val="2A7487">
                    <a:alpha val="100000"/>
                  </a:srgbClr>
                </a:gs>
                <a:gs pos="100000">
                  <a:srgbClr val="ECB835">
                    <a:alpha val="100000"/>
                  </a:srgbClr>
                </a:gs>
              </a:gsLst>
              <a:lin ang="2700000"/>
            </a:gradFill>
          </p:spPr>
        </p:sp>
        <p:sp>
          <p:nvSpPr>
            <p:cNvPr name="TextBox 12" id="12"/>
            <p:cNvSpPr txBox="true"/>
            <p:nvPr/>
          </p:nvSpPr>
          <p:spPr>
            <a:xfrm>
              <a:off x="0" y="-38100"/>
              <a:ext cx="1090314" cy="2016003"/>
            </a:xfrm>
            <a:prstGeom prst="rect">
              <a:avLst/>
            </a:prstGeom>
          </p:spPr>
          <p:txBody>
            <a:bodyPr anchor="ctr" rtlCol="false" tIns="50800" lIns="50800" bIns="50800" rIns="50800"/>
            <a:lstStyle/>
            <a:p>
              <a:pPr algn="ctr">
                <a:lnSpc>
                  <a:spcPts val="3368"/>
                </a:lnSpc>
              </a:pPr>
            </a:p>
          </p:txBody>
        </p:sp>
      </p:grpSp>
      <p:sp>
        <p:nvSpPr>
          <p:cNvPr name="Freeform 13" id="13"/>
          <p:cNvSpPr/>
          <p:nvPr/>
        </p:nvSpPr>
        <p:spPr>
          <a:xfrm flipH="false" flipV="false" rot="0">
            <a:off x="16292575" y="1028700"/>
            <a:ext cx="966725" cy="654956"/>
          </a:xfrm>
          <a:custGeom>
            <a:avLst/>
            <a:gdLst/>
            <a:ahLst/>
            <a:cxnLst/>
            <a:rect r="r" b="b" t="t" l="l"/>
            <a:pathLst>
              <a:path h="654956" w="966725">
                <a:moveTo>
                  <a:pt x="0" y="0"/>
                </a:moveTo>
                <a:lnTo>
                  <a:pt x="966725" y="0"/>
                </a:lnTo>
                <a:lnTo>
                  <a:pt x="966725" y="654956"/>
                </a:lnTo>
                <a:lnTo>
                  <a:pt x="0" y="6549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5603366" y="876300"/>
            <a:ext cx="7081268" cy="1359997"/>
          </a:xfrm>
          <a:prstGeom prst="rect">
            <a:avLst/>
          </a:prstGeom>
        </p:spPr>
        <p:txBody>
          <a:bodyPr anchor="t" rtlCol="false" tIns="0" lIns="0" bIns="0" rIns="0">
            <a:spAutoFit/>
          </a:bodyPr>
          <a:lstStyle/>
          <a:p>
            <a:pPr algn="ctr">
              <a:lnSpc>
                <a:spcPts val="11139"/>
              </a:lnSpc>
              <a:spcBef>
                <a:spcPct val="0"/>
              </a:spcBef>
            </a:pPr>
            <a:r>
              <a:rPr lang="en-US" b="true" sz="7956">
                <a:solidFill>
                  <a:srgbClr val="FFFFFF"/>
                </a:solidFill>
                <a:latin typeface="Open Sauce Bold"/>
                <a:ea typeface="Open Sauce Bold"/>
                <a:cs typeface="Open Sauce Bold"/>
                <a:sym typeface="Open Sauce Bold"/>
              </a:rPr>
              <a:t>FYP - 1 Goals</a:t>
            </a:r>
          </a:p>
        </p:txBody>
      </p:sp>
      <p:sp>
        <p:nvSpPr>
          <p:cNvPr name="TextBox 15" id="15"/>
          <p:cNvSpPr txBox="true"/>
          <p:nvPr/>
        </p:nvSpPr>
        <p:spPr>
          <a:xfrm rot="0">
            <a:off x="2695520" y="5602934"/>
            <a:ext cx="3507463" cy="4216400"/>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FFFFFF"/>
                </a:solidFill>
                <a:latin typeface="Open Sauce"/>
                <a:ea typeface="Open Sauce"/>
                <a:cs typeface="Open Sauce"/>
                <a:sym typeface="Open Sauce"/>
              </a:rPr>
              <a:t>C</a:t>
            </a:r>
            <a:r>
              <a:rPr lang="en-US" sz="1999">
                <a:solidFill>
                  <a:srgbClr val="FFFFFF"/>
                </a:solidFill>
                <a:latin typeface="Open Sauce"/>
                <a:ea typeface="Open Sauce"/>
                <a:cs typeface="Open Sauce"/>
                <a:sym typeface="Open Sauce"/>
              </a:rPr>
              <a:t>reate 9 new original recordings per label (3 per person) for all 104 labels in varied settings for richer, more representative data.</a:t>
            </a:r>
          </a:p>
          <a:p>
            <a:pPr algn="l" marL="431797" indent="-215899" lvl="1">
              <a:lnSpc>
                <a:spcPts val="2799"/>
              </a:lnSpc>
              <a:buFont typeface="Arial"/>
              <a:buChar char="•"/>
            </a:pPr>
            <a:r>
              <a:rPr lang="en-US" sz="1999">
                <a:solidFill>
                  <a:srgbClr val="FFFFFF"/>
                </a:solidFill>
                <a:latin typeface="Open Sauce"/>
                <a:ea typeface="Open Sauce"/>
                <a:cs typeface="Open Sauce"/>
                <a:sym typeface="Open Sauce"/>
              </a:rPr>
              <a:t>Total new videos to shoot = 936 vids.</a:t>
            </a:r>
          </a:p>
          <a:p>
            <a:pPr algn="l" marL="431797" indent="-215899" lvl="1">
              <a:lnSpc>
                <a:spcPts val="2799"/>
              </a:lnSpc>
              <a:buFont typeface="Arial"/>
              <a:buChar char="•"/>
            </a:pPr>
            <a:r>
              <a:rPr lang="en-US" sz="1999">
                <a:solidFill>
                  <a:srgbClr val="FFFFFF"/>
                </a:solidFill>
                <a:latin typeface="Open Sauce"/>
                <a:ea typeface="Open Sauce"/>
                <a:cs typeface="Open Sauce"/>
                <a:sym typeface="Open Sauce"/>
              </a:rPr>
              <a:t>Apply frame-label augmentation to new videos to extend dataset to 97 videos/label.</a:t>
            </a:r>
          </a:p>
        </p:txBody>
      </p:sp>
      <p:sp>
        <p:nvSpPr>
          <p:cNvPr name="TextBox 16" id="16"/>
          <p:cNvSpPr txBox="true"/>
          <p:nvPr/>
        </p:nvSpPr>
        <p:spPr>
          <a:xfrm rot="0">
            <a:off x="2775505" y="4408494"/>
            <a:ext cx="3347493" cy="994416"/>
          </a:xfrm>
          <a:prstGeom prst="rect">
            <a:avLst/>
          </a:prstGeom>
        </p:spPr>
        <p:txBody>
          <a:bodyPr anchor="t" rtlCol="false" tIns="0" lIns="0" bIns="0" rIns="0">
            <a:spAutoFit/>
          </a:bodyPr>
          <a:lstStyle/>
          <a:p>
            <a:pPr algn="l">
              <a:lnSpc>
                <a:spcPts val="3989"/>
              </a:lnSpc>
              <a:spcBef>
                <a:spcPct val="0"/>
              </a:spcBef>
            </a:pPr>
            <a:r>
              <a:rPr lang="en-US" sz="2849" b="true">
                <a:solidFill>
                  <a:srgbClr val="FFFFFF"/>
                </a:solidFill>
                <a:latin typeface="Open Sauce Bold"/>
                <a:ea typeface="Open Sauce Bold"/>
                <a:cs typeface="Open Sauce Bold"/>
                <a:sym typeface="Open Sauce Bold"/>
              </a:rPr>
              <a:t>Expand &amp; Diversify Datase</a:t>
            </a:r>
            <a:r>
              <a:rPr lang="en-US" b="true" sz="2849">
                <a:solidFill>
                  <a:srgbClr val="FFFFFF"/>
                </a:solidFill>
                <a:latin typeface="Open Sauce Bold"/>
                <a:ea typeface="Open Sauce Bold"/>
                <a:cs typeface="Open Sauce Bold"/>
                <a:sym typeface="Open Sauce Bold"/>
              </a:rPr>
              <a:t>t</a:t>
            </a:r>
          </a:p>
        </p:txBody>
      </p:sp>
      <p:sp>
        <p:nvSpPr>
          <p:cNvPr name="TextBox 17" id="17"/>
          <p:cNvSpPr txBox="true"/>
          <p:nvPr/>
        </p:nvSpPr>
        <p:spPr>
          <a:xfrm rot="0">
            <a:off x="2775505" y="2920242"/>
            <a:ext cx="1867403" cy="1305202"/>
          </a:xfrm>
          <a:prstGeom prst="rect">
            <a:avLst/>
          </a:prstGeom>
        </p:spPr>
        <p:txBody>
          <a:bodyPr anchor="t" rtlCol="false" tIns="0" lIns="0" bIns="0" rIns="0">
            <a:spAutoFit/>
          </a:bodyPr>
          <a:lstStyle/>
          <a:p>
            <a:pPr algn="l">
              <a:lnSpc>
                <a:spcPts val="10888"/>
              </a:lnSpc>
              <a:spcBef>
                <a:spcPct val="0"/>
              </a:spcBef>
            </a:pPr>
            <a:r>
              <a:rPr lang="en-US" sz="7777" b="true">
                <a:solidFill>
                  <a:srgbClr val="FFFFFF"/>
                </a:solidFill>
                <a:latin typeface="Open Sauce Bold"/>
                <a:ea typeface="Open Sauce Bold"/>
                <a:cs typeface="Open Sauce Bold"/>
                <a:sym typeface="Open Sauce Bold"/>
              </a:rPr>
              <a:t>01</a:t>
            </a:r>
          </a:p>
        </p:txBody>
      </p:sp>
      <p:sp>
        <p:nvSpPr>
          <p:cNvPr name="TextBox 18" id="18"/>
          <p:cNvSpPr txBox="true"/>
          <p:nvPr/>
        </p:nvSpPr>
        <p:spPr>
          <a:xfrm rot="0">
            <a:off x="7532862" y="2920242"/>
            <a:ext cx="1867403" cy="1305202"/>
          </a:xfrm>
          <a:prstGeom prst="rect">
            <a:avLst/>
          </a:prstGeom>
        </p:spPr>
        <p:txBody>
          <a:bodyPr anchor="t" rtlCol="false" tIns="0" lIns="0" bIns="0" rIns="0">
            <a:spAutoFit/>
          </a:bodyPr>
          <a:lstStyle/>
          <a:p>
            <a:pPr algn="l">
              <a:lnSpc>
                <a:spcPts val="10888"/>
              </a:lnSpc>
              <a:spcBef>
                <a:spcPct val="0"/>
              </a:spcBef>
            </a:pPr>
            <a:r>
              <a:rPr lang="en-US" sz="7777" b="true">
                <a:solidFill>
                  <a:srgbClr val="FFFFFF"/>
                </a:solidFill>
                <a:latin typeface="Open Sauce Bold"/>
                <a:ea typeface="Open Sauce Bold"/>
                <a:cs typeface="Open Sauce Bold"/>
                <a:sym typeface="Open Sauce Bold"/>
              </a:rPr>
              <a:t>02</a:t>
            </a:r>
          </a:p>
        </p:txBody>
      </p:sp>
      <p:sp>
        <p:nvSpPr>
          <p:cNvPr name="TextBox 19" id="19"/>
          <p:cNvSpPr txBox="true"/>
          <p:nvPr/>
        </p:nvSpPr>
        <p:spPr>
          <a:xfrm rot="0">
            <a:off x="7390268" y="4408494"/>
            <a:ext cx="4142927" cy="994416"/>
          </a:xfrm>
          <a:prstGeom prst="rect">
            <a:avLst/>
          </a:prstGeom>
        </p:spPr>
        <p:txBody>
          <a:bodyPr anchor="t" rtlCol="false" tIns="0" lIns="0" bIns="0" rIns="0">
            <a:spAutoFit/>
          </a:bodyPr>
          <a:lstStyle/>
          <a:p>
            <a:pPr algn="l">
              <a:lnSpc>
                <a:spcPts val="3989"/>
              </a:lnSpc>
              <a:spcBef>
                <a:spcPct val="0"/>
              </a:spcBef>
            </a:pPr>
            <a:r>
              <a:rPr lang="en-US" sz="2849" b="true">
                <a:solidFill>
                  <a:srgbClr val="FFFFFF"/>
                </a:solidFill>
                <a:latin typeface="Open Sauce Bold"/>
                <a:ea typeface="Open Sauce Bold"/>
                <a:cs typeface="Open Sauce Bold"/>
                <a:sym typeface="Open Sauce Bold"/>
              </a:rPr>
              <a:t>Improve R</a:t>
            </a:r>
            <a:r>
              <a:rPr lang="en-US" b="true" sz="2849">
                <a:solidFill>
                  <a:srgbClr val="FFFFFF"/>
                </a:solidFill>
                <a:latin typeface="Open Sauce Bold"/>
                <a:ea typeface="Open Sauce Bold"/>
                <a:cs typeface="Open Sauce Bold"/>
                <a:sym typeface="Open Sauce Bold"/>
              </a:rPr>
              <a:t>ecognition Accuracy</a:t>
            </a:r>
          </a:p>
        </p:txBody>
      </p:sp>
      <p:sp>
        <p:nvSpPr>
          <p:cNvPr name="TextBox 20" id="20"/>
          <p:cNvSpPr txBox="true"/>
          <p:nvPr/>
        </p:nvSpPr>
        <p:spPr>
          <a:xfrm rot="0">
            <a:off x="12066596" y="4407456"/>
            <a:ext cx="3921489" cy="994416"/>
          </a:xfrm>
          <a:prstGeom prst="rect">
            <a:avLst/>
          </a:prstGeom>
        </p:spPr>
        <p:txBody>
          <a:bodyPr anchor="t" rtlCol="false" tIns="0" lIns="0" bIns="0" rIns="0">
            <a:spAutoFit/>
          </a:bodyPr>
          <a:lstStyle/>
          <a:p>
            <a:pPr algn="l">
              <a:lnSpc>
                <a:spcPts val="3989"/>
              </a:lnSpc>
              <a:spcBef>
                <a:spcPct val="0"/>
              </a:spcBef>
            </a:pPr>
            <a:r>
              <a:rPr lang="en-US" sz="2849" b="true">
                <a:solidFill>
                  <a:srgbClr val="FFFFFF"/>
                </a:solidFill>
                <a:latin typeface="Open Sauce Bold"/>
                <a:ea typeface="Open Sauce Bold"/>
                <a:cs typeface="Open Sauce Bold"/>
                <a:sym typeface="Open Sauce Bold"/>
              </a:rPr>
              <a:t>Sentence-Level Translation - (FYP-2)</a:t>
            </a:r>
          </a:p>
        </p:txBody>
      </p:sp>
      <p:sp>
        <p:nvSpPr>
          <p:cNvPr name="TextBox 21" id="21"/>
          <p:cNvSpPr txBox="true"/>
          <p:nvPr/>
        </p:nvSpPr>
        <p:spPr>
          <a:xfrm rot="0">
            <a:off x="12214018" y="2920242"/>
            <a:ext cx="1867403" cy="1305202"/>
          </a:xfrm>
          <a:prstGeom prst="rect">
            <a:avLst/>
          </a:prstGeom>
        </p:spPr>
        <p:txBody>
          <a:bodyPr anchor="t" rtlCol="false" tIns="0" lIns="0" bIns="0" rIns="0">
            <a:spAutoFit/>
          </a:bodyPr>
          <a:lstStyle/>
          <a:p>
            <a:pPr algn="l">
              <a:lnSpc>
                <a:spcPts val="10888"/>
              </a:lnSpc>
              <a:spcBef>
                <a:spcPct val="0"/>
              </a:spcBef>
            </a:pPr>
            <a:r>
              <a:rPr lang="en-US" sz="7777" b="true">
                <a:solidFill>
                  <a:srgbClr val="FFFFFF"/>
                </a:solidFill>
                <a:latin typeface="Open Sauce Bold"/>
                <a:ea typeface="Open Sauce Bold"/>
                <a:cs typeface="Open Sauce Bold"/>
                <a:sym typeface="Open Sauce Bold"/>
              </a:rPr>
              <a:t>03</a:t>
            </a:r>
          </a:p>
        </p:txBody>
      </p:sp>
      <p:sp>
        <p:nvSpPr>
          <p:cNvPr name="TextBox 22" id="22"/>
          <p:cNvSpPr txBox="true"/>
          <p:nvPr/>
        </p:nvSpPr>
        <p:spPr>
          <a:xfrm rot="0">
            <a:off x="7390268" y="5602934"/>
            <a:ext cx="3507463" cy="4568825"/>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FFFFFF"/>
                </a:solidFill>
                <a:latin typeface="Open Sauce"/>
                <a:ea typeface="Open Sauce"/>
                <a:cs typeface="Open Sauce"/>
                <a:sym typeface="Open Sauce"/>
              </a:rPr>
              <a:t>R</a:t>
            </a:r>
            <a:r>
              <a:rPr lang="en-US" sz="1999">
                <a:solidFill>
                  <a:srgbClr val="FFFFFF"/>
                </a:solidFill>
                <a:latin typeface="Open Sauce"/>
                <a:ea typeface="Open Sauce"/>
                <a:cs typeface="Open Sauce"/>
                <a:sym typeface="Open Sauce"/>
              </a:rPr>
              <a:t>e-train, validate and benchmark all three models on expanded data and report scaling curves.</a:t>
            </a:r>
          </a:p>
          <a:p>
            <a:pPr algn="l" marL="431797" indent="-215899" lvl="1">
              <a:lnSpc>
                <a:spcPts val="2799"/>
              </a:lnSpc>
              <a:buFont typeface="Arial"/>
              <a:buChar char="•"/>
            </a:pPr>
            <a:r>
              <a:rPr lang="en-US" sz="1999">
                <a:solidFill>
                  <a:srgbClr val="FFFFFF"/>
                </a:solidFill>
                <a:latin typeface="Open Sauce"/>
                <a:ea typeface="Open Sauce"/>
                <a:cs typeface="Open Sauce"/>
                <a:sym typeface="Open Sauce"/>
              </a:rPr>
              <a:t>If scaling alone is insufficient to increase accuracies then, refine /design and test improved model families.</a:t>
            </a:r>
          </a:p>
          <a:p>
            <a:pPr algn="l" marL="431797" indent="-215899" lvl="1">
              <a:lnSpc>
                <a:spcPts val="2799"/>
              </a:lnSpc>
              <a:buFont typeface="Arial"/>
              <a:buChar char="•"/>
            </a:pPr>
            <a:r>
              <a:rPr lang="en-US" sz="1999">
                <a:solidFill>
                  <a:srgbClr val="FFFFFF"/>
                </a:solidFill>
                <a:latin typeface="Open Sauce"/>
                <a:ea typeface="Open Sauce"/>
                <a:cs typeface="Open Sauce"/>
                <a:sym typeface="Open Sauce"/>
              </a:rPr>
              <a:t>Build a modular inference pipeline for live demo.</a:t>
            </a:r>
          </a:p>
        </p:txBody>
      </p:sp>
      <p:sp>
        <p:nvSpPr>
          <p:cNvPr name="TextBox 23" id="23"/>
          <p:cNvSpPr txBox="true"/>
          <p:nvPr/>
        </p:nvSpPr>
        <p:spPr>
          <a:xfrm rot="0">
            <a:off x="12068143" y="5593409"/>
            <a:ext cx="3507463" cy="2389506"/>
          </a:xfrm>
          <a:prstGeom prst="rect">
            <a:avLst/>
          </a:prstGeom>
        </p:spPr>
        <p:txBody>
          <a:bodyPr anchor="t" rtlCol="false" tIns="0" lIns="0" bIns="0" rIns="0">
            <a:spAutoFit/>
          </a:bodyPr>
          <a:lstStyle/>
          <a:p>
            <a:pPr algn="l" marL="496566" indent="-248283" lvl="1">
              <a:lnSpc>
                <a:spcPts val="3219"/>
              </a:lnSpc>
              <a:buFont typeface="Arial"/>
              <a:buChar char="•"/>
            </a:pPr>
            <a:r>
              <a:rPr lang="en-US" sz="2299">
                <a:solidFill>
                  <a:srgbClr val="FFFFFF"/>
                </a:solidFill>
                <a:latin typeface="Open Sauce"/>
                <a:ea typeface="Open Sauce"/>
                <a:cs typeface="Open Sauce"/>
                <a:sym typeface="Open Sauce"/>
              </a:rPr>
              <a:t>L</a:t>
            </a:r>
            <a:r>
              <a:rPr lang="en-US" sz="2299">
                <a:solidFill>
                  <a:srgbClr val="FFFFFF"/>
                </a:solidFill>
                <a:latin typeface="Open Sauce"/>
                <a:ea typeface="Open Sauce"/>
                <a:cs typeface="Open Sauce"/>
                <a:sym typeface="Open Sauce"/>
              </a:rPr>
              <a:t>ay groundwork for basic word sequence composition aligned with Urdu grammar (FYP-2).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73737">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0">
            <a:off x="-1217285" y="-1574030"/>
            <a:ext cx="20327065" cy="16464922"/>
          </a:xfrm>
          <a:custGeom>
            <a:avLst/>
            <a:gdLst/>
            <a:ahLst/>
            <a:cxnLst/>
            <a:rect r="r" b="b" t="t" l="l"/>
            <a:pathLst>
              <a:path h="16464922" w="20327065">
                <a:moveTo>
                  <a:pt x="0" y="16464922"/>
                </a:moveTo>
                <a:lnTo>
                  <a:pt x="20327065" y="16464922"/>
                </a:lnTo>
                <a:lnTo>
                  <a:pt x="20327065" y="0"/>
                </a:lnTo>
                <a:lnTo>
                  <a:pt x="0" y="0"/>
                </a:lnTo>
                <a:lnTo>
                  <a:pt x="0" y="16464922"/>
                </a:lnTo>
                <a:close/>
              </a:path>
            </a:pathLst>
          </a:custGeom>
          <a:blipFill>
            <a:blip r:embed="rId2">
              <a:alphaModFix amt="6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4520" y="2246791"/>
            <a:ext cx="16997599" cy="7011509"/>
          </a:xfrm>
          <a:custGeom>
            <a:avLst/>
            <a:gdLst/>
            <a:ahLst/>
            <a:cxnLst/>
            <a:rect r="r" b="b" t="t" l="l"/>
            <a:pathLst>
              <a:path h="7011509" w="16997599">
                <a:moveTo>
                  <a:pt x="0" y="0"/>
                </a:moveTo>
                <a:lnTo>
                  <a:pt x="16997599" y="0"/>
                </a:lnTo>
                <a:lnTo>
                  <a:pt x="16997599" y="7011509"/>
                </a:lnTo>
                <a:lnTo>
                  <a:pt x="0" y="7011509"/>
                </a:lnTo>
                <a:lnTo>
                  <a:pt x="0" y="0"/>
                </a:lnTo>
                <a:close/>
              </a:path>
            </a:pathLst>
          </a:custGeom>
          <a:blipFill>
            <a:blip r:embed="rId4"/>
            <a:stretch>
              <a:fillRect l="0" t="0" r="0" b="0"/>
            </a:stretch>
          </a:blipFill>
        </p:spPr>
      </p:sp>
      <p:sp>
        <p:nvSpPr>
          <p:cNvPr name="TextBox 4" id="4"/>
          <p:cNvSpPr txBox="true"/>
          <p:nvPr/>
        </p:nvSpPr>
        <p:spPr>
          <a:xfrm rot="0">
            <a:off x="4536766" y="700405"/>
            <a:ext cx="9573107" cy="751840"/>
          </a:xfrm>
          <a:prstGeom prst="rect">
            <a:avLst/>
          </a:prstGeom>
        </p:spPr>
        <p:txBody>
          <a:bodyPr anchor="t" rtlCol="false" tIns="0" lIns="0" bIns="0" rIns="0">
            <a:spAutoFit/>
          </a:bodyPr>
          <a:lstStyle/>
          <a:p>
            <a:pPr algn="l">
              <a:lnSpc>
                <a:spcPts val="5600"/>
              </a:lnSpc>
            </a:pPr>
            <a:r>
              <a:rPr lang="en-US" sz="5600" b="true">
                <a:solidFill>
                  <a:srgbClr val="FFFFFF"/>
                </a:solidFill>
                <a:latin typeface="Open Sauce Semi-Bold"/>
                <a:ea typeface="Open Sauce Semi-Bold"/>
                <a:cs typeface="Open Sauce Semi-Bold"/>
                <a:sym typeface="Open Sauce Semi-Bold"/>
              </a:rPr>
              <a:t>TIMELINE / GANTT CHART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83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0549491" y="0"/>
            <a:ext cx="8747129" cy="12495899"/>
          </a:xfrm>
          <a:custGeom>
            <a:avLst/>
            <a:gdLst/>
            <a:ahLst/>
            <a:cxnLst/>
            <a:rect r="r" b="b" t="t" l="l"/>
            <a:pathLst>
              <a:path h="12495899" w="8747129">
                <a:moveTo>
                  <a:pt x="8747130" y="0"/>
                </a:moveTo>
                <a:lnTo>
                  <a:pt x="0" y="0"/>
                </a:lnTo>
                <a:lnTo>
                  <a:pt x="0" y="12495899"/>
                </a:lnTo>
                <a:lnTo>
                  <a:pt x="8747130" y="12495899"/>
                </a:lnTo>
                <a:lnTo>
                  <a:pt x="87471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76300"/>
            <a:ext cx="13524719" cy="2769697"/>
          </a:xfrm>
          <a:prstGeom prst="rect">
            <a:avLst/>
          </a:prstGeom>
        </p:spPr>
        <p:txBody>
          <a:bodyPr anchor="t" rtlCol="false" tIns="0" lIns="0" bIns="0" rIns="0">
            <a:spAutoFit/>
          </a:bodyPr>
          <a:lstStyle/>
          <a:p>
            <a:pPr algn="l">
              <a:lnSpc>
                <a:spcPts val="11139"/>
              </a:lnSpc>
              <a:spcBef>
                <a:spcPct val="0"/>
              </a:spcBef>
            </a:pPr>
            <a:r>
              <a:rPr lang="en-US" sz="7956" b="true">
                <a:solidFill>
                  <a:srgbClr val="FFFFFF"/>
                </a:solidFill>
                <a:latin typeface="Open Sauce Bold"/>
                <a:ea typeface="Open Sauce Bold"/>
                <a:cs typeface="Open Sauce Bold"/>
                <a:sym typeface="Open Sauce Bold"/>
              </a:rPr>
              <a:t>Thank you for your time and attention.</a:t>
            </a:r>
          </a:p>
        </p:txBody>
      </p:sp>
      <p:sp>
        <p:nvSpPr>
          <p:cNvPr name="TextBox 4" id="4"/>
          <p:cNvSpPr txBox="true"/>
          <p:nvPr/>
        </p:nvSpPr>
        <p:spPr>
          <a:xfrm rot="0">
            <a:off x="1028700" y="4816418"/>
            <a:ext cx="12021591" cy="2164732"/>
          </a:xfrm>
          <a:prstGeom prst="rect">
            <a:avLst/>
          </a:prstGeom>
        </p:spPr>
        <p:txBody>
          <a:bodyPr anchor="t" rtlCol="false" tIns="0" lIns="0" bIns="0" rIns="0">
            <a:spAutoFit/>
          </a:bodyPr>
          <a:lstStyle/>
          <a:p>
            <a:pPr algn="l">
              <a:lnSpc>
                <a:spcPts val="3433"/>
              </a:lnSpc>
              <a:spcBef>
                <a:spcPct val="0"/>
              </a:spcBef>
            </a:pPr>
            <a:r>
              <a:rPr lang="en-US" sz="2452">
                <a:solidFill>
                  <a:srgbClr val="D5D5D5"/>
                </a:solidFill>
                <a:latin typeface="Open Sauce"/>
                <a:ea typeface="Open Sauce"/>
                <a:cs typeface="Open Sauce"/>
                <a:sym typeface="Open Sauce"/>
              </a:rPr>
              <a:t>W</a:t>
            </a:r>
            <a:r>
              <a:rPr lang="en-US" sz="2452">
                <a:solidFill>
                  <a:srgbClr val="D5D5D5"/>
                </a:solidFill>
                <a:latin typeface="Open Sauce"/>
                <a:ea typeface="Open Sauce"/>
                <a:cs typeface="Open Sauce"/>
                <a:sym typeface="Open Sauce"/>
              </a:rPr>
              <a:t>e sincerely thank you for your time and consideration. We hope you liked our FYP idea. If you have any questions, confusions, or suggestions, please feel free to share them with us. We will sur</a:t>
            </a:r>
            <a:r>
              <a:rPr lang="en-US" sz="2452">
                <a:solidFill>
                  <a:srgbClr val="D5D5D5"/>
                </a:solidFill>
                <a:latin typeface="Open Sauce"/>
                <a:ea typeface="Open Sauce"/>
                <a:cs typeface="Open Sauce"/>
                <a:sym typeface="Open Sauce"/>
              </a:rPr>
              <a:t>ely discuss them with our supervisor and carefully consider adding them to our plan. We are truly grateful for your guidance and feedback.</a:t>
            </a:r>
          </a:p>
        </p:txBody>
      </p:sp>
      <p:grpSp>
        <p:nvGrpSpPr>
          <p:cNvPr name="Group 5" id="5"/>
          <p:cNvGrpSpPr/>
          <p:nvPr/>
        </p:nvGrpSpPr>
        <p:grpSpPr>
          <a:xfrm rot="0">
            <a:off x="1028700" y="7707499"/>
            <a:ext cx="10383229" cy="2140481"/>
            <a:chOff x="0" y="0"/>
            <a:chExt cx="2734678" cy="563748"/>
          </a:xfrm>
        </p:grpSpPr>
        <p:sp>
          <p:nvSpPr>
            <p:cNvPr name="Freeform 6" id="6"/>
            <p:cNvSpPr/>
            <p:nvPr/>
          </p:nvSpPr>
          <p:spPr>
            <a:xfrm flipH="false" flipV="false" rot="0">
              <a:off x="0" y="0"/>
              <a:ext cx="2734677" cy="563748"/>
            </a:xfrm>
            <a:custGeom>
              <a:avLst/>
              <a:gdLst/>
              <a:ahLst/>
              <a:cxnLst/>
              <a:rect r="r" b="b" t="t" l="l"/>
              <a:pathLst>
                <a:path h="563748" w="2734677">
                  <a:moveTo>
                    <a:pt x="0" y="0"/>
                  </a:moveTo>
                  <a:lnTo>
                    <a:pt x="2734677" y="0"/>
                  </a:lnTo>
                  <a:lnTo>
                    <a:pt x="2734677" y="563748"/>
                  </a:lnTo>
                  <a:lnTo>
                    <a:pt x="0" y="563748"/>
                  </a:lnTo>
                  <a:close/>
                </a:path>
              </a:pathLst>
            </a:custGeom>
            <a:gradFill rotWithShape="true">
              <a:gsLst>
                <a:gs pos="0">
                  <a:srgbClr val="2A7487">
                    <a:alpha val="100000"/>
                  </a:srgbClr>
                </a:gs>
                <a:gs pos="100000">
                  <a:srgbClr val="ECB835">
                    <a:alpha val="100000"/>
                  </a:srgbClr>
                </a:gs>
              </a:gsLst>
              <a:lin ang="2700000"/>
            </a:gradFill>
          </p:spPr>
        </p:sp>
        <p:sp>
          <p:nvSpPr>
            <p:cNvPr name="TextBox 7" id="7"/>
            <p:cNvSpPr txBox="true"/>
            <p:nvPr/>
          </p:nvSpPr>
          <p:spPr>
            <a:xfrm>
              <a:off x="0" y="-38100"/>
              <a:ext cx="2734678" cy="601848"/>
            </a:xfrm>
            <a:prstGeom prst="rect">
              <a:avLst/>
            </a:prstGeom>
          </p:spPr>
          <p:txBody>
            <a:bodyPr anchor="ctr" rtlCol="false" tIns="50800" lIns="50800" bIns="50800" rIns="50800"/>
            <a:lstStyle/>
            <a:p>
              <a:pPr algn="ctr">
                <a:lnSpc>
                  <a:spcPts val="3368"/>
                </a:lnSpc>
              </a:pPr>
            </a:p>
          </p:txBody>
        </p:sp>
      </p:grpSp>
      <p:sp>
        <p:nvSpPr>
          <p:cNvPr name="TextBox 8" id="8"/>
          <p:cNvSpPr txBox="true"/>
          <p:nvPr/>
        </p:nvSpPr>
        <p:spPr>
          <a:xfrm rot="0">
            <a:off x="1193247" y="7872236"/>
            <a:ext cx="10218682" cy="1699834"/>
          </a:xfrm>
          <a:prstGeom prst="rect">
            <a:avLst/>
          </a:prstGeom>
        </p:spPr>
        <p:txBody>
          <a:bodyPr anchor="t" rtlCol="false" tIns="0" lIns="0" bIns="0" rIns="0">
            <a:spAutoFit/>
          </a:bodyPr>
          <a:lstStyle/>
          <a:p>
            <a:pPr algn="l">
              <a:lnSpc>
                <a:spcPts val="3433"/>
              </a:lnSpc>
            </a:pPr>
            <a:r>
              <a:rPr lang="en-US" sz="2452" b="true">
                <a:solidFill>
                  <a:srgbClr val="FFFFFF"/>
                </a:solidFill>
                <a:latin typeface="Open Sauce Semi-Bold"/>
                <a:ea typeface="Open Sauce Semi-Bold"/>
                <a:cs typeface="Open Sauce Semi-Bold"/>
                <a:sym typeface="Open Sauce Semi-Bold"/>
              </a:rPr>
              <a:t>Supervised by: Dr. Anam Qureshi</a:t>
            </a:r>
          </a:p>
          <a:p>
            <a:pPr algn="l">
              <a:lnSpc>
                <a:spcPts val="3433"/>
              </a:lnSpc>
            </a:pPr>
            <a:r>
              <a:rPr lang="en-US" sz="2452" b="true">
                <a:solidFill>
                  <a:srgbClr val="FFFFFF"/>
                </a:solidFill>
                <a:latin typeface="Open Sauce Semi-Bold"/>
                <a:ea typeface="Open Sauce Semi-Bold"/>
                <a:cs typeface="Open Sauce Semi-Bold"/>
                <a:sym typeface="Open Sauce Semi-Bold"/>
              </a:rPr>
              <a:t>Zain Baig, Aarij Ali, Abdul Rehman Khan</a:t>
            </a:r>
          </a:p>
          <a:p>
            <a:pPr algn="l">
              <a:lnSpc>
                <a:spcPts val="3433"/>
              </a:lnSpc>
              <a:spcBef>
                <a:spcPct val="0"/>
              </a:spcBef>
            </a:pPr>
            <a:r>
              <a:rPr lang="en-US" b="true" sz="2452">
                <a:solidFill>
                  <a:srgbClr val="FFFFFF"/>
                </a:solidFill>
                <a:latin typeface="Open Sauce Semi-Bold"/>
                <a:ea typeface="Open Sauce Semi-Bold"/>
                <a:cs typeface="Open Sauce Semi-Bold"/>
                <a:sym typeface="Open Sauce Semi-Bold"/>
              </a:rPr>
              <a:t>National University of Computer and Emerging Sciences (FAST), Karachi Campus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DAGztfJgwvg</dc:identifier>
  <dcterms:modified xsi:type="dcterms:W3CDTF">2011-08-01T06:04:30Z</dcterms:modified>
  <cp:revision>1</cp:revision>
  <dc:title>FYP-1 Defense Presentation</dc:title>
</cp:coreProperties>
</file>