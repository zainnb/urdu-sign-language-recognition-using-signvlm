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8229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PSL Recognizer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Communication through AI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0" y="2468880"/>
            <a:ext cx="3657600" cy="457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7432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FYP-II Progress Presentation  ·  Project Code: F25-115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Zain Baig (22K-4593)   ·   Abdur Rehman (22K-4155)   ·   Aarij Ali (22K-4264)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Miss Anum Qureshi   ·   Co-Supervisor: Virkha Kumari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2976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4206240" cy="566928"/>
          </a:xfrm>
          <a:prstGeom prst="rect">
            <a:avLst/>
          </a:prstGeom>
          <a:solidFill>
            <a:srgbClr val="E8F4F8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188720"/>
            <a:ext cx="64008" cy="56692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26187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280160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901952"/>
            <a:ext cx="4206240" cy="566928"/>
          </a:xfrm>
          <a:prstGeom prst="rect">
            <a:avLst/>
          </a:prstGeom>
          <a:solidFill>
            <a:srgbClr val="E8F4F8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901952"/>
            <a:ext cx="64008" cy="56692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1975104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1993392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Signer-Disjoint Split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2615184"/>
            <a:ext cx="4206240" cy="566928"/>
          </a:xfrm>
          <a:prstGeom prst="rect">
            <a:avLst/>
          </a:prstGeom>
          <a:solidFill>
            <a:srgbClr val="E8F4F8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2615184"/>
            <a:ext cx="64008" cy="56692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2688336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2706624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ROI Extraction Pipeline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3328416"/>
            <a:ext cx="4206240" cy="566928"/>
          </a:xfrm>
          <a:prstGeom prst="rect">
            <a:avLst/>
          </a:prstGeom>
          <a:solidFill>
            <a:srgbClr val="E8F4F8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3328416"/>
            <a:ext cx="64008" cy="56692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" y="340156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3419856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Pre-Extraction &amp; Training Setup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11480" y="4041648"/>
            <a:ext cx="4206240" cy="566928"/>
          </a:xfrm>
          <a:prstGeom prst="rect">
            <a:avLst/>
          </a:prstGeom>
          <a:solidFill>
            <a:srgbClr val="E8F4F8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4041648"/>
            <a:ext cx="64008" cy="56692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" y="41148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4133088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3D-CNN + BiLSTM (from Scratch)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00600" y="1188720"/>
            <a:ext cx="4206240" cy="566928"/>
          </a:xfrm>
          <a:prstGeom prst="rect">
            <a:avLst/>
          </a:prstGeom>
          <a:solidFill>
            <a:srgbClr val="E8F4F8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1188720"/>
            <a:ext cx="64008" cy="56692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65192" y="126187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0" y="1280160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SignVLM: CLIP-Based Architecture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00600" y="1901952"/>
            <a:ext cx="4206240" cy="566928"/>
          </a:xfrm>
          <a:prstGeom prst="rect">
            <a:avLst/>
          </a:prstGeom>
          <a:solidFill>
            <a:srgbClr val="E8F4F8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0600" y="1901952"/>
            <a:ext cx="64008" cy="56692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65192" y="1975104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86400" y="1993392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Comparative Analysis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800600" y="2615184"/>
            <a:ext cx="4206240" cy="566928"/>
          </a:xfrm>
          <a:prstGeom prst="rect">
            <a:avLst/>
          </a:prstGeom>
          <a:solidFill>
            <a:srgbClr val="E8F4F8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0600" y="2615184"/>
            <a:ext cx="64008" cy="56692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65192" y="2688336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486400" y="2706624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Scratch Failed / Why SignVLM Succeeded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800600" y="3328416"/>
            <a:ext cx="4206240" cy="566928"/>
          </a:xfrm>
          <a:prstGeom prst="rect">
            <a:avLst/>
          </a:prstGeom>
          <a:solidFill>
            <a:srgbClr val="E8F4F8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00600" y="3328416"/>
            <a:ext cx="64008" cy="56692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65192" y="340156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486400" y="3419856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Pipeline &amp; Next Steps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3931920" cy="3474720"/>
          </a:xfrm>
          <a:prstGeom prst="rect">
            <a:avLst/>
          </a:prstGeom>
          <a:solidFill>
            <a:srgbClr val="E8F4F8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188720"/>
            <a:ext cx="64008" cy="34747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9844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55648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Pakistan's deaf community numbers over 1 million people, yet Pakistani Sign Language (PSL) remains severely underrepresented in automated recognition research.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publicly available, signer-independent PSL recognition system exists.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FYP-I established a 104-class PSL dataset and a hybrid 3D-CNN + BiLSTM baseline — achieving 83.89% accuracy, but only under signer-inclusive evaluation.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0" y="1188720"/>
            <a:ext cx="4160520" cy="3474720"/>
          </a:xfrm>
          <a:prstGeom prst="rect">
            <a:avLst/>
          </a:prstGeom>
          <a:solidFill>
            <a:srgbClr val="0D1B2A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29844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FYP-II Objectives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1810512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66360" y="181051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signer-disjoint evaluation (true generalization)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2340864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66360" y="2340864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MediaPipe hand ROI extraction to reduce noise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871216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66360" y="2871216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3D-CNN baseline under correct split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340156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66360" y="340156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SignVLM — CLIP-based low-resource architecture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393192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66360" y="393192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real-time inference pipeline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Structure &amp; Signer-Disjoint Splitting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1828800" cy="1097280"/>
          </a:xfrm>
          <a:prstGeom prst="rect">
            <a:avLst/>
          </a:prstGeom>
          <a:solidFill>
            <a:srgbClr val="0D1B2A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8872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" y="18288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PSL Classes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4600" y="1143000"/>
            <a:ext cx="1828800" cy="1097280"/>
          </a:xfrm>
          <a:prstGeom prst="rect">
            <a:avLst/>
          </a:prstGeom>
          <a:solidFill>
            <a:srgbClr val="0D1B2A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118872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1,976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514600" y="18288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Videos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1143000"/>
            <a:ext cx="1828800" cy="1097280"/>
          </a:xfrm>
          <a:prstGeom prst="rect">
            <a:avLst/>
          </a:prstGeom>
          <a:solidFill>
            <a:srgbClr val="0D1B2A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118872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617720" y="18288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20840" y="1143000"/>
            <a:ext cx="1828800" cy="1097280"/>
          </a:xfrm>
          <a:prstGeom prst="rect">
            <a:avLst/>
          </a:prstGeom>
          <a:solidFill>
            <a:srgbClr val="0D1B2A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118872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720840" y="18288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Protocol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24231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788920"/>
          <a:ext cx="5029200" cy="1920240"/>
        </p:xfrm>
        <a:graphic>
          <a:graphicData uri="http://schemas.openxmlformats.org/drawingml/2006/table">
            <a:tbl>
              <a:tblPr/>
              <a:tblGrid>
                <a:gridCol w="1257300"/>
                <a:gridCol w="1257300"/>
                <a:gridCol w="1257300"/>
                <a:gridCol w="12573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Videos/Class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train_data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validation_data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test_data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(exact)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5623560" y="2395728"/>
            <a:ext cx="3108960" cy="2331720"/>
          </a:xfrm>
          <a:prstGeom prst="rect">
            <a:avLst/>
          </a:prstGeom>
          <a:solidFill>
            <a:srgbClr val="E8F4F8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623560" y="2395728"/>
            <a:ext cx="64008" cy="23317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33872" y="249631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833872" y="2852928"/>
            <a:ext cx="27432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FYP-I used random splits — signer videos leaked into test set, artificially inflating accuracy. FYP-II enforces strict signer-disjoint (LOSO) evaluation, mirroring real-world conditions where the model sees new signers it has never trained on.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ROI Extraction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1234440" cy="914400"/>
          </a:xfrm>
          <a:prstGeom prst="rect">
            <a:avLst/>
          </a:prstGeom>
          <a:solidFill>
            <a:srgbClr val="0D1B2A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34440"/>
            <a:ext cx="1143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Video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(.mp4 / .mov)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527048" y="1481328"/>
            <a:ext cx="246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755648" y="1188720"/>
            <a:ext cx="1234440" cy="914400"/>
          </a:xfrm>
          <a:prstGeom prst="rect">
            <a:avLst/>
          </a:prstGeom>
          <a:solidFill>
            <a:srgbClr val="1B4F72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01368" y="1234440"/>
            <a:ext cx="1143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Detection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62656" y="1481328"/>
            <a:ext cx="246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191256" y="1188720"/>
            <a:ext cx="1234440" cy="914400"/>
          </a:xfrm>
          <a:prstGeom prst="rect">
            <a:avLst/>
          </a:prstGeom>
          <a:solidFill>
            <a:srgbClr val="0D1B2A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36976" y="1234440"/>
            <a:ext cx="1143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Padding ×1.3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98264" y="1481328"/>
            <a:ext cx="246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626864" y="1188720"/>
            <a:ext cx="1234440" cy="914400"/>
          </a:xfrm>
          <a:prstGeom prst="rect">
            <a:avLst/>
          </a:prstGeom>
          <a:solidFill>
            <a:srgbClr val="1B4F72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72584" y="1234440"/>
            <a:ext cx="1143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Union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+ R Hands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833872" y="1481328"/>
            <a:ext cx="246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062472" y="1188720"/>
            <a:ext cx="1234440" cy="914400"/>
          </a:xfrm>
          <a:prstGeom prst="rect">
            <a:avLst/>
          </a:prstGeom>
          <a:solidFill>
            <a:srgbClr val="0D1B2A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08192" y="1234440"/>
            <a:ext cx="1143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+ Resize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Fixed Res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269480" y="1481328"/>
            <a:ext cx="246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498080" y="1188720"/>
            <a:ext cx="1234440" cy="914400"/>
          </a:xfrm>
          <a:prstGeom prst="rect">
            <a:avLst/>
          </a:prstGeom>
          <a:solidFill>
            <a:srgbClr val="1B4F72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543800" y="1234440"/>
            <a:ext cx="1143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ROI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(_roi.mp4)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2331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Results — 100% Coverage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743200"/>
          <a:ext cx="5029200" cy="1783080"/>
        </p:xfrm>
        <a:graphic>
          <a:graphicData uri="http://schemas.openxmlformats.org/drawingml/2006/table">
            <a:tbl>
              <a:tblPr/>
              <a:tblGrid>
                <a:gridCol w="1257300"/>
                <a:gridCol w="1257300"/>
                <a:gridCol w="1257300"/>
                <a:gridCol w="12573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Videos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ROI Generated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5623560" y="2304288"/>
            <a:ext cx="3108960" cy="2450592"/>
          </a:xfrm>
          <a:prstGeom prst="rect">
            <a:avLst/>
          </a:prstGeom>
          <a:solidFill>
            <a:srgbClr val="E8F4F8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623560" y="2304288"/>
            <a:ext cx="64008" cy="245059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33872" y="240487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833872" y="28346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hands merged into one crop (two-handed signs)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5833872" y="32918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full frame when MediaPipe fails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5833872" y="37490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to .mov files (iOS recordings)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5833872" y="42062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 factor 1.3× for full finger capture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Pre-Extraction for Efficient Training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3931920" cy="1920240"/>
          </a:xfrm>
          <a:prstGeom prst="rect">
            <a:avLst/>
          </a:prstGeom>
          <a:solidFill>
            <a:srgbClr val="E8F4F8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188720"/>
            <a:ext cx="64008" cy="1920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29844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 Problem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1792" y="169164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H.264 video decoding during training caused data_time to dominate — exceeding GPU compute by 5–10×. GPU utilization sat at only ~30%.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1480" y="3246120"/>
            <a:ext cx="3931920" cy="1508760"/>
          </a:xfrm>
          <a:prstGeom prst="rect">
            <a:avLst/>
          </a:prstGeom>
          <a:solidFill>
            <a:srgbClr val="FEF3C7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3246120"/>
            <a:ext cx="64008" cy="15087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33375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Unicode Path Problem (Windows)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" y="3712464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cv2.VideoCapture() silently fails on Urdu/Arabic class names (ب، آ، ے). All Urdu-class videos were silently skipped. Fixed using PyAV (FFmpeg bindings) with proper UTF-8 path handling.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1143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After Pre-Extraction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0" y="1600200"/>
            <a:ext cx="4160520" cy="914400"/>
          </a:xfrm>
          <a:prstGeom prst="rect">
            <a:avLst/>
          </a:prstGeom>
          <a:solidFill>
            <a:srgbClr val="0D1B2A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9160" y="167335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data_time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09160" y="19476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~0.8s/batch  →  ~0.05s/batch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452360" y="192024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 faster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0" y="2697480"/>
            <a:ext cx="4160520" cy="914400"/>
          </a:xfrm>
          <a:prstGeom prst="rect">
            <a:avLst/>
          </a:prstGeom>
          <a:solidFill>
            <a:srgbClr val="0D1B2A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277063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Utilization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09160" y="304495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~30%  →  ~85–90%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452360" y="301752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+55 pts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0" y="3794760"/>
            <a:ext cx="4160520" cy="914400"/>
          </a:xfrm>
          <a:prstGeom prst="rect">
            <a:avLst/>
          </a:prstGeom>
          <a:solidFill>
            <a:srgbClr val="0D1B2A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09160" y="38679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Iter. Time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9160" y="414223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~5s/step  →  ~1.2s/step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452360" y="411480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faster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3D-CNN + Residual Blocks + BiLSTM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170432"/>
            <a:ext cx="2651760" cy="3520440"/>
          </a:xfrm>
          <a:prstGeom prst="rect">
            <a:avLst/>
          </a:prstGeom>
          <a:solidFill>
            <a:srgbClr val="0D1B2A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21208" y="1261872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3D-CNN Backbone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21208" y="182880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(B, 3, T, H, W)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21208" y="226771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Conv3D(3→32) + BN + ReLU + Pool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1208" y="2706624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Conv3D(32→64) + BN + ReLU + Pool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21208" y="3145536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Conv3D(64→128) + BN + ReLU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1208" y="358444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ResidualBlock(128) + Pool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1208" y="402336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(B, T', 128)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99232" y="265176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319272" y="1170432"/>
            <a:ext cx="2651760" cy="3520440"/>
          </a:xfrm>
          <a:prstGeom prst="rect">
            <a:avLst/>
          </a:prstGeom>
          <a:solidFill>
            <a:srgbClr val="1B4F72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29000" y="1261872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BiLSTM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429000" y="182880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(B, T', 128)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29000" y="226771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BiLSTM(128→256, 2 layers)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29000" y="2706624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Bidirectional: captures both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29000" y="3145536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&amp; backward context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29000" y="358444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timestep → (B, 512)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29000" y="402336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Dropout(0.3)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07024" y="265176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227064" y="1170432"/>
            <a:ext cx="2651760" cy="3520440"/>
          </a:xfrm>
          <a:prstGeom prst="rect">
            <a:avLst/>
          </a:prstGeom>
          <a:solidFill>
            <a:srgbClr val="2E86AB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36792" y="1261872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Classifier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336792" y="182880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(B, 512)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36792" y="226771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Linear(512 → 104)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36792" y="2706624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over 104 classes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36792" y="3145536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~2.5M total parameters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36792" y="358444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from scratch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36792" y="402336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initialization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11480" y="4818888"/>
            <a:ext cx="8321040" cy="868680"/>
          </a:xfrm>
          <a:prstGeom prst="rect">
            <a:avLst/>
          </a:prstGeom>
          <a:solidFill>
            <a:srgbClr val="E8F4F8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94360" y="489204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Config:  AdamW  ·  Cosine LR Schedule  ·  AMP (Mixed Precision)  ·  Label Smoothing  ·  Early Stopping  ·  WeightedRandomSampler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SignVLM: CLIP-Based Visual-Temporal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170432"/>
            <a:ext cx="5029200" cy="1115568"/>
          </a:xfrm>
          <a:prstGeom prst="rect">
            <a:avLst/>
          </a:prstGeom>
          <a:solidFill>
            <a:srgbClr val="0D1B2A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261872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ViT-L/14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(Frozen Encoder)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926080" y="1307592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on 400M image-text pairs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14×14 patch grid · 1024-dim features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286000" y="228600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1480" y="2468880"/>
            <a:ext cx="5029200" cy="1115568"/>
          </a:xfrm>
          <a:prstGeom prst="rect">
            <a:avLst/>
          </a:prstGeom>
          <a:solidFill>
            <a:srgbClr val="1B4F72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56032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EVL Temporal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26080" y="26060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temporal convolutions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Cross-frame attention · Parameter-efficient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286000" y="358444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11480" y="3767328"/>
            <a:ext cx="5029200" cy="1115568"/>
          </a:xfrm>
          <a:prstGeom prst="rect">
            <a:avLst/>
          </a:prstGeom>
          <a:solidFill>
            <a:srgbClr val="2E86AB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3858768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26080" y="3904488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104-class output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and Top-5 predictions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23560" y="1170432"/>
            <a:ext cx="3108960" cy="3520440"/>
          </a:xfrm>
          <a:prstGeom prst="rect">
            <a:avLst/>
          </a:prstGeom>
          <a:solidFill>
            <a:srgbClr val="E8F4F8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23560" y="1170432"/>
            <a:ext cx="64008" cy="35204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33872" y="126187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SignVLM for PSL?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833872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Low-Resource Design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833872" y="199339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explicitly for sign language tasks with limited training data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33872" y="2514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Visual Priors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833872" y="277063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already understands hands — no need to learn from scratch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33872" y="3291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Signer Invariance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833872" y="354787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Text-image alignment naturally abstracts away identity-specific appearance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33872" y="4069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Benchmarks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833872" y="432511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Outperforms RGB baselines on ASL, Arabic SL, LSA64, AUTSL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 &amp; Comparative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1965960" cy="1874520"/>
          </a:xfrm>
          <a:prstGeom prst="rect">
            <a:avLst/>
          </a:prstGeom>
          <a:solidFill>
            <a:srgbClr val="0F2942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23444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2.88%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210312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3D-CNN from Scratch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(Signer-Disjoint)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14600" y="1143000"/>
            <a:ext cx="1965960" cy="1874520"/>
          </a:xfrm>
          <a:prstGeom prst="rect">
            <a:avLst/>
          </a:prstGeom>
          <a:solidFill>
            <a:srgbClr val="0F2942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123444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60.26%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560320" y="210312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SignVLM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(Signer-Disjoint)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143000"/>
            <a:ext cx="1965960" cy="1874520"/>
          </a:xfrm>
          <a:prstGeom prst="rect">
            <a:avLst/>
          </a:prstGeom>
          <a:solidFill>
            <a:srgbClr val="0F2942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9160" y="123444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71.15%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709160" y="210312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SignVLM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(Signer-Disjoint)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12280" y="1143000"/>
            <a:ext cx="1965960" cy="1874520"/>
          </a:xfrm>
          <a:prstGeom prst="rect">
            <a:avLst/>
          </a:prstGeom>
          <a:solidFill>
            <a:srgbClr val="0F2942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0" y="123444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83.89%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858000" y="210312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FYP-I 3D-CNN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(Random Split)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154680"/>
            <a:ext cx="8366760" cy="777240"/>
          </a:xfrm>
          <a:prstGeom prst="rect">
            <a:avLst/>
          </a:prstGeom>
          <a:solidFill>
            <a:srgbClr val="0F2942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3227832"/>
            <a:ext cx="8001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104 classes · ~15 training clips/class · Evaluated on signers entirely unseen during training — a genuinely difficult low-resource benchmark.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65760" y="40690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Finding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" y="4434840"/>
            <a:ext cx="8366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English-alphabet classes: ~70–80% accuracy  ·  Urdu/Arabic classes: ~40–55%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CLIP's internet pretraining is better aligned with Western signing contexts — motivating targeted data collection for Urdu-script classes.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Scratch Models Failed: Root Cause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4114800" cy="1719072"/>
          </a:xfrm>
          <a:prstGeom prst="rect">
            <a:avLst/>
          </a:prstGeom>
          <a:solidFill>
            <a:srgbClr val="E8F4F8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188720"/>
            <a:ext cx="64008" cy="17190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801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24712" y="1280160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Catastrophic Data Scarcity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37490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videos/class vs. 600+/class for Kinetics-400. Our dataset is 40× smaller than the minimum viable condition for from-scratch 3D-CNN training.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114800" cy="1719072"/>
          </a:xfrm>
          <a:prstGeom prst="rect">
            <a:avLst/>
          </a:prstGeom>
          <a:solidFill>
            <a:srgbClr val="E8F4F8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64008" cy="17190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2801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68112" y="1280160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Inverted Parameter-to-Sample Ratio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737360"/>
            <a:ext cx="37490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~2.5M parameters · 1,560 training samples → ~1,600 params per example. Deep learning heuristics require ≥10 samples per parameter.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" y="3246120"/>
            <a:ext cx="4114800" cy="1719072"/>
          </a:xfrm>
          <a:prstGeom prst="rect">
            <a:avLst/>
          </a:prstGeom>
          <a:solidFill>
            <a:srgbClr val="E8F4F8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3246120"/>
            <a:ext cx="64008" cy="17190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3375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24712" y="3337560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Visual Priors for Hands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3794760"/>
            <a:ext cx="37490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pretraining, the model must simultaneously learn what hands look like AND how their motion maps to signs — from 15 examples.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54880" y="3246120"/>
            <a:ext cx="4114800" cy="1719072"/>
          </a:xfrm>
          <a:prstGeom prst="rect">
            <a:avLst/>
          </a:prstGeom>
          <a:solidFill>
            <a:srgbClr val="E8F4F8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246120"/>
            <a:ext cx="64008" cy="17190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3375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68112" y="3337560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Signer-Disjoint Split Removes the Safety Net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3794760"/>
            <a:ext cx="37490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FYP-I's random split let the model memorize signer-specific appearance. FYP-II's LOSO split removed this shortcut, revealing true representational capacity.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SignVLM Succeeded: Transfer Learning from Scale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4114800" cy="1691640"/>
          </a:xfrm>
          <a:prstGeom prst="rect">
            <a:avLst/>
          </a:prstGeom>
          <a:solidFill>
            <a:srgbClr val="0D1B2A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76072" y="12801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CLIP's Visual Prior Eliminates the Data Bottleneck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76072" y="173736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on 400M image-text pairs. Immediately produces rich 1024-dim hand embeddings. The EVL decoder only learns temporal patterns from PSL data — not visual representation from scratch.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4114800" cy="1691640"/>
          </a:xfrm>
          <a:prstGeom prst="rect">
            <a:avLst/>
          </a:prstGeom>
          <a:solidFill>
            <a:srgbClr val="1B4F72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19472" y="12801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EVL Temporal Decoder is Parameter-Efficient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919472" y="173736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temporal convolutions + cross-frame attention on top of a frozen backbone. Comparatively few new parameters — all trained from 1,560 samples without overfitting.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" y="3218688"/>
            <a:ext cx="4114800" cy="1691640"/>
          </a:xfrm>
          <a:prstGeom prst="rect">
            <a:avLst/>
          </a:prstGeom>
          <a:solidFill>
            <a:srgbClr val="2E86AB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31012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Representations are Signer-Agnostic by Design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76072" y="3767328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CLIP's image-text alignment objective produces identity-abstract features. A description like 'a hand making a gesture' applies regardless of who is signing it.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54880" y="3218688"/>
            <a:ext cx="4114800" cy="1691640"/>
          </a:xfrm>
          <a:prstGeom prst="rect">
            <a:avLst/>
          </a:prstGeom>
          <a:solidFill>
            <a:srgbClr val="2E7D32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19472" y="331012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on Multiple Benchmarks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19472" y="3767328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SignVLM outperforms pure RGB pipelines on ASL, Arabic SL, LSA64, and AUTSL. The performance gap is largest in low-data settings — exactly our scenario with ~15 samples/class.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Pipeline &amp; Real-Time Deployment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1170432"/>
            <a:ext cx="1097280" cy="1005840"/>
          </a:xfrm>
          <a:prstGeom prst="rect">
            <a:avLst/>
          </a:prstGeom>
          <a:solidFill>
            <a:srgbClr val="1B4F72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83464" y="1234440"/>
            <a:ext cx="10424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(30 fps)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335024" y="1508760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499616" y="1170432"/>
            <a:ext cx="1097280" cy="1005840"/>
          </a:xfrm>
          <a:prstGeom prst="rect">
            <a:avLst/>
          </a:prstGeom>
          <a:solidFill>
            <a:srgbClr val="1B4F72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527048" y="1234440"/>
            <a:ext cx="10424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(~2s)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578608" y="1508760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0" y="1170432"/>
            <a:ext cx="1097280" cy="1005840"/>
          </a:xfrm>
          <a:prstGeom prst="rect">
            <a:avLst/>
          </a:prstGeom>
          <a:solidFill>
            <a:srgbClr val="1B4F72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70632" y="1234440"/>
            <a:ext cx="10424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Detection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22192" y="1508760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986784" y="1170432"/>
            <a:ext cx="1097280" cy="1005840"/>
          </a:xfrm>
          <a:prstGeom prst="rect">
            <a:avLst/>
          </a:prstGeom>
          <a:solidFill>
            <a:srgbClr val="1B4F72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014216" y="1234440"/>
            <a:ext cx="10424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Frame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(16)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65776" y="1508760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230368" y="1170432"/>
            <a:ext cx="1097280" cy="1005840"/>
          </a:xfrm>
          <a:prstGeom prst="rect">
            <a:avLst/>
          </a:prstGeom>
          <a:solidFill>
            <a:srgbClr val="0D1B2A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257800" y="1234440"/>
            <a:ext cx="10424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ViT-L/14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309360" y="1508760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73952" y="1170432"/>
            <a:ext cx="1097280" cy="1005840"/>
          </a:xfrm>
          <a:prstGeom prst="rect">
            <a:avLst/>
          </a:prstGeom>
          <a:solidFill>
            <a:srgbClr val="0D1B2A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01384" y="1234440"/>
            <a:ext cx="10424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EVL Temporal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552944" y="1508760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717536" y="1170432"/>
            <a:ext cx="1097280" cy="1005840"/>
          </a:xfrm>
          <a:prstGeom prst="rect">
            <a:avLst/>
          </a:prstGeom>
          <a:solidFill>
            <a:srgbClr val="1B4F72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44968" y="1234440"/>
            <a:ext cx="10424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Prediction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Confidence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2331720"/>
            <a:ext cx="4023360" cy="1005840"/>
          </a:xfrm>
          <a:prstGeom prst="rect">
            <a:avLst/>
          </a:prstGeom>
          <a:solidFill>
            <a:srgbClr val="E8F4F8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2331720"/>
            <a:ext cx="64008" cy="10058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239572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3060 Performance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" y="27432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ViT-L/14 on 16 frames: ~40–60ms/clip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15–25 recognition decisions per second with 2s sliding window — suitable for near-real-time feedback.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663440" y="2331720"/>
            <a:ext cx="4023360" cy="1005840"/>
          </a:xfrm>
          <a:prstGeom prst="rect">
            <a:avLst/>
          </a:prstGeom>
          <a:solidFill>
            <a:srgbClr val="E8F4F8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2331720"/>
            <a:ext cx="64008" cy="10058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3752" y="239572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73752" y="27432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predictions filtered at softmax threshold (e.g., 0.4). Below-threshold clips shown as 'uncertain' — reducing false positives in practical usage.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11480" y="35204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11480" y="39136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test-set evaluation (checkpoint-5000.pth)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11480" y="426110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3D-CNN to pretrained R3D-18 backbone (Kinetics-400)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11480" y="460857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SignVLM on ROI data vs. full-frame data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54880" y="39136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additional signer data (even 1–2 more signers)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754880" y="426110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real-time webcam demo with Gradio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73152" cy="34747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630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Signer-Disjoint Split: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456432" y="146304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 evaluation reveals true generalization. FYP-I results inflated by signer leakage.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73152" cy="34747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1488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ROI Extraction: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56432" y="214884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coverage. Both-hand unified crop with fallback — stable pipeline for all 1,976 videos.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834640"/>
            <a:ext cx="73152" cy="34747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8346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3D-CNN from Scratch: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56432" y="283464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2.88% accuracy on signer-disjoint test. Confirms literature: small datasets cannot train deep video models.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520440"/>
            <a:ext cx="73152" cy="34747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5204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SignVLM (CLIP ViT-L/14):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56432" y="352044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60.26% Top-1 · 71.15% Top-5 — meaningful result on 104 classes with ~15 samples/class.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206240"/>
            <a:ext cx="73152" cy="34747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2062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is Essential: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56432" y="420624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CLIP's visual priors eliminate the data bottleneck and provide inherent signer invariance.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0" y="4617720"/>
            <a:ext cx="3657600" cy="457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68172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 Welcome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PSL Recognizer: FYP-II Progress Report</dc:title>
  <dc:subject>PptxGenJS Presentation</dc:subject>
  <dc:creator>PptxGenJS</dc:creator>
  <cp:lastModifiedBy>PptxGenJS</cp:lastModifiedBy>
  <cp:revision>1</cp:revision>
  <dcterms:created xsi:type="dcterms:W3CDTF">2026-04-12T19:25:39Z</dcterms:created>
  <dcterms:modified xsi:type="dcterms:W3CDTF">2026-04-12T19:25:39Z</dcterms:modified>
</cp:coreProperties>
</file>