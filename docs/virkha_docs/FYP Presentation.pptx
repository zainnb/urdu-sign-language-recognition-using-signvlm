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10287000" cx="18288000"/>
  <p:notesSz cx="6858000" cy="9144000"/>
  <p:embeddedFontLst>
    <p:embeddedFont>
      <p:font typeface="Montserrat"/>
      <p:regular r:id="rId38"/>
      <p:bold r:id="rId39"/>
      <p:italic r:id="rId40"/>
      <p:boldItalic r:id="rId41"/>
    </p:embeddedFont>
    <p:embeddedFont>
      <p:font typeface="Archivo Black"/>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3" roundtripDataSignature="AMtx7miCIpe2jK3XDkrEg1dDaUCUAiTE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FBF712-91FF-4E80-84D5-2AE46BE39E2F}">
  <a:tblStyle styleId="{F2FBF712-91FF-4E80-84D5-2AE46BE39E2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B4B6421-AAF5-459B-B793-F2D41C6C678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4.xml"/><Relationship Id="rId42" Type="http://schemas.openxmlformats.org/officeDocument/2006/relationships/font" Target="fonts/ArchivoBlack-regular.fntdata"/><Relationship Id="rId41" Type="http://schemas.openxmlformats.org/officeDocument/2006/relationships/font" Target="fonts/Montserrat-bold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bold.fntdata"/><Relationship Id="rId16" Type="http://schemas.openxmlformats.org/officeDocument/2006/relationships/slide" Target="slides/slide10.xml"/><Relationship Id="rId38" Type="http://schemas.openxmlformats.org/officeDocument/2006/relationships/font" Target="fonts/Montserra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 name="Google Shape;3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35f242562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35f24256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5f2425625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35f242562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35f2425625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35f242562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35f2425625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35f242562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5f2425625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35f242562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5f2425625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35f242562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35f2425625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35f242562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35f2425625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35f242562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35f2425625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35f242562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35f2425625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35f242562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3217225" y="1156800"/>
            <a:ext cx="110898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subTitle"/>
          </p:nvPr>
        </p:nvSpPr>
        <p:spPr>
          <a:xfrm>
            <a:off x="4313650" y="2388325"/>
            <a:ext cx="85053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SzPts val="3200"/>
              <a:buFont typeface="Montserrat"/>
              <a:buNone/>
              <a:defRPr>
                <a:latin typeface="Montserrat"/>
                <a:ea typeface="Montserrat"/>
                <a:cs typeface="Montserrat"/>
                <a:sym typeface="Montserrat"/>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26"/>
          <p:cNvSpPr txBox="1"/>
          <p:nvPr>
            <p:ph type="ctrTitle"/>
          </p:nvPr>
        </p:nvSpPr>
        <p:spPr>
          <a:xfrm>
            <a:off x="3217225" y="1156800"/>
            <a:ext cx="110898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27"/>
          <p:cNvSpPr txBox="1"/>
          <p:nvPr>
            <p:ph idx="1" type="body"/>
          </p:nvPr>
        </p:nvSpPr>
        <p:spPr>
          <a:xfrm>
            <a:off x="4124525" y="3109325"/>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9" name="Google Shape;19;p27"/>
          <p:cNvSpPr txBox="1"/>
          <p:nvPr>
            <p:ph idx="2" type="body"/>
          </p:nvPr>
        </p:nvSpPr>
        <p:spPr>
          <a:xfrm>
            <a:off x="8315525" y="3109325"/>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0" name="Google Shape;20;p27"/>
          <p:cNvSpPr txBox="1"/>
          <p:nvPr>
            <p:ph type="ctrTitle"/>
          </p:nvPr>
        </p:nvSpPr>
        <p:spPr>
          <a:xfrm>
            <a:off x="3217225" y="1156800"/>
            <a:ext cx="110898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idx="1" type="body"/>
          </p:nvPr>
        </p:nvSpPr>
        <p:spPr>
          <a:xfrm>
            <a:off x="3994725" y="25576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28"/>
          <p:cNvSpPr txBox="1"/>
          <p:nvPr>
            <p:ph type="ctrTitle"/>
          </p:nvPr>
        </p:nvSpPr>
        <p:spPr>
          <a:xfrm>
            <a:off x="3217225" y="1156800"/>
            <a:ext cx="110898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29"/>
          <p:cNvSpPr txBox="1"/>
          <p:nvPr>
            <p:ph idx="1" type="body"/>
          </p:nvPr>
        </p:nvSpPr>
        <p:spPr>
          <a:xfrm>
            <a:off x="4010950" y="276855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 name="Google Shape;26;p29"/>
          <p:cNvSpPr txBox="1"/>
          <p:nvPr>
            <p:ph type="ctrTitle"/>
          </p:nvPr>
        </p:nvSpPr>
        <p:spPr>
          <a:xfrm>
            <a:off x="3217225" y="1156800"/>
            <a:ext cx="110898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30"/>
          <p:cNvSpPr/>
          <p:nvPr>
            <p:ph idx="2" type="pic"/>
          </p:nvPr>
        </p:nvSpPr>
        <p:spPr>
          <a:xfrm>
            <a:off x="9087229" y="1637750"/>
            <a:ext cx="7395900" cy="5547000"/>
          </a:xfrm>
          <a:prstGeom prst="rect">
            <a:avLst/>
          </a:prstGeom>
          <a:noFill/>
          <a:ln>
            <a:noFill/>
          </a:ln>
        </p:spPr>
      </p:sp>
      <p:sp>
        <p:nvSpPr>
          <p:cNvPr id="29" name="Google Shape;29;p30"/>
          <p:cNvSpPr txBox="1"/>
          <p:nvPr>
            <p:ph idx="1" type="body"/>
          </p:nvPr>
        </p:nvSpPr>
        <p:spPr>
          <a:xfrm>
            <a:off x="1495750" y="3774625"/>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30"/>
          <p:cNvSpPr txBox="1"/>
          <p:nvPr>
            <p:ph type="title"/>
          </p:nvPr>
        </p:nvSpPr>
        <p:spPr>
          <a:xfrm>
            <a:off x="1495750" y="1637750"/>
            <a:ext cx="67584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23"/>
          <p:cNvGrpSpPr/>
          <p:nvPr/>
        </p:nvGrpSpPr>
        <p:grpSpPr>
          <a:xfrm rot="5400000">
            <a:off x="4090821" y="-4090940"/>
            <a:ext cx="10287066" cy="18468946"/>
            <a:chOff x="0" y="-47625"/>
            <a:chExt cx="2709333" cy="4864217"/>
          </a:xfrm>
        </p:grpSpPr>
        <p:sp>
          <p:nvSpPr>
            <p:cNvPr id="7" name="Google Shape;7;p23"/>
            <p:cNvSpPr/>
            <p:nvPr/>
          </p:nvSpPr>
          <p:spPr>
            <a:xfrm>
              <a:off x="0" y="0"/>
              <a:ext cx="2709333" cy="4816592"/>
            </a:xfrm>
            <a:custGeom>
              <a:rect b="b" l="l" r="r" t="t"/>
              <a:pathLst>
                <a:path extrusionOk="0" h="4816592" w="2709333">
                  <a:moveTo>
                    <a:pt x="0" y="0"/>
                  </a:moveTo>
                  <a:lnTo>
                    <a:pt x="2709333" y="0"/>
                  </a:lnTo>
                  <a:lnTo>
                    <a:pt x="2709333" y="4816592"/>
                  </a:lnTo>
                  <a:lnTo>
                    <a:pt x="0" y="4816592"/>
                  </a:lnTo>
                  <a:close/>
                </a:path>
              </a:pathLst>
            </a:custGeom>
            <a:gradFill>
              <a:gsLst>
                <a:gs pos="0">
                  <a:srgbClr val="CDFFD8"/>
                </a:gs>
                <a:gs pos="100000">
                  <a:srgbClr val="94B9FF"/>
                </a:gs>
              </a:gsLst>
              <a:lin ang="0" scaled="0"/>
            </a:gradFill>
            <a:ln>
              <a:noFill/>
            </a:ln>
          </p:spPr>
        </p:sp>
        <p:sp>
          <p:nvSpPr>
            <p:cNvPr id="8" name="Google Shape;8;p23"/>
            <p:cNvSpPr txBox="1"/>
            <p:nvPr/>
          </p:nvSpPr>
          <p:spPr>
            <a:xfrm>
              <a:off x="0" y="-47625"/>
              <a:ext cx="812700" cy="860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 name="Google Shape;9;p23"/>
          <p:cNvSpPr txBox="1"/>
          <p:nvPr>
            <p:ph type="title"/>
          </p:nvPr>
        </p:nvSpPr>
        <p:spPr>
          <a:xfrm>
            <a:off x="1495750" y="988650"/>
            <a:ext cx="141093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chivo Black"/>
              <a:buNone/>
              <a:defRPr b="0" i="0" sz="4400" u="none" cap="none" strike="noStrike">
                <a:solidFill>
                  <a:schemeClr val="dk1"/>
                </a:solidFill>
                <a:latin typeface="Archivo Black"/>
                <a:ea typeface="Archivo Black"/>
                <a:cs typeface="Archivo Black"/>
                <a:sym typeface="Archivo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3"/>
          <p:cNvSpPr txBox="1"/>
          <p:nvPr>
            <p:ph idx="1" type="body"/>
          </p:nvPr>
        </p:nvSpPr>
        <p:spPr>
          <a:xfrm>
            <a:off x="4108300" y="3287825"/>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accent3"/>
              </a:buClr>
              <a:buSzPts val="3200"/>
              <a:buFont typeface="Arial"/>
              <a:buChar char="•"/>
              <a:defRPr b="0" i="0" sz="3200" u="none" cap="none" strike="noStrike">
                <a:solidFill>
                  <a:schemeClr val="accent3"/>
                </a:solidFill>
                <a:latin typeface="Arial"/>
                <a:ea typeface="Arial"/>
                <a:cs typeface="Arial"/>
                <a:sym typeface="Arial"/>
              </a:defRPr>
            </a:lvl1pPr>
            <a:lvl2pPr indent="-406400" lvl="1" marL="914400" marR="0" rtl="0" algn="l">
              <a:lnSpc>
                <a:spcPct val="100000"/>
              </a:lnSpc>
              <a:spcBef>
                <a:spcPts val="560"/>
              </a:spcBef>
              <a:spcAft>
                <a:spcPts val="0"/>
              </a:spcAft>
              <a:buClr>
                <a:schemeClr val="accent3"/>
              </a:buClr>
              <a:buSzPts val="2800"/>
              <a:buFont typeface="Arial"/>
              <a:buChar char="–"/>
              <a:defRPr b="0" i="0" sz="2800" u="none" cap="none" strike="noStrike">
                <a:solidFill>
                  <a:schemeClr val="accent3"/>
                </a:solidFill>
                <a:latin typeface="Arial"/>
                <a:ea typeface="Arial"/>
                <a:cs typeface="Arial"/>
                <a:sym typeface="Arial"/>
              </a:defRPr>
            </a:lvl2pPr>
            <a:lvl3pPr indent="-381000" lvl="2" marL="1371600" marR="0" rtl="0" algn="l">
              <a:lnSpc>
                <a:spcPct val="100000"/>
              </a:lnSpc>
              <a:spcBef>
                <a:spcPts val="480"/>
              </a:spcBef>
              <a:spcAft>
                <a:spcPts val="0"/>
              </a:spcAft>
              <a:buClr>
                <a:schemeClr val="accent3"/>
              </a:buClr>
              <a:buSzPts val="2400"/>
              <a:buFont typeface="Arial"/>
              <a:buChar char="•"/>
              <a:defRPr b="0" i="0" sz="2400" u="none" cap="none" strike="noStrike">
                <a:solidFill>
                  <a:schemeClr val="accent3"/>
                </a:solidFill>
                <a:latin typeface="Arial"/>
                <a:ea typeface="Arial"/>
                <a:cs typeface="Arial"/>
                <a:sym typeface="Arial"/>
              </a:defRPr>
            </a:lvl3pPr>
            <a:lvl4pPr indent="-355600" lvl="3" marL="18288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4pPr>
            <a:lvl5pPr indent="-355600" lvl="4" marL="22860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5pPr>
            <a:lvl6pPr indent="-355600" lvl="5" marL="27432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6pPr>
            <a:lvl7pPr indent="-355600" lvl="6" marL="32004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7pPr>
            <a:lvl8pPr indent="-355600" lvl="7" marL="36576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8pPr>
            <a:lvl9pPr indent="-355600" lvl="8" marL="4114800" marR="0" rtl="0" algn="l">
              <a:lnSpc>
                <a:spcPct val="100000"/>
              </a:lnSpc>
              <a:spcBef>
                <a:spcPts val="400"/>
              </a:spcBef>
              <a:spcAft>
                <a:spcPts val="0"/>
              </a:spcAft>
              <a:buClr>
                <a:schemeClr val="accent3"/>
              </a:buClr>
              <a:buSzPts val="2000"/>
              <a:buFont typeface="Arial"/>
              <a:buChar char="•"/>
              <a:defRPr b="0" i="0" sz="2000" u="none" cap="none" strike="noStrike">
                <a:solidFill>
                  <a:schemeClr val="accent3"/>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jpg"/><Relationship Id="rId4" Type="http://schemas.openxmlformats.org/officeDocument/2006/relationships/image" Target="../media/image4.jpg"/><Relationship Id="rId5" Type="http://schemas.openxmlformats.org/officeDocument/2006/relationships/image" Target="../media/image9.jpg"/><Relationship Id="rId6" Type="http://schemas.openxmlformats.org/officeDocument/2006/relationships/image" Target="../media/image26.png"/><Relationship Id="rId7" Type="http://schemas.openxmlformats.org/officeDocument/2006/relationships/image" Target="../media/image11.png"/><Relationship Id="rId8"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drive.google.com/file/d/1RP5R8VYH2mFbzZXExojsffbw_YvaXaU9/view"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drive.google.com/file/d/1RP5R8VYH2mFbzZXExojsffbw_YvaXaU9/view" TargetMode="External"/><Relationship Id="rId4" Type="http://schemas.openxmlformats.org/officeDocument/2006/relationships/image" Target="../media/image7.jpg"/><Relationship Id="rId5" Type="http://schemas.openxmlformats.org/officeDocument/2006/relationships/hyperlink" Target="http://drive.google.com/file/d/13CNM2RCTU9AyNcEOPbFfJoHOvfRDjuvZ/view" TargetMode="External"/><Relationship Id="rId6" Type="http://schemas.openxmlformats.org/officeDocument/2006/relationships/image" Target="../media/image15.png"/><Relationship Id="rId7" Type="http://schemas.openxmlformats.org/officeDocument/2006/relationships/hyperlink" Target="http://drive.google.com/file/d/13IGwkBug7ep-O-aEQj-z5S4chxFVaq6H/view" TargetMode="External"/><Relationship Id="rId8"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42.png"/><Relationship Id="rId5" Type="http://schemas.openxmlformats.org/officeDocument/2006/relationships/image" Target="../media/image24.png"/><Relationship Id="rId6" Type="http://schemas.openxmlformats.org/officeDocument/2006/relationships/image" Target="../media/image14.png"/><Relationship Id="rId7" Type="http://schemas.openxmlformats.org/officeDocument/2006/relationships/image" Target="../media/image36.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0.jpg"/><Relationship Id="rId4" Type="http://schemas.openxmlformats.org/officeDocument/2006/relationships/image" Target="../media/image4.jpg"/><Relationship Id="rId5" Type="http://schemas.openxmlformats.org/officeDocument/2006/relationships/image" Target="../media/image9.jpg"/><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23.png"/><Relationship Id="rId5"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0.jpg"/><Relationship Id="rId4" Type="http://schemas.openxmlformats.org/officeDocument/2006/relationships/image" Target="../media/image4.jpg"/><Relationship Id="rId10" Type="http://schemas.openxmlformats.org/officeDocument/2006/relationships/image" Target="../media/image38.png"/><Relationship Id="rId9" Type="http://schemas.openxmlformats.org/officeDocument/2006/relationships/image" Target="../media/image43.png"/><Relationship Id="rId5" Type="http://schemas.openxmlformats.org/officeDocument/2006/relationships/image" Target="../media/image9.jpg"/><Relationship Id="rId6" Type="http://schemas.openxmlformats.org/officeDocument/2006/relationships/image" Target="../media/image2.jpg"/><Relationship Id="rId7" Type="http://schemas.openxmlformats.org/officeDocument/2006/relationships/image" Target="../media/image1.jpg"/><Relationship Id="rId8" Type="http://schemas.openxmlformats.org/officeDocument/2006/relationships/image" Target="../media/image3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doi.org/10.1007/s00138-023-01429-8" TargetMode="External"/><Relationship Id="rId4" Type="http://schemas.openxmlformats.org/officeDocument/2006/relationships/hyperlink" Target="https://www.researchgate.net/publication/357489586_Dynamic_Hand_Gesture_Recognition_Using_3D-CNN_and_LSTM_Networks" TargetMode="External"/><Relationship Id="rId5" Type="http://schemas.openxmlformats.org/officeDocument/2006/relationships/hyperlink" Target="https://doi.org/10.3390/electronics11193228" TargetMode="External"/><Relationship Id="rId6" Type="http://schemas.openxmlformats.org/officeDocument/2006/relationships/hyperlink" Target="https://aclanthology.org/W19-6615.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grpSp>
        <p:nvGrpSpPr>
          <p:cNvPr id="35" name="Google Shape;35;p1"/>
          <p:cNvGrpSpPr/>
          <p:nvPr/>
        </p:nvGrpSpPr>
        <p:grpSpPr>
          <a:xfrm rot="5400000">
            <a:off x="3988548" y="-3537410"/>
            <a:ext cx="10287066" cy="17362336"/>
            <a:chOff x="0" y="-47625"/>
            <a:chExt cx="2709333" cy="4864217"/>
          </a:xfrm>
        </p:grpSpPr>
        <p:sp>
          <p:nvSpPr>
            <p:cNvPr id="36" name="Google Shape;36;p1"/>
            <p:cNvSpPr/>
            <p:nvPr/>
          </p:nvSpPr>
          <p:spPr>
            <a:xfrm>
              <a:off x="0" y="0"/>
              <a:ext cx="2709333" cy="4816592"/>
            </a:xfrm>
            <a:custGeom>
              <a:rect b="b" l="l" r="r" t="t"/>
              <a:pathLst>
                <a:path extrusionOk="0" h="4816592" w="2709333">
                  <a:moveTo>
                    <a:pt x="0" y="0"/>
                  </a:moveTo>
                  <a:lnTo>
                    <a:pt x="2709333" y="0"/>
                  </a:lnTo>
                  <a:lnTo>
                    <a:pt x="2709333" y="4816592"/>
                  </a:lnTo>
                  <a:lnTo>
                    <a:pt x="0" y="4816592"/>
                  </a:lnTo>
                  <a:close/>
                </a:path>
              </a:pathLst>
            </a:custGeom>
            <a:gradFill>
              <a:gsLst>
                <a:gs pos="0">
                  <a:srgbClr val="CDFFD8"/>
                </a:gs>
                <a:gs pos="100000">
                  <a:srgbClr val="94B9FF"/>
                </a:gs>
              </a:gsLst>
              <a:lin ang="0" scaled="0"/>
            </a:gradFill>
            <a:ln>
              <a:noFill/>
            </a:ln>
          </p:spPr>
        </p:sp>
        <p:sp>
          <p:nvSpPr>
            <p:cNvPr id="37" name="Google Shape;37;p1"/>
            <p:cNvSpPr txBox="1"/>
            <p:nvPr/>
          </p:nvSpPr>
          <p:spPr>
            <a:xfrm>
              <a:off x="0" y="-47625"/>
              <a:ext cx="81280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 name="Google Shape;38;p1"/>
          <p:cNvGrpSpPr/>
          <p:nvPr/>
        </p:nvGrpSpPr>
        <p:grpSpPr>
          <a:xfrm>
            <a:off x="450925" y="496450"/>
            <a:ext cx="10280414" cy="9294084"/>
            <a:chOff x="0" y="0"/>
            <a:chExt cx="22194332" cy="12392113"/>
          </a:xfrm>
        </p:grpSpPr>
        <p:sp>
          <p:nvSpPr>
            <p:cNvPr id="39" name="Google Shape;39;p1"/>
            <p:cNvSpPr/>
            <p:nvPr/>
          </p:nvSpPr>
          <p:spPr>
            <a:xfrm>
              <a:off x="4028" y="1210497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3">
                <a:alphaModFix/>
              </a:blip>
              <a:stretch>
                <a:fillRect b="-5575360" l="0" r="-520" t="0"/>
              </a:stretch>
            </a:blipFill>
            <a:ln>
              <a:noFill/>
            </a:ln>
          </p:spPr>
        </p:sp>
        <p:sp>
          <p:nvSpPr>
            <p:cNvPr id="40" name="Google Shape;40;p1"/>
            <p:cNvSpPr/>
            <p:nvPr/>
          </p:nvSpPr>
          <p:spPr>
            <a:xfrm>
              <a:off x="0" y="77552"/>
              <a:ext cx="340312" cy="12301860"/>
            </a:xfrm>
            <a:custGeom>
              <a:rect b="b" l="l" r="r" t="t"/>
              <a:pathLst>
                <a:path extrusionOk="0" h="12301860" w="340312">
                  <a:moveTo>
                    <a:pt x="0" y="0"/>
                  </a:moveTo>
                  <a:lnTo>
                    <a:pt x="340312" y="0"/>
                  </a:lnTo>
                  <a:lnTo>
                    <a:pt x="340312" y="12301861"/>
                  </a:lnTo>
                  <a:lnTo>
                    <a:pt x="0" y="12301861"/>
                  </a:lnTo>
                  <a:lnTo>
                    <a:pt x="0" y="0"/>
                  </a:lnTo>
                  <a:close/>
                </a:path>
              </a:pathLst>
            </a:custGeom>
            <a:blipFill rotWithShape="1">
              <a:blip r:embed="rId4">
                <a:alphaModFix/>
              </a:blip>
              <a:stretch>
                <a:fillRect b="0" l="0" r="-5322991" t="0"/>
              </a:stretch>
            </a:blipFill>
            <a:ln>
              <a:noFill/>
            </a:ln>
          </p:spPr>
        </p:sp>
        <p:sp>
          <p:nvSpPr>
            <p:cNvPr id="41" name="Google Shape;41;p1"/>
            <p:cNvSpPr/>
            <p:nvPr/>
          </p:nvSpPr>
          <p:spPr>
            <a:xfrm>
              <a:off x="4028" y="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4">
                <a:alphaModFix/>
              </a:blip>
              <a:stretch>
                <a:fillRect b="-5575360" l="0" r="-520" t="0"/>
              </a:stretch>
            </a:blipFill>
            <a:ln>
              <a:noFill/>
            </a:ln>
          </p:spPr>
        </p:sp>
        <p:sp>
          <p:nvSpPr>
            <p:cNvPr id="42" name="Google Shape;42;p1"/>
            <p:cNvSpPr/>
            <p:nvPr/>
          </p:nvSpPr>
          <p:spPr>
            <a:xfrm rot="5400000">
              <a:off x="15859452" y="6057233"/>
              <a:ext cx="12379413" cy="290346"/>
            </a:xfrm>
            <a:custGeom>
              <a:rect b="b" l="l" r="r" t="t"/>
              <a:pathLst>
                <a:path extrusionOk="0" h="290346" w="12379413">
                  <a:moveTo>
                    <a:pt x="0" y="0"/>
                  </a:moveTo>
                  <a:lnTo>
                    <a:pt x="12379412" y="0"/>
                  </a:lnTo>
                  <a:lnTo>
                    <a:pt x="12379412" y="290346"/>
                  </a:lnTo>
                  <a:lnTo>
                    <a:pt x="0" y="290346"/>
                  </a:lnTo>
                  <a:lnTo>
                    <a:pt x="0" y="0"/>
                  </a:lnTo>
                  <a:close/>
                </a:path>
              </a:pathLst>
            </a:custGeom>
            <a:blipFill rotWithShape="1">
              <a:blip r:embed="rId5">
                <a:alphaModFix/>
              </a:blip>
              <a:stretch>
                <a:fillRect b="-2755511" l="0" r="-520" t="0"/>
              </a:stretch>
            </a:blipFill>
            <a:ln>
              <a:noFill/>
            </a:ln>
          </p:spPr>
        </p:sp>
      </p:grpSp>
      <p:sp>
        <p:nvSpPr>
          <p:cNvPr id="43" name="Google Shape;43;p1"/>
          <p:cNvSpPr txBox="1"/>
          <p:nvPr/>
        </p:nvSpPr>
        <p:spPr>
          <a:xfrm>
            <a:off x="2709943" y="923925"/>
            <a:ext cx="96399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9507"/>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
          <p:cNvSpPr txBox="1"/>
          <p:nvPr/>
        </p:nvSpPr>
        <p:spPr>
          <a:xfrm>
            <a:off x="1820055" y="923925"/>
            <a:ext cx="4668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9507"/>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
          <p:cNvSpPr txBox="1"/>
          <p:nvPr/>
        </p:nvSpPr>
        <p:spPr>
          <a:xfrm>
            <a:off x="11517449" y="2447200"/>
            <a:ext cx="6295800" cy="23637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7099"/>
              <a:buFont typeface="Arial"/>
              <a:buNone/>
            </a:pPr>
            <a:r>
              <a:rPr b="1" i="0" lang="en-US" sz="4799" u="none" cap="none" strike="noStrike">
                <a:solidFill>
                  <a:srgbClr val="000000"/>
                </a:solidFill>
                <a:latin typeface="Montserrat"/>
                <a:ea typeface="Montserrat"/>
                <a:cs typeface="Montserrat"/>
                <a:sym typeface="Montserrat"/>
              </a:rPr>
              <a:t>Multimodal video classification for deaf community</a:t>
            </a:r>
            <a:endParaRPr b="1" i="0" sz="4799" u="none" cap="none" strike="noStrike">
              <a:solidFill>
                <a:srgbClr val="000000"/>
              </a:solidFill>
              <a:latin typeface="Montserrat"/>
              <a:ea typeface="Montserrat"/>
              <a:cs typeface="Montserrat"/>
              <a:sym typeface="Montserrat"/>
            </a:endParaRPr>
          </a:p>
        </p:txBody>
      </p:sp>
      <p:sp>
        <p:nvSpPr>
          <p:cNvPr id="46" name="Google Shape;46;p1"/>
          <p:cNvSpPr/>
          <p:nvPr/>
        </p:nvSpPr>
        <p:spPr>
          <a:xfrm flipH="1" rot="10800000">
            <a:off x="2709945" y="5523225"/>
            <a:ext cx="3831000" cy="2253000"/>
          </a:xfrm>
          <a:prstGeom prst="bentArrow">
            <a:avLst>
              <a:gd fmla="val 32394" name="adj1"/>
              <a:gd fmla="val 33059" name="adj2"/>
              <a:gd fmla="val 38033" name="adj3"/>
              <a:gd fmla="val 39436" name="adj4"/>
            </a:avLst>
          </a:prstGeom>
          <a:solidFill>
            <a:srgbClr val="544C79"/>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 name="Google Shape;47;p1"/>
          <p:cNvPicPr preferRelativeResize="0"/>
          <p:nvPr/>
        </p:nvPicPr>
        <p:blipFill rotWithShape="1">
          <a:blip r:embed="rId6">
            <a:alphaModFix/>
          </a:blip>
          <a:srcRect b="0" l="0" r="0" t="0"/>
          <a:stretch/>
        </p:blipFill>
        <p:spPr>
          <a:xfrm>
            <a:off x="6000337" y="5681624"/>
            <a:ext cx="4730116" cy="2823175"/>
          </a:xfrm>
          <a:prstGeom prst="rect">
            <a:avLst/>
          </a:prstGeom>
          <a:noFill/>
          <a:ln>
            <a:noFill/>
          </a:ln>
        </p:spPr>
      </p:pic>
      <p:pic>
        <p:nvPicPr>
          <p:cNvPr id="48" name="Google Shape;48;p1"/>
          <p:cNvPicPr preferRelativeResize="0"/>
          <p:nvPr/>
        </p:nvPicPr>
        <p:blipFill rotWithShape="1">
          <a:blip r:embed="rId7">
            <a:alphaModFix/>
          </a:blip>
          <a:srcRect b="0" l="0" r="0" t="0"/>
          <a:stretch/>
        </p:blipFill>
        <p:spPr>
          <a:xfrm>
            <a:off x="5536123" y="2047100"/>
            <a:ext cx="2271750" cy="2763800"/>
          </a:xfrm>
          <a:prstGeom prst="rect">
            <a:avLst/>
          </a:prstGeom>
          <a:noFill/>
          <a:ln>
            <a:noFill/>
          </a:ln>
        </p:spPr>
      </p:pic>
      <p:pic>
        <p:nvPicPr>
          <p:cNvPr id="49" name="Google Shape;49;p1"/>
          <p:cNvPicPr preferRelativeResize="0"/>
          <p:nvPr/>
        </p:nvPicPr>
        <p:blipFill rotWithShape="1">
          <a:blip r:embed="rId8">
            <a:alphaModFix/>
          </a:blip>
          <a:srcRect b="0" l="0" r="0" t="0"/>
          <a:stretch/>
        </p:blipFill>
        <p:spPr>
          <a:xfrm>
            <a:off x="1229638" y="1824038"/>
            <a:ext cx="4333875" cy="3209925"/>
          </a:xfrm>
          <a:prstGeom prst="rect">
            <a:avLst/>
          </a:prstGeom>
          <a:noFill/>
          <a:ln>
            <a:noFill/>
          </a:ln>
        </p:spPr>
      </p:pic>
      <p:sp>
        <p:nvSpPr>
          <p:cNvPr id="50" name="Google Shape;50;p1"/>
          <p:cNvSpPr/>
          <p:nvPr/>
        </p:nvSpPr>
        <p:spPr>
          <a:xfrm>
            <a:off x="816325" y="1297725"/>
            <a:ext cx="8198280" cy="4225500"/>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11302875" y="7537525"/>
            <a:ext cx="6110100" cy="2253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chivo Black"/>
                <a:ea typeface="Archivo Black"/>
                <a:cs typeface="Archivo Black"/>
                <a:sym typeface="Archivo Black"/>
              </a:rPr>
              <a:t>Group Members=&gt;</a:t>
            </a:r>
            <a:endParaRPr b="0" i="0" sz="2300" u="none" cap="none" strike="noStrike">
              <a:solidFill>
                <a:srgbClr val="000000"/>
              </a:solidFill>
              <a:latin typeface="Archivo Black"/>
              <a:ea typeface="Archivo Black"/>
              <a:cs typeface="Archivo Black"/>
              <a:sym typeface="Archivo Black"/>
            </a:endParaRPr>
          </a:p>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chivo Black"/>
                <a:ea typeface="Archivo Black"/>
                <a:cs typeface="Archivo Black"/>
                <a:sym typeface="Archivo Black"/>
              </a:rPr>
              <a:t>21K4507 Virkha Kumari</a:t>
            </a:r>
            <a:endParaRPr b="0" i="0" sz="2300" u="none" cap="none" strike="noStrike">
              <a:solidFill>
                <a:srgbClr val="000000"/>
              </a:solidFill>
              <a:latin typeface="Archivo Black"/>
              <a:ea typeface="Archivo Black"/>
              <a:cs typeface="Archivo Black"/>
              <a:sym typeface="Archivo Black"/>
            </a:endParaRPr>
          </a:p>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chivo Black"/>
                <a:ea typeface="Archivo Black"/>
                <a:cs typeface="Archivo Black"/>
                <a:sym typeface="Archivo Black"/>
              </a:rPr>
              <a:t>21K-4695 Tania Saleh</a:t>
            </a:r>
            <a:endParaRPr b="0" i="0" sz="2300" u="none" cap="none" strike="noStrike">
              <a:solidFill>
                <a:srgbClr val="000000"/>
              </a:solidFill>
              <a:latin typeface="Archivo Black"/>
              <a:ea typeface="Archivo Black"/>
              <a:cs typeface="Archivo Black"/>
              <a:sym typeface="Archivo Black"/>
            </a:endParaRPr>
          </a:p>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chivo Black"/>
                <a:ea typeface="Archivo Black"/>
                <a:cs typeface="Archivo Black"/>
                <a:sym typeface="Archivo Black"/>
              </a:rPr>
              <a:t>21K-3371 Agha Fardeen</a:t>
            </a:r>
            <a:endParaRPr b="0" i="0" sz="2300" u="none" cap="none" strike="noStrike">
              <a:solidFill>
                <a:srgbClr val="000000"/>
              </a:solidFill>
              <a:latin typeface="Archivo Black"/>
              <a:ea typeface="Archivo Black"/>
              <a:cs typeface="Archivo Black"/>
              <a:sym typeface="Archiv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
                                        </p:tgtEl>
                                        <p:attrNameLst>
                                          <p:attrName>style.visibility</p:attrName>
                                        </p:attrNameLst>
                                      </p:cBhvr>
                                      <p:to>
                                        <p:strVal val="visible"/>
                                      </p:to>
                                    </p:set>
                                  </p:childTnLst>
                                </p:cTn>
                              </p:par>
                              <p:par>
                                <p:cTn fill="hold" nodeType="withEffect" presetClass="entr" presetID="2" presetSubtype="8">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1000"/>
                                        <p:tgtEl>
                                          <p:spTgt spid="4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grpSp>
        <p:nvGrpSpPr>
          <p:cNvPr id="56" name="Google Shape;56;p2"/>
          <p:cNvGrpSpPr/>
          <p:nvPr/>
        </p:nvGrpSpPr>
        <p:grpSpPr>
          <a:xfrm>
            <a:off x="11902625" y="5428950"/>
            <a:ext cx="4135276" cy="840557"/>
            <a:chOff x="-2" y="9"/>
            <a:chExt cx="5513700" cy="1120743"/>
          </a:xfrm>
        </p:grpSpPr>
        <p:sp>
          <p:nvSpPr>
            <p:cNvPr id="57" name="Google Shape;57;p2"/>
            <p:cNvSpPr txBox="1"/>
            <p:nvPr/>
          </p:nvSpPr>
          <p:spPr>
            <a:xfrm>
              <a:off x="-2" y="9"/>
              <a:ext cx="5513700" cy="65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Montserrat"/>
                  <a:ea typeface="Montserrat"/>
                  <a:cs typeface="Montserrat"/>
                  <a:sym typeface="Montserrat"/>
                </a:rPr>
                <a:t>GOALS OF FYP I</a:t>
              </a:r>
              <a:endParaRPr b="0" i="0" sz="1400" u="none" cap="none" strike="noStrike">
                <a:solidFill>
                  <a:srgbClr val="000000"/>
                </a:solidFill>
                <a:latin typeface="Arial"/>
                <a:ea typeface="Arial"/>
                <a:cs typeface="Arial"/>
                <a:sym typeface="Arial"/>
              </a:endParaRPr>
            </a:p>
          </p:txBody>
        </p:sp>
        <p:sp>
          <p:nvSpPr>
            <p:cNvPr id="58" name="Google Shape;58;p2"/>
            <p:cNvSpPr txBox="1"/>
            <p:nvPr/>
          </p:nvSpPr>
          <p:spPr>
            <a:xfrm>
              <a:off x="0" y="833352"/>
              <a:ext cx="4408200" cy="28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 name="Google Shape;59;p2"/>
          <p:cNvGrpSpPr/>
          <p:nvPr/>
        </p:nvGrpSpPr>
        <p:grpSpPr>
          <a:xfrm>
            <a:off x="11902625" y="4362763"/>
            <a:ext cx="3952350" cy="883396"/>
            <a:chOff x="-2" y="-5"/>
            <a:chExt cx="5269800" cy="1177862"/>
          </a:xfrm>
        </p:grpSpPr>
        <p:sp>
          <p:nvSpPr>
            <p:cNvPr id="60" name="Google Shape;60;p2"/>
            <p:cNvSpPr txBox="1"/>
            <p:nvPr/>
          </p:nvSpPr>
          <p:spPr>
            <a:xfrm>
              <a:off x="-2" y="-5"/>
              <a:ext cx="5269800" cy="65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lang="en-US" sz="3200">
                  <a:latin typeface="Montserrat"/>
                  <a:ea typeface="Montserrat"/>
                  <a:cs typeface="Montserrat"/>
                  <a:sym typeface="Montserrat"/>
                </a:rPr>
                <a:t>Introduction</a:t>
              </a:r>
              <a:endParaRPr b="0" i="0" sz="1400" u="none" cap="none" strike="noStrike">
                <a:solidFill>
                  <a:srgbClr val="000000"/>
                </a:solidFill>
                <a:latin typeface="Arial"/>
                <a:ea typeface="Arial"/>
                <a:cs typeface="Arial"/>
                <a:sym typeface="Arial"/>
              </a:endParaRPr>
            </a:p>
          </p:txBody>
        </p:sp>
        <p:sp>
          <p:nvSpPr>
            <p:cNvPr id="61" name="Google Shape;61;p2"/>
            <p:cNvSpPr txBox="1"/>
            <p:nvPr/>
          </p:nvSpPr>
          <p:spPr>
            <a:xfrm>
              <a:off x="0" y="890457"/>
              <a:ext cx="4408200" cy="28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 name="Google Shape;62;p2"/>
          <p:cNvGrpSpPr/>
          <p:nvPr/>
        </p:nvGrpSpPr>
        <p:grpSpPr>
          <a:xfrm>
            <a:off x="11902626" y="6553005"/>
            <a:ext cx="3794400" cy="1083600"/>
            <a:chOff x="0" y="-16"/>
            <a:chExt cx="5059200" cy="1444800"/>
          </a:xfrm>
        </p:grpSpPr>
        <p:sp>
          <p:nvSpPr>
            <p:cNvPr id="63" name="Google Shape;63;p2"/>
            <p:cNvSpPr txBox="1"/>
            <p:nvPr/>
          </p:nvSpPr>
          <p:spPr>
            <a:xfrm>
              <a:off x="0" y="-16"/>
              <a:ext cx="5059200" cy="1444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Montserrat"/>
                  <a:ea typeface="Montserrat"/>
                  <a:cs typeface="Montserrat"/>
                  <a:sym typeface="Montserrat"/>
                </a:rPr>
                <a:t>GOALS OF FYP II</a:t>
              </a:r>
              <a:endParaRPr b="1" i="0" sz="3200" u="none" cap="none" strike="noStrike">
                <a:solidFill>
                  <a:srgbClr val="000000"/>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3200"/>
                <a:buFont typeface="Arial"/>
                <a:buNone/>
              </a:pPr>
              <a:r>
                <a:t/>
              </a:r>
              <a:endParaRPr b="1" i="0" sz="3200" u="none" cap="none" strike="noStrike">
                <a:solidFill>
                  <a:srgbClr val="000000"/>
                </a:solidFill>
                <a:latin typeface="Montserrat"/>
                <a:ea typeface="Montserrat"/>
                <a:cs typeface="Montserrat"/>
                <a:sym typeface="Montserrat"/>
              </a:endParaRPr>
            </a:p>
          </p:txBody>
        </p:sp>
        <p:sp>
          <p:nvSpPr>
            <p:cNvPr id="64" name="Google Shape;64;p2"/>
            <p:cNvSpPr txBox="1"/>
            <p:nvPr/>
          </p:nvSpPr>
          <p:spPr>
            <a:xfrm>
              <a:off x="0" y="809573"/>
              <a:ext cx="4408200" cy="28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grpSp>
      <p:sp>
        <p:nvSpPr>
          <p:cNvPr id="65" name="Google Shape;65;p2"/>
          <p:cNvSpPr txBox="1"/>
          <p:nvPr/>
        </p:nvSpPr>
        <p:spPr>
          <a:xfrm>
            <a:off x="890224" y="1009650"/>
            <a:ext cx="16507551" cy="11620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500"/>
              <a:buFont typeface="Arial"/>
              <a:buNone/>
            </a:pPr>
            <a:r>
              <a:rPr b="0" i="0" lang="en-US" sz="7500" u="none" cap="none" strike="noStrike">
                <a:solidFill>
                  <a:srgbClr val="1557FF"/>
                </a:solidFill>
                <a:latin typeface="Archivo Black"/>
                <a:ea typeface="Archivo Black"/>
                <a:cs typeface="Archivo Black"/>
                <a:sym typeface="Archivo Black"/>
              </a:rPr>
              <a:t>Table Of Contents</a:t>
            </a:r>
            <a:endParaRPr b="0" i="0" sz="1400" u="none" cap="none" strike="noStrike">
              <a:solidFill>
                <a:srgbClr val="000000"/>
              </a:solidFill>
              <a:latin typeface="Arial"/>
              <a:ea typeface="Arial"/>
              <a:cs typeface="Arial"/>
              <a:sym typeface="Arial"/>
            </a:endParaRPr>
          </a:p>
        </p:txBody>
      </p:sp>
      <p:grpSp>
        <p:nvGrpSpPr>
          <p:cNvPr id="66" name="Google Shape;66;p2"/>
          <p:cNvGrpSpPr/>
          <p:nvPr/>
        </p:nvGrpSpPr>
        <p:grpSpPr>
          <a:xfrm>
            <a:off x="-1618469" y="3217329"/>
            <a:ext cx="8566062" cy="8566062"/>
            <a:chOff x="0" y="0"/>
            <a:chExt cx="812800" cy="812800"/>
          </a:xfrm>
        </p:grpSpPr>
        <p:sp>
          <p:nvSpPr>
            <p:cNvPr id="67" name="Google Shape;6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 name="Google Shape;69;p2"/>
          <p:cNvSpPr/>
          <p:nvPr/>
        </p:nvSpPr>
        <p:spPr>
          <a:xfrm>
            <a:off x="1028700" y="2184055"/>
            <a:ext cx="2066557" cy="2066548"/>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b="0" l="-78571" r="-25040" t="-2953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0" name="Google Shape;70;p2"/>
          <p:cNvGrpSpPr/>
          <p:nvPr/>
        </p:nvGrpSpPr>
        <p:grpSpPr>
          <a:xfrm>
            <a:off x="11059119" y="4362767"/>
            <a:ext cx="628051" cy="628051"/>
            <a:chOff x="0" y="0"/>
            <a:chExt cx="812800" cy="812800"/>
          </a:xfrm>
        </p:grpSpPr>
        <p:sp>
          <p:nvSpPr>
            <p:cNvPr id="71" name="Google Shape;71;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B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 name="Google Shape;73;p2"/>
          <p:cNvGrpSpPr/>
          <p:nvPr/>
        </p:nvGrpSpPr>
        <p:grpSpPr>
          <a:xfrm>
            <a:off x="11059119" y="5428943"/>
            <a:ext cx="628058" cy="628058"/>
            <a:chOff x="0" y="0"/>
            <a:chExt cx="812800" cy="812800"/>
          </a:xfrm>
        </p:grpSpPr>
        <p:sp>
          <p:nvSpPr>
            <p:cNvPr id="74" name="Google Shape;7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B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6" name="Google Shape;76;p2"/>
          <p:cNvGrpSpPr/>
          <p:nvPr/>
        </p:nvGrpSpPr>
        <p:grpSpPr>
          <a:xfrm>
            <a:off x="11059119" y="6553016"/>
            <a:ext cx="628051" cy="628051"/>
            <a:chOff x="0" y="0"/>
            <a:chExt cx="812800" cy="812800"/>
          </a:xfrm>
        </p:grpSpPr>
        <p:sp>
          <p:nvSpPr>
            <p:cNvPr id="77" name="Google Shape;7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B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9" name="Google Shape;79;p2"/>
          <p:cNvSpPr/>
          <p:nvPr/>
        </p:nvSpPr>
        <p:spPr>
          <a:xfrm rot="8635619">
            <a:off x="15793516" y="-1115440"/>
            <a:ext cx="3480371" cy="3480356"/>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24897" r="-2489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 name="Google Shape;80;p2"/>
          <p:cNvPicPr preferRelativeResize="0"/>
          <p:nvPr/>
        </p:nvPicPr>
        <p:blipFill rotWithShape="1">
          <a:blip r:embed="rId5">
            <a:alphaModFix/>
          </a:blip>
          <a:srcRect b="0" l="0" r="0" t="0"/>
          <a:stretch/>
        </p:blipFill>
        <p:spPr>
          <a:xfrm>
            <a:off x="2083250" y="3345339"/>
            <a:ext cx="8566100" cy="4795274"/>
          </a:xfrm>
          <a:prstGeom prst="rect">
            <a:avLst/>
          </a:prstGeom>
          <a:noFill/>
          <a:ln>
            <a:noFill/>
          </a:ln>
        </p:spPr>
      </p:pic>
      <p:grpSp>
        <p:nvGrpSpPr>
          <p:cNvPr id="81" name="Google Shape;81;p2"/>
          <p:cNvGrpSpPr/>
          <p:nvPr/>
        </p:nvGrpSpPr>
        <p:grpSpPr>
          <a:xfrm>
            <a:off x="11902627" y="7677100"/>
            <a:ext cx="5495249" cy="843609"/>
            <a:chOff x="-116200" y="12"/>
            <a:chExt cx="7326998" cy="1124812"/>
          </a:xfrm>
        </p:grpSpPr>
        <p:sp>
          <p:nvSpPr>
            <p:cNvPr id="82" name="Google Shape;82;p2"/>
            <p:cNvSpPr txBox="1"/>
            <p:nvPr/>
          </p:nvSpPr>
          <p:spPr>
            <a:xfrm>
              <a:off x="-2" y="12"/>
              <a:ext cx="7210800" cy="65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lang="en-US" sz="3200">
                  <a:latin typeface="Montserrat"/>
                  <a:ea typeface="Montserrat"/>
                  <a:cs typeface="Montserrat"/>
                  <a:sym typeface="Montserrat"/>
                </a:rPr>
                <a:t>Results</a:t>
              </a:r>
              <a:r>
                <a:rPr b="1" lang="en-US" sz="3200">
                  <a:latin typeface="Montserrat"/>
                  <a:ea typeface="Montserrat"/>
                  <a:cs typeface="Montserrat"/>
                  <a:sym typeface="Montserrat"/>
                </a:rPr>
                <a:t> and Conclusion</a:t>
              </a:r>
              <a:endParaRPr b="0" i="0" sz="1400" u="none" cap="none" strike="noStrike">
                <a:solidFill>
                  <a:srgbClr val="000000"/>
                </a:solidFill>
                <a:latin typeface="Arial"/>
                <a:ea typeface="Arial"/>
                <a:cs typeface="Arial"/>
                <a:sym typeface="Arial"/>
              </a:endParaRPr>
            </a:p>
          </p:txBody>
        </p:sp>
        <p:sp>
          <p:nvSpPr>
            <p:cNvPr id="83" name="Google Shape;83;p2"/>
            <p:cNvSpPr txBox="1"/>
            <p:nvPr/>
          </p:nvSpPr>
          <p:spPr>
            <a:xfrm>
              <a:off x="-116200" y="837424"/>
              <a:ext cx="4408200" cy="28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 name="Google Shape;84;p2"/>
          <p:cNvGrpSpPr/>
          <p:nvPr/>
        </p:nvGrpSpPr>
        <p:grpSpPr>
          <a:xfrm>
            <a:off x="11059119" y="7677092"/>
            <a:ext cx="628051" cy="628051"/>
            <a:chOff x="0" y="0"/>
            <a:chExt cx="812800" cy="812800"/>
          </a:xfrm>
        </p:grpSpPr>
        <p:sp>
          <p:nvSpPr>
            <p:cNvPr id="85" name="Google Shape;8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B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mc:AlternateContent>
    <mc:Choice Requires="p14">
      <p:transition spd="med">
        <p14:flip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1000"/>
                                        <p:tgtEl>
                                          <p:spTgt spid="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grpSp>
        <p:nvGrpSpPr>
          <p:cNvPr id="91" name="Google Shape;91;p3"/>
          <p:cNvGrpSpPr/>
          <p:nvPr/>
        </p:nvGrpSpPr>
        <p:grpSpPr>
          <a:xfrm>
            <a:off x="506525" y="570966"/>
            <a:ext cx="3086120" cy="3086120"/>
            <a:chOff x="0" y="0"/>
            <a:chExt cx="812800" cy="812800"/>
          </a:xfrm>
        </p:grpSpPr>
        <p:sp>
          <p:nvSpPr>
            <p:cNvPr id="92" name="Google Shape;9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4" name="Google Shape;94;p3"/>
          <p:cNvGrpSpPr/>
          <p:nvPr/>
        </p:nvGrpSpPr>
        <p:grpSpPr>
          <a:xfrm>
            <a:off x="826286" y="390139"/>
            <a:ext cx="3086120" cy="3266948"/>
            <a:chOff x="0" y="-47625"/>
            <a:chExt cx="812800" cy="860425"/>
          </a:xfrm>
        </p:grpSpPr>
        <p:sp>
          <p:nvSpPr>
            <p:cNvPr id="95" name="Google Shape;95;p3"/>
            <p:cNvSpPr/>
            <p:nvPr/>
          </p:nvSpPr>
          <p:spPr>
            <a:xfrm>
              <a:off x="0" y="0"/>
              <a:ext cx="47584" cy="812800"/>
            </a:xfrm>
            <a:custGeom>
              <a:rect b="b" l="l" r="r" t="t"/>
              <a:pathLst>
                <a:path extrusionOk="0" h="812800" w="47584">
                  <a:moveTo>
                    <a:pt x="0" y="0"/>
                  </a:moveTo>
                  <a:lnTo>
                    <a:pt x="47584" y="0"/>
                  </a:lnTo>
                  <a:lnTo>
                    <a:pt x="47584" y="812800"/>
                  </a:lnTo>
                  <a:lnTo>
                    <a:pt x="0" y="812800"/>
                  </a:lnTo>
                  <a:close/>
                </a:path>
              </a:pathLst>
            </a:custGeom>
            <a:solidFill>
              <a:srgbClr val="FFFFFF"/>
            </a:solidFill>
            <a:ln>
              <a:noFill/>
            </a:ln>
          </p:spPr>
        </p:sp>
        <p:sp>
          <p:nvSpPr>
            <p:cNvPr id="96" name="Google Shape;96;p3"/>
            <p:cNvSpPr txBox="1"/>
            <p:nvPr/>
          </p:nvSpPr>
          <p:spPr>
            <a:xfrm>
              <a:off x="0" y="-47625"/>
              <a:ext cx="81280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7" name="Google Shape;97;p3"/>
          <p:cNvSpPr txBox="1"/>
          <p:nvPr/>
        </p:nvSpPr>
        <p:spPr>
          <a:xfrm>
            <a:off x="1292707" y="1744483"/>
            <a:ext cx="7902600" cy="1385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9000"/>
              <a:buFont typeface="Arial"/>
              <a:buNone/>
            </a:pPr>
            <a:r>
              <a:rPr b="0" i="0" lang="en-US" sz="9000" u="none" cap="none" strike="noStrike">
                <a:solidFill>
                  <a:srgbClr val="1557FF"/>
                </a:solidFill>
                <a:latin typeface="Archivo Black"/>
                <a:ea typeface="Archivo Black"/>
                <a:cs typeface="Archivo Black"/>
                <a:sym typeface="Archivo Black"/>
              </a:rPr>
              <a:t>Introduction</a:t>
            </a:r>
            <a:endParaRPr b="0" i="0" sz="1400" u="none" cap="none" strike="noStrike">
              <a:solidFill>
                <a:srgbClr val="000000"/>
              </a:solidFill>
              <a:latin typeface="Arial"/>
              <a:ea typeface="Arial"/>
              <a:cs typeface="Arial"/>
              <a:sym typeface="Arial"/>
            </a:endParaRPr>
          </a:p>
        </p:txBody>
      </p:sp>
      <p:sp>
        <p:nvSpPr>
          <p:cNvPr id="98" name="Google Shape;98;p3"/>
          <p:cNvSpPr txBox="1"/>
          <p:nvPr/>
        </p:nvSpPr>
        <p:spPr>
          <a:xfrm>
            <a:off x="826274" y="4174175"/>
            <a:ext cx="10811100" cy="492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The goal of this project is to recognize PSL sign labels from video data using a model, devised for first iteration, combination of spatial-temporal feature extraction (3D Convolutional Neural Networks, 3D-CNN) and temporal sequence modeling (Long Short-Term Memory networks, LSTM). The system processes RGB video frames, extracts features through a 3D-CNN pipeline, and uses an LSTM to capture temporal dependencies, enabling accurate classification of gestures. The model has been trained on pre-processed videos as discussed in next slides.</a:t>
            </a:r>
            <a:endParaRPr b="0" i="0" sz="1400" u="none" cap="none" strike="noStrike">
              <a:solidFill>
                <a:srgbClr val="000000"/>
              </a:solidFill>
              <a:latin typeface="Arial"/>
              <a:ea typeface="Arial"/>
              <a:cs typeface="Arial"/>
              <a:sym typeface="Arial"/>
            </a:endParaRPr>
          </a:p>
        </p:txBody>
      </p:sp>
      <p:pic>
        <p:nvPicPr>
          <p:cNvPr id="99" name="Google Shape;99;p3"/>
          <p:cNvPicPr preferRelativeResize="0"/>
          <p:nvPr/>
        </p:nvPicPr>
        <p:blipFill rotWithShape="1">
          <a:blip r:embed="rId3">
            <a:alphaModFix/>
          </a:blip>
          <a:srcRect b="0" l="5589" r="0" t="0"/>
          <a:stretch/>
        </p:blipFill>
        <p:spPr>
          <a:xfrm>
            <a:off x="12399125" y="1215225"/>
            <a:ext cx="5157824" cy="6867975"/>
          </a:xfrm>
          <a:prstGeom prst="rect">
            <a:avLst/>
          </a:prstGeom>
          <a:noFill/>
          <a:ln>
            <a:noFill/>
          </a:ln>
        </p:spPr>
      </p:pic>
      <p:sp>
        <p:nvSpPr>
          <p:cNvPr id="100" name="Google Shape;100;p3"/>
          <p:cNvSpPr/>
          <p:nvPr/>
        </p:nvSpPr>
        <p:spPr>
          <a:xfrm>
            <a:off x="12249688" y="980813"/>
            <a:ext cx="5456700" cy="7336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pSp>
        <p:nvGrpSpPr>
          <p:cNvPr id="105" name="Google Shape;105;p4"/>
          <p:cNvGrpSpPr/>
          <p:nvPr/>
        </p:nvGrpSpPr>
        <p:grpSpPr>
          <a:xfrm>
            <a:off x="826275" y="512275"/>
            <a:ext cx="2201062" cy="2084426"/>
            <a:chOff x="0" y="0"/>
            <a:chExt cx="812800" cy="812800"/>
          </a:xfrm>
        </p:grpSpPr>
        <p:sp>
          <p:nvSpPr>
            <p:cNvPr id="106" name="Google Shape;106;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4"/>
          <p:cNvGrpSpPr/>
          <p:nvPr/>
        </p:nvGrpSpPr>
        <p:grpSpPr>
          <a:xfrm>
            <a:off x="999476" y="390149"/>
            <a:ext cx="3572548" cy="2206560"/>
            <a:chOff x="0" y="-47625"/>
            <a:chExt cx="812700" cy="860425"/>
          </a:xfrm>
        </p:grpSpPr>
        <p:sp>
          <p:nvSpPr>
            <p:cNvPr id="109" name="Google Shape;109;p4"/>
            <p:cNvSpPr/>
            <p:nvPr/>
          </p:nvSpPr>
          <p:spPr>
            <a:xfrm>
              <a:off x="0" y="0"/>
              <a:ext cx="47584" cy="812800"/>
            </a:xfrm>
            <a:custGeom>
              <a:rect b="b" l="l" r="r" t="t"/>
              <a:pathLst>
                <a:path extrusionOk="0" h="812800" w="47584">
                  <a:moveTo>
                    <a:pt x="0" y="0"/>
                  </a:moveTo>
                  <a:lnTo>
                    <a:pt x="47584" y="0"/>
                  </a:lnTo>
                  <a:lnTo>
                    <a:pt x="47584" y="812800"/>
                  </a:lnTo>
                  <a:lnTo>
                    <a:pt x="0" y="812800"/>
                  </a:lnTo>
                  <a:close/>
                </a:path>
              </a:pathLst>
            </a:custGeom>
            <a:solidFill>
              <a:srgbClr val="FFFFFF"/>
            </a:solidFill>
            <a:ln>
              <a:noFill/>
            </a:ln>
          </p:spPr>
        </p:sp>
        <p:sp>
          <p:nvSpPr>
            <p:cNvPr id="110" name="Google Shape;110;p4"/>
            <p:cNvSpPr txBox="1"/>
            <p:nvPr/>
          </p:nvSpPr>
          <p:spPr>
            <a:xfrm>
              <a:off x="0" y="-47625"/>
              <a:ext cx="812700" cy="860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4"/>
          <p:cNvSpPr txBox="1"/>
          <p:nvPr/>
        </p:nvSpPr>
        <p:spPr>
          <a:xfrm>
            <a:off x="1675031" y="1022184"/>
            <a:ext cx="12183000" cy="12777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9000"/>
              <a:buFont typeface="Arial"/>
              <a:buNone/>
            </a:pPr>
            <a:r>
              <a:rPr b="0" i="0" lang="en-US" sz="8300" u="none" cap="none" strike="noStrike">
                <a:solidFill>
                  <a:srgbClr val="1557FF"/>
                </a:solidFill>
                <a:latin typeface="Archivo Black"/>
                <a:ea typeface="Archivo Black"/>
                <a:cs typeface="Archivo Black"/>
                <a:sym typeface="Archivo Black"/>
              </a:rPr>
              <a:t>Literature Review</a:t>
            </a:r>
            <a:endParaRPr b="0" i="0" sz="700" u="none" cap="none" strike="noStrike">
              <a:solidFill>
                <a:srgbClr val="000000"/>
              </a:solidFill>
              <a:latin typeface="Arial"/>
              <a:ea typeface="Arial"/>
              <a:cs typeface="Arial"/>
              <a:sym typeface="Arial"/>
            </a:endParaRPr>
          </a:p>
        </p:txBody>
      </p:sp>
      <p:graphicFrame>
        <p:nvGraphicFramePr>
          <p:cNvPr id="112" name="Google Shape;112;p4"/>
          <p:cNvGraphicFramePr/>
          <p:nvPr/>
        </p:nvGraphicFramePr>
        <p:xfrm>
          <a:off x="643900" y="2944700"/>
          <a:ext cx="3000000" cy="3000000"/>
        </p:xfrm>
        <a:graphic>
          <a:graphicData uri="http://schemas.openxmlformats.org/drawingml/2006/table">
            <a:tbl>
              <a:tblPr>
                <a:noFill/>
                <a:tableStyleId>{F2FBF712-91FF-4E80-84D5-2AE46BE39E2F}</a:tableStyleId>
              </a:tblPr>
              <a:tblGrid>
                <a:gridCol w="4845200"/>
                <a:gridCol w="8859575"/>
                <a:gridCol w="3295425"/>
              </a:tblGrid>
              <a:tr h="662800">
                <a:tc>
                  <a:txBody>
                    <a:bodyPr/>
                    <a:lstStyle/>
                    <a:p>
                      <a:pPr indent="0" lvl="0" marL="0" marR="0" rtl="0" algn="ctr">
                        <a:lnSpc>
                          <a:spcPct val="100000"/>
                        </a:lnSpc>
                        <a:spcBef>
                          <a:spcPts val="0"/>
                        </a:spcBef>
                        <a:spcAft>
                          <a:spcPts val="0"/>
                        </a:spcAft>
                        <a:buClr>
                          <a:srgbClr val="000000"/>
                        </a:buClr>
                        <a:buSzPts val="3100"/>
                        <a:buFont typeface="Arial"/>
                        <a:buNone/>
                      </a:pPr>
                      <a:r>
                        <a:rPr b="1" lang="en-US" sz="3100" u="none" cap="none" strike="noStrike"/>
                        <a:t>Paper </a:t>
                      </a:r>
                      <a:endParaRPr b="1" sz="31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3100"/>
                        <a:buFont typeface="Arial"/>
                        <a:buNone/>
                      </a:pPr>
                      <a:r>
                        <a:rPr b="1" lang="en-US" sz="3100" u="none" cap="none" strike="noStrike"/>
                        <a:t>Work Done</a:t>
                      </a:r>
                      <a:endParaRPr b="1" sz="31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3100"/>
                        <a:buFont typeface="Arial"/>
                        <a:buNone/>
                      </a:pPr>
                      <a:r>
                        <a:rPr b="1" lang="en-US" sz="3100" u="none" cap="none" strike="noStrike"/>
                        <a:t>Year Released</a:t>
                      </a:r>
                      <a:endParaRPr b="1" sz="3100" u="none" cap="none" strike="noStrike"/>
                    </a:p>
                  </a:txBody>
                  <a:tcPr marT="91425" marB="91425" marR="91425" marL="91425"/>
                </a:tc>
              </a:tr>
              <a:tr h="3562825">
                <a:tc>
                  <a:txBody>
                    <a:bodyPr/>
                    <a:lstStyle/>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Pakistan Sign Language</a:t>
                      </a:r>
                      <a:endParaRPr b="1" sz="2600" u="none" cap="none" strike="noStrike"/>
                    </a:p>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Recognition: Leveraging</a:t>
                      </a:r>
                      <a:endParaRPr b="1" sz="2600" u="none" cap="none" strike="noStrike"/>
                    </a:p>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deep learning models with</a:t>
                      </a:r>
                      <a:endParaRPr b="1" sz="2600" u="none" cap="none" strike="noStrike"/>
                    </a:p>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limited dataset [1]</a:t>
                      </a:r>
                      <a:endParaRPr b="1" sz="2600" u="none" cap="none" strike="noStrike"/>
                    </a:p>
                    <a:p>
                      <a:pPr indent="0" lvl="0" marL="0" marR="0" rtl="0" algn="ctr">
                        <a:lnSpc>
                          <a:spcPct val="100000"/>
                        </a:lnSpc>
                        <a:spcBef>
                          <a:spcPts val="0"/>
                        </a:spcBef>
                        <a:spcAft>
                          <a:spcPts val="0"/>
                        </a:spcAft>
                        <a:buClr>
                          <a:srgbClr val="000000"/>
                        </a:buClr>
                        <a:buSzPts val="2900"/>
                        <a:buFont typeface="Arial"/>
                        <a:buNone/>
                      </a:pPr>
                      <a:r>
                        <a:t/>
                      </a:r>
                      <a:endParaRPr sz="29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proposed a real time system translation system that addresses the challenge of limited PSL dataset,incorporates a data augmentation unit, which synthetically generates new training samples while leaving the testing set unchanged. Tested three models on augmented PSL dataset. I3D model produced best top accuracy with 77.50.</a:t>
                      </a:r>
                      <a:endParaRPr sz="29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900"/>
                        <a:buFont typeface="Arial"/>
                        <a:buNone/>
                      </a:pPr>
                      <a:r>
                        <a:rPr lang="en-US" sz="2900" u="none" cap="none" strike="noStrike"/>
                        <a:t>2023</a:t>
                      </a:r>
                      <a:endParaRPr sz="2900" u="none" cap="none" strike="noStrike"/>
                    </a:p>
                  </a:txBody>
                  <a:tcPr marT="91425" marB="91425" marR="91425" marL="91425"/>
                </a:tc>
              </a:tr>
              <a:tr h="1428225">
                <a:tc>
                  <a:txBody>
                    <a:bodyPr/>
                    <a:lstStyle/>
                    <a:p>
                      <a:pPr indent="0" lvl="0" marL="0" marR="0" rtl="0" algn="ctr">
                        <a:lnSpc>
                          <a:spcPct val="100000"/>
                        </a:lnSpc>
                        <a:spcBef>
                          <a:spcPts val="0"/>
                        </a:spcBef>
                        <a:spcAft>
                          <a:spcPts val="0"/>
                        </a:spcAft>
                        <a:buClr>
                          <a:srgbClr val="000000"/>
                        </a:buClr>
                        <a:buSzPts val="2700"/>
                        <a:buFont typeface="Arial"/>
                        <a:buNone/>
                      </a:pPr>
                      <a:r>
                        <a:rPr b="1" lang="en-US" sz="2700" u="none" cap="none" strike="noStrike"/>
                        <a:t>Combining 3D-CNN and LSTM for Dynamic Hand Gestures Recognition [2]</a:t>
                      </a:r>
                      <a:endParaRPr b="1" sz="27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research highlighted the use of 3D-CNN for spatial feature extraction and LSTM for temporal learning in dynamic hand gesture classification. Achieved 97% testing accuracy on the 20BN-Jester dataset using a lightweight model with 3.7 million parameters. </a:t>
                      </a:r>
                      <a:endParaRPr sz="2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900"/>
                        <a:buFont typeface="Arial"/>
                        <a:buNone/>
                      </a:pPr>
                      <a:r>
                        <a:rPr lang="en-US" sz="2900" u="none" cap="none" strike="noStrike"/>
                        <a:t>2022</a:t>
                      </a:r>
                      <a:endParaRPr sz="2900" u="none" cap="none" strike="noStrike"/>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nvSpPr>
        <p:spPr>
          <a:xfrm>
            <a:off x="1847947" y="2059868"/>
            <a:ext cx="15557400" cy="215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500"/>
              <a:buFont typeface="Arial"/>
              <a:buNone/>
            </a:pPr>
            <a:r>
              <a:t/>
            </a:r>
            <a:endParaRPr b="0" i="0" sz="1400" u="none" cap="none" strike="noStrike">
              <a:solidFill>
                <a:srgbClr val="000000"/>
              </a:solidFill>
              <a:latin typeface="Arial"/>
              <a:ea typeface="Arial"/>
              <a:cs typeface="Arial"/>
              <a:sym typeface="Arial"/>
            </a:endParaRPr>
          </a:p>
        </p:txBody>
      </p:sp>
      <p:grpSp>
        <p:nvGrpSpPr>
          <p:cNvPr id="118" name="Google Shape;118;p5"/>
          <p:cNvGrpSpPr/>
          <p:nvPr/>
        </p:nvGrpSpPr>
        <p:grpSpPr>
          <a:xfrm>
            <a:off x="454300" y="512966"/>
            <a:ext cx="3086120" cy="3086120"/>
            <a:chOff x="0" y="0"/>
            <a:chExt cx="812800" cy="812800"/>
          </a:xfrm>
        </p:grpSpPr>
        <p:sp>
          <p:nvSpPr>
            <p:cNvPr id="119" name="Google Shape;119;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1" name="Google Shape;121;p5"/>
          <p:cNvGrpSpPr/>
          <p:nvPr/>
        </p:nvGrpSpPr>
        <p:grpSpPr>
          <a:xfrm>
            <a:off x="774061" y="332139"/>
            <a:ext cx="3085741" cy="3266948"/>
            <a:chOff x="0" y="-47625"/>
            <a:chExt cx="812700" cy="860425"/>
          </a:xfrm>
        </p:grpSpPr>
        <p:sp>
          <p:nvSpPr>
            <p:cNvPr id="122" name="Google Shape;122;p5"/>
            <p:cNvSpPr/>
            <p:nvPr/>
          </p:nvSpPr>
          <p:spPr>
            <a:xfrm>
              <a:off x="0" y="0"/>
              <a:ext cx="47584" cy="812800"/>
            </a:xfrm>
            <a:custGeom>
              <a:rect b="b" l="l" r="r" t="t"/>
              <a:pathLst>
                <a:path extrusionOk="0" h="812800" w="47584">
                  <a:moveTo>
                    <a:pt x="0" y="0"/>
                  </a:moveTo>
                  <a:lnTo>
                    <a:pt x="47584" y="0"/>
                  </a:lnTo>
                  <a:lnTo>
                    <a:pt x="47584" y="812800"/>
                  </a:lnTo>
                  <a:lnTo>
                    <a:pt x="0" y="812800"/>
                  </a:lnTo>
                  <a:close/>
                </a:path>
              </a:pathLst>
            </a:custGeom>
            <a:solidFill>
              <a:srgbClr val="FFFFFF"/>
            </a:solidFill>
            <a:ln>
              <a:noFill/>
            </a:ln>
          </p:spPr>
        </p:sp>
        <p:sp>
          <p:nvSpPr>
            <p:cNvPr id="123" name="Google Shape;123;p5"/>
            <p:cNvSpPr txBox="1"/>
            <p:nvPr/>
          </p:nvSpPr>
          <p:spPr>
            <a:xfrm>
              <a:off x="0" y="-47625"/>
              <a:ext cx="812700" cy="860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5"/>
          <p:cNvSpPr txBox="1"/>
          <p:nvPr/>
        </p:nvSpPr>
        <p:spPr>
          <a:xfrm>
            <a:off x="1240469" y="1686475"/>
            <a:ext cx="14190300" cy="1385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9000"/>
              <a:buFont typeface="Arial"/>
              <a:buNone/>
            </a:pPr>
            <a:r>
              <a:rPr b="0" i="0" lang="en-US" sz="9000" u="none" cap="none" strike="noStrike">
                <a:solidFill>
                  <a:srgbClr val="1557FF"/>
                </a:solidFill>
                <a:latin typeface="Archivo Black"/>
                <a:ea typeface="Archivo Black"/>
                <a:cs typeface="Archivo Black"/>
                <a:sym typeface="Archivo Black"/>
              </a:rPr>
              <a:t>GOALS OF FYP I</a:t>
            </a:r>
            <a:endParaRPr b="0" i="0" sz="1400" u="none" cap="none" strike="noStrike">
              <a:solidFill>
                <a:srgbClr val="000000"/>
              </a:solidFill>
              <a:latin typeface="Arial"/>
              <a:ea typeface="Arial"/>
              <a:cs typeface="Arial"/>
              <a:sym typeface="Arial"/>
            </a:endParaRPr>
          </a:p>
        </p:txBody>
      </p:sp>
      <p:pic>
        <p:nvPicPr>
          <p:cNvPr id="125" name="Google Shape;125;p5"/>
          <p:cNvPicPr preferRelativeResize="0"/>
          <p:nvPr/>
        </p:nvPicPr>
        <p:blipFill rotWithShape="1">
          <a:blip r:embed="rId3">
            <a:alphaModFix/>
          </a:blip>
          <a:srcRect b="0" l="0" r="0" t="0"/>
          <a:stretch/>
        </p:blipFill>
        <p:spPr>
          <a:xfrm>
            <a:off x="4284876" y="3703527"/>
            <a:ext cx="10318005" cy="6187125"/>
          </a:xfrm>
          <a:prstGeom prst="rect">
            <a:avLst/>
          </a:prstGeom>
          <a:noFill/>
          <a:ln>
            <a:noFill/>
          </a:ln>
        </p:spPr>
      </p:pic>
      <p:sp>
        <p:nvSpPr>
          <p:cNvPr id="126" name="Google Shape;126;p5"/>
          <p:cNvSpPr/>
          <p:nvPr/>
        </p:nvSpPr>
        <p:spPr>
          <a:xfrm>
            <a:off x="11364375" y="8891300"/>
            <a:ext cx="3238500" cy="894900"/>
          </a:xfrm>
          <a:prstGeom prst="rect">
            <a:avLst/>
          </a:prstGeom>
          <a:solidFill>
            <a:srgbClr val="99C0F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nvSpPr>
        <p:spPr>
          <a:xfrm>
            <a:off x="687529" y="1110300"/>
            <a:ext cx="10154700" cy="23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7500" u="none" cap="none" strike="noStrike">
                <a:solidFill>
                  <a:srgbClr val="1557FF"/>
                </a:solidFill>
                <a:latin typeface="Archivo Black"/>
                <a:ea typeface="Archivo Black"/>
                <a:cs typeface="Archivo Black"/>
                <a:sym typeface="Archivo Black"/>
              </a:rPr>
              <a:t>GOAL 1:</a:t>
            </a:r>
            <a:endParaRPr b="0" i="0" sz="7500" u="none" cap="none" strike="noStrike">
              <a:solidFill>
                <a:srgbClr val="1557FF"/>
              </a:solidFill>
              <a:latin typeface="Archivo Black"/>
              <a:ea typeface="Archivo Black"/>
              <a:cs typeface="Archivo Black"/>
              <a:sym typeface="Archivo Black"/>
            </a:endParaRPr>
          </a:p>
          <a:p>
            <a:pPr indent="0" lvl="0" marL="0" marR="0" rtl="0" algn="l">
              <a:lnSpc>
                <a:spcPct val="100000"/>
              </a:lnSpc>
              <a:spcBef>
                <a:spcPts val="0"/>
              </a:spcBef>
              <a:spcAft>
                <a:spcPts val="0"/>
              </a:spcAft>
              <a:buClr>
                <a:srgbClr val="000000"/>
              </a:buClr>
              <a:buSzPts val="7500"/>
              <a:buFont typeface="Arial"/>
              <a:buNone/>
            </a:pPr>
            <a:r>
              <a:rPr b="0" i="0" lang="en-US" sz="7500" u="none" cap="none" strike="noStrike">
                <a:solidFill>
                  <a:srgbClr val="1557FF"/>
                </a:solidFill>
                <a:latin typeface="Archivo Black"/>
                <a:ea typeface="Archivo Black"/>
                <a:cs typeface="Archivo Black"/>
                <a:sym typeface="Archivo Black"/>
              </a:rPr>
              <a:t>DATA COLLECTION </a:t>
            </a:r>
            <a:endParaRPr b="0" i="0" sz="1400" u="none" cap="none" strike="noStrike">
              <a:solidFill>
                <a:srgbClr val="000000"/>
              </a:solidFill>
              <a:latin typeface="Arial"/>
              <a:ea typeface="Arial"/>
              <a:cs typeface="Arial"/>
              <a:sym typeface="Arial"/>
            </a:endParaRPr>
          </a:p>
        </p:txBody>
      </p:sp>
      <p:sp>
        <p:nvSpPr>
          <p:cNvPr id="132" name="Google Shape;132;p6"/>
          <p:cNvSpPr txBox="1"/>
          <p:nvPr/>
        </p:nvSpPr>
        <p:spPr>
          <a:xfrm>
            <a:off x="948625" y="3983725"/>
            <a:ext cx="8979600" cy="3771000"/>
          </a:xfrm>
          <a:prstGeom prst="rect">
            <a:avLst/>
          </a:prstGeom>
          <a:noFill/>
          <a:ln>
            <a:noFill/>
          </a:ln>
        </p:spPr>
        <p:txBody>
          <a:bodyPr anchorCtr="0" anchor="t" bIns="0" lIns="0" spcFirstLastPara="1" rIns="0" wrap="square" tIns="0">
            <a:spAutoFit/>
          </a:bodyPr>
          <a:lstStyle/>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We contacted the NGO Deaf Reach Program for dataset collection.</a:t>
            </a:r>
            <a:endParaRPr b="0" i="0" sz="35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They provided us with a comprehensive dataset.</a:t>
            </a:r>
            <a:endParaRPr b="0" i="0" sz="35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This collaboration was crucial for our project.</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00000"/>
              </a:solidFill>
              <a:latin typeface="Arial"/>
              <a:ea typeface="Arial"/>
              <a:cs typeface="Arial"/>
              <a:sym typeface="Arial"/>
            </a:endParaRPr>
          </a:p>
        </p:txBody>
      </p:sp>
      <p:pic>
        <p:nvPicPr>
          <p:cNvPr id="133" name="Google Shape;133;p6" title="able_1623416971_70330_urdu.mp4">
            <a:hlinkClick r:id="rId3"/>
          </p:cNvPr>
          <p:cNvPicPr preferRelativeResize="0"/>
          <p:nvPr/>
        </p:nvPicPr>
        <p:blipFill rotWithShape="1">
          <a:blip r:embed="rId4">
            <a:alphaModFix/>
          </a:blip>
          <a:srcRect b="0" l="0" r="0" t="0"/>
          <a:stretch/>
        </p:blipFill>
        <p:spPr>
          <a:xfrm>
            <a:off x="9928225" y="3754275"/>
            <a:ext cx="8054976" cy="4530924"/>
          </a:xfrm>
          <a:prstGeom prst="rect">
            <a:avLst/>
          </a:prstGeom>
          <a:noFill/>
          <a:ln>
            <a:noFill/>
          </a:ln>
          <a:effectLst>
            <a:outerShdw blurRad="471488" rotWithShape="0" algn="bl" dir="5400000" dist="19050">
              <a:srgbClr val="000000">
                <a:alpha val="49803"/>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nvSpPr>
        <p:spPr>
          <a:xfrm>
            <a:off x="750897" y="520525"/>
            <a:ext cx="16786200" cy="318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GOAL 2a:</a:t>
            </a:r>
            <a:endParaRPr b="0" i="0" sz="6900" u="none" cap="none" strike="noStrike">
              <a:solidFill>
                <a:srgbClr val="1557FF"/>
              </a:solidFill>
              <a:latin typeface="Archivo Black"/>
              <a:ea typeface="Archivo Black"/>
              <a:cs typeface="Archivo Black"/>
              <a:sym typeface="Archivo Black"/>
            </a:endParaRPr>
          </a:p>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Divide Video into Muted Video and audio  </a:t>
            </a:r>
            <a:endParaRPr b="0" i="0" sz="800" u="none" cap="none" strike="noStrike">
              <a:solidFill>
                <a:srgbClr val="000000"/>
              </a:solidFill>
              <a:latin typeface="Arial"/>
              <a:ea typeface="Arial"/>
              <a:cs typeface="Arial"/>
              <a:sym typeface="Arial"/>
            </a:endParaRPr>
          </a:p>
        </p:txBody>
      </p:sp>
      <p:pic>
        <p:nvPicPr>
          <p:cNvPr id="139" name="Google Shape;139;p7" title="able_1623416971_70330_urdu.mp4">
            <a:hlinkClick r:id="rId3"/>
          </p:cNvPr>
          <p:cNvPicPr preferRelativeResize="0"/>
          <p:nvPr/>
        </p:nvPicPr>
        <p:blipFill rotWithShape="1">
          <a:blip r:embed="rId4">
            <a:alphaModFix/>
          </a:blip>
          <a:srcRect b="0" l="0" r="0" t="0"/>
          <a:stretch/>
        </p:blipFill>
        <p:spPr>
          <a:xfrm>
            <a:off x="894475" y="4609400"/>
            <a:ext cx="6998874" cy="3936875"/>
          </a:xfrm>
          <a:prstGeom prst="rect">
            <a:avLst/>
          </a:prstGeom>
          <a:noFill/>
          <a:ln>
            <a:noFill/>
          </a:ln>
          <a:effectLst>
            <a:outerShdw blurRad="471488" rotWithShape="0" algn="bl" dir="5400000" dist="19050">
              <a:srgbClr val="000000">
                <a:alpha val="49803"/>
              </a:srgbClr>
            </a:outerShdw>
          </a:effectLst>
        </p:spPr>
      </p:pic>
      <p:sp>
        <p:nvSpPr>
          <p:cNvPr id="140" name="Google Shape;140;p7"/>
          <p:cNvSpPr/>
          <p:nvPr/>
        </p:nvSpPr>
        <p:spPr>
          <a:xfrm rot="-1516763">
            <a:off x="8179087" y="5314215"/>
            <a:ext cx="2349939" cy="67890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7"/>
          <p:cNvSpPr/>
          <p:nvPr/>
        </p:nvSpPr>
        <p:spPr>
          <a:xfrm rot="1196174">
            <a:off x="8179110" y="7181251"/>
            <a:ext cx="2350031" cy="67872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 name="Google Shape;142;p7" title="able.mp3">
            <a:hlinkClick r:id="rId5"/>
          </p:cNvPr>
          <p:cNvPicPr preferRelativeResize="0"/>
          <p:nvPr/>
        </p:nvPicPr>
        <p:blipFill rotWithShape="1">
          <a:blip r:embed="rId6">
            <a:alphaModFix/>
          </a:blip>
          <a:srcRect b="0" l="0" r="0" t="0"/>
          <a:stretch/>
        </p:blipFill>
        <p:spPr>
          <a:xfrm>
            <a:off x="10814890" y="7510725"/>
            <a:ext cx="1617300" cy="1617300"/>
          </a:xfrm>
          <a:prstGeom prst="rect">
            <a:avLst/>
          </a:prstGeom>
          <a:noFill/>
          <a:ln>
            <a:noFill/>
          </a:ln>
        </p:spPr>
      </p:pic>
      <p:pic>
        <p:nvPicPr>
          <p:cNvPr id="143" name="Google Shape;143;p7" title="able.mp4">
            <a:hlinkClick r:id="rId7"/>
          </p:cNvPr>
          <p:cNvPicPr preferRelativeResize="0"/>
          <p:nvPr/>
        </p:nvPicPr>
        <p:blipFill rotWithShape="1">
          <a:blip r:embed="rId8">
            <a:alphaModFix/>
          </a:blip>
          <a:srcRect b="0" l="0" r="0" t="0"/>
          <a:stretch/>
        </p:blipFill>
        <p:spPr>
          <a:xfrm>
            <a:off x="10814890" y="3429000"/>
            <a:ext cx="5788835" cy="32562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nvSpPr>
        <p:spPr>
          <a:xfrm>
            <a:off x="803124" y="3550350"/>
            <a:ext cx="9229500" cy="318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GOAL 2b:</a:t>
            </a:r>
            <a:endParaRPr b="0" i="0" sz="6900" u="none" cap="none" strike="noStrike">
              <a:solidFill>
                <a:srgbClr val="1557FF"/>
              </a:solidFill>
              <a:latin typeface="Archivo Black"/>
              <a:ea typeface="Archivo Black"/>
              <a:cs typeface="Archivo Black"/>
              <a:sym typeface="Archivo Black"/>
            </a:endParaRPr>
          </a:p>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Crop Video to focus on person  </a:t>
            </a:r>
            <a:endParaRPr b="0" i="0" sz="800" u="none" cap="none" strike="noStrike">
              <a:solidFill>
                <a:srgbClr val="000000"/>
              </a:solidFill>
              <a:latin typeface="Arial"/>
              <a:ea typeface="Arial"/>
              <a:cs typeface="Arial"/>
              <a:sym typeface="Arial"/>
            </a:endParaRPr>
          </a:p>
        </p:txBody>
      </p:sp>
      <p:pic>
        <p:nvPicPr>
          <p:cNvPr id="149" name="Google Shape;149;p8"/>
          <p:cNvPicPr preferRelativeResize="0"/>
          <p:nvPr/>
        </p:nvPicPr>
        <p:blipFill rotWithShape="1">
          <a:blip r:embed="rId3">
            <a:alphaModFix/>
          </a:blip>
          <a:srcRect b="0" l="0" r="0" t="0"/>
          <a:stretch/>
        </p:blipFill>
        <p:spPr>
          <a:xfrm>
            <a:off x="9849950" y="1392163"/>
            <a:ext cx="7063201" cy="7084925"/>
          </a:xfrm>
          <a:prstGeom prst="rect">
            <a:avLst/>
          </a:prstGeom>
          <a:noFill/>
          <a:ln>
            <a:noFill/>
          </a:ln>
          <a:effectLst>
            <a:outerShdw blurRad="471488" rotWithShape="0" algn="bl" dir="5400000" dist="1905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nvSpPr>
        <p:spPr>
          <a:xfrm>
            <a:off x="777024" y="808875"/>
            <a:ext cx="9229500" cy="424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GOAL 2c:</a:t>
            </a:r>
            <a:endParaRPr b="0" i="0" sz="6900" u="none" cap="none" strike="noStrike">
              <a:solidFill>
                <a:srgbClr val="1557FF"/>
              </a:solidFill>
              <a:latin typeface="Archivo Black"/>
              <a:ea typeface="Archivo Black"/>
              <a:cs typeface="Archivo Black"/>
              <a:sym typeface="Archivo Black"/>
            </a:endParaRPr>
          </a:p>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Segmented Video Using Pre-trained Model  </a:t>
            </a:r>
            <a:endParaRPr b="0" i="0" sz="800" u="none" cap="none" strike="noStrike">
              <a:solidFill>
                <a:srgbClr val="000000"/>
              </a:solidFill>
              <a:latin typeface="Arial"/>
              <a:ea typeface="Arial"/>
              <a:cs typeface="Arial"/>
              <a:sym typeface="Arial"/>
            </a:endParaRPr>
          </a:p>
        </p:txBody>
      </p:sp>
      <p:sp>
        <p:nvSpPr>
          <p:cNvPr id="155" name="Google Shape;155;p9"/>
          <p:cNvSpPr txBox="1"/>
          <p:nvPr/>
        </p:nvSpPr>
        <p:spPr>
          <a:xfrm>
            <a:off x="942900" y="5665575"/>
            <a:ext cx="7258200" cy="3994800"/>
          </a:xfrm>
          <a:prstGeom prst="rect">
            <a:avLst/>
          </a:prstGeom>
          <a:noFill/>
          <a:ln>
            <a:noFill/>
          </a:ln>
        </p:spPr>
        <p:txBody>
          <a:bodyPr anchorCtr="0" anchor="t" bIns="91425" lIns="91425" spcFirstLastPara="1" rIns="91425" wrap="square" tIns="91425">
            <a:noAutofit/>
          </a:bodyPr>
          <a:lstStyle/>
          <a:p>
            <a:pPr indent="-431800" lvl="0" marL="457200" marR="0" rtl="0" algn="l">
              <a:lnSpc>
                <a:spcPct val="100000"/>
              </a:lnSpc>
              <a:spcBef>
                <a:spcPts val="0"/>
              </a:spcBef>
              <a:spcAft>
                <a:spcPts val="0"/>
              </a:spcAft>
              <a:buClr>
                <a:schemeClr val="accent3"/>
              </a:buClr>
              <a:buSzPts val="3200"/>
              <a:buFont typeface="Arial"/>
              <a:buChar char="●"/>
            </a:pPr>
            <a:r>
              <a:rPr b="0" i="0" lang="en-US" sz="3200" u="none" cap="none" strike="noStrike">
                <a:solidFill>
                  <a:schemeClr val="accent3"/>
                </a:solidFill>
                <a:latin typeface="Arial"/>
                <a:ea typeface="Arial"/>
                <a:cs typeface="Arial"/>
                <a:sym typeface="Arial"/>
              </a:rPr>
              <a:t>Changed Model from SAM-2 to Yolo11-seg.</a:t>
            </a:r>
            <a:endParaRPr b="0" i="0" sz="3200" u="none" cap="none" strike="noStrike">
              <a:solidFill>
                <a:schemeClr val="accent3"/>
              </a:solidFill>
              <a:latin typeface="Arial"/>
              <a:ea typeface="Arial"/>
              <a:cs typeface="Arial"/>
              <a:sym typeface="Arial"/>
            </a:endParaRPr>
          </a:p>
          <a:p>
            <a:pPr indent="-431800" lvl="0" marL="457200" marR="0" rtl="0" algn="l">
              <a:lnSpc>
                <a:spcPct val="100000"/>
              </a:lnSpc>
              <a:spcBef>
                <a:spcPts val="0"/>
              </a:spcBef>
              <a:spcAft>
                <a:spcPts val="0"/>
              </a:spcAft>
              <a:buClr>
                <a:schemeClr val="accent3"/>
              </a:buClr>
              <a:buSzPts val="3200"/>
              <a:buFont typeface="Arial"/>
              <a:buChar char="●"/>
            </a:pPr>
            <a:r>
              <a:rPr b="0" i="0" lang="en-US" sz="3200" u="none" cap="none" strike="noStrike">
                <a:solidFill>
                  <a:schemeClr val="accent3"/>
                </a:solidFill>
                <a:latin typeface="Arial"/>
                <a:ea typeface="Arial"/>
                <a:cs typeface="Arial"/>
                <a:sym typeface="Arial"/>
              </a:rPr>
              <a:t>Efficient dynamic segmentation model: Yolo11-seg [4].</a:t>
            </a:r>
            <a:endParaRPr b="0" i="0" sz="3200" u="none" cap="none" strike="noStrike">
              <a:solidFill>
                <a:schemeClr val="accent3"/>
              </a:solidFill>
              <a:latin typeface="Arial"/>
              <a:ea typeface="Arial"/>
              <a:cs typeface="Arial"/>
              <a:sym typeface="Arial"/>
            </a:endParaRPr>
          </a:p>
        </p:txBody>
      </p:sp>
      <p:pic>
        <p:nvPicPr>
          <p:cNvPr id="156" name="Google Shape;156;p9"/>
          <p:cNvPicPr preferRelativeResize="0"/>
          <p:nvPr/>
        </p:nvPicPr>
        <p:blipFill rotWithShape="1">
          <a:blip r:embed="rId3">
            <a:alphaModFix/>
          </a:blip>
          <a:srcRect b="0" l="0" r="0" t="0"/>
          <a:stretch/>
        </p:blipFill>
        <p:spPr>
          <a:xfrm>
            <a:off x="10323500" y="1605551"/>
            <a:ext cx="7021000" cy="7075876"/>
          </a:xfrm>
          <a:prstGeom prst="rect">
            <a:avLst/>
          </a:prstGeom>
          <a:noFill/>
          <a:ln>
            <a:noFill/>
          </a:ln>
          <a:effectLst>
            <a:outerShdw blurRad="471488" rotWithShape="0" algn="bl" dir="5400000" dist="1905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nvSpPr>
        <p:spPr>
          <a:xfrm>
            <a:off x="777024" y="808875"/>
            <a:ext cx="9229500" cy="424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GOAL 2d:</a:t>
            </a:r>
            <a:endParaRPr b="0" i="0" sz="6900" u="none" cap="none" strike="noStrike">
              <a:solidFill>
                <a:srgbClr val="1557FF"/>
              </a:solidFill>
              <a:latin typeface="Archivo Black"/>
              <a:ea typeface="Archivo Black"/>
              <a:cs typeface="Archivo Black"/>
              <a:sym typeface="Archivo Black"/>
            </a:endParaRPr>
          </a:p>
          <a:p>
            <a:pPr indent="0" lvl="0" marL="0" marR="0" rtl="0" algn="l">
              <a:lnSpc>
                <a:spcPct val="100000"/>
              </a:lnSpc>
              <a:spcBef>
                <a:spcPts val="0"/>
              </a:spcBef>
              <a:spcAft>
                <a:spcPts val="0"/>
              </a:spcAft>
              <a:buClr>
                <a:srgbClr val="000000"/>
              </a:buClr>
              <a:buSzPts val="7500"/>
              <a:buFont typeface="Arial"/>
              <a:buNone/>
            </a:pPr>
            <a:r>
              <a:rPr b="0" i="0" lang="en-US" sz="6900" u="none" cap="none" strike="noStrike">
                <a:solidFill>
                  <a:srgbClr val="1557FF"/>
                </a:solidFill>
                <a:latin typeface="Archivo Black"/>
                <a:ea typeface="Archivo Black"/>
                <a:cs typeface="Archivo Black"/>
                <a:sym typeface="Archivo Black"/>
              </a:rPr>
              <a:t>Pre-trained model to focus on Hand Movements</a:t>
            </a:r>
            <a:endParaRPr b="0" i="0" sz="6900" u="none" cap="none" strike="noStrike">
              <a:solidFill>
                <a:srgbClr val="1557FF"/>
              </a:solidFill>
              <a:latin typeface="Archivo Black"/>
              <a:ea typeface="Archivo Black"/>
              <a:cs typeface="Archivo Black"/>
              <a:sym typeface="Archivo Black"/>
            </a:endParaRPr>
          </a:p>
        </p:txBody>
      </p:sp>
      <p:sp>
        <p:nvSpPr>
          <p:cNvPr id="162" name="Google Shape;162;p10"/>
          <p:cNvSpPr txBox="1"/>
          <p:nvPr/>
        </p:nvSpPr>
        <p:spPr>
          <a:xfrm>
            <a:off x="942900" y="5352275"/>
            <a:ext cx="7258200" cy="3994800"/>
          </a:xfrm>
          <a:prstGeom prst="rect">
            <a:avLst/>
          </a:prstGeom>
          <a:noFill/>
          <a:ln>
            <a:noFill/>
          </a:ln>
        </p:spPr>
        <p:txBody>
          <a:bodyPr anchorCtr="0" anchor="t" bIns="91425" lIns="91425" spcFirstLastPara="1" rIns="91425" wrap="square" tIns="91425">
            <a:noAutofit/>
          </a:bodyPr>
          <a:lstStyle/>
          <a:p>
            <a:pPr indent="-431800" lvl="0" marL="457200" marR="0" rtl="0" algn="l">
              <a:lnSpc>
                <a:spcPct val="100000"/>
              </a:lnSpc>
              <a:spcBef>
                <a:spcPts val="0"/>
              </a:spcBef>
              <a:spcAft>
                <a:spcPts val="0"/>
              </a:spcAft>
              <a:buClr>
                <a:schemeClr val="accent3"/>
              </a:buClr>
              <a:buSzPts val="3200"/>
              <a:buFont typeface="Arial"/>
              <a:buChar char="●"/>
            </a:pPr>
            <a:r>
              <a:rPr b="0" i="0" lang="en-US" sz="3200" u="none" cap="none" strike="noStrike">
                <a:solidFill>
                  <a:schemeClr val="accent3"/>
                </a:solidFill>
                <a:latin typeface="Arial"/>
                <a:ea typeface="Arial"/>
                <a:cs typeface="Arial"/>
                <a:sym typeface="Arial"/>
              </a:rPr>
              <a:t>Used Mediaipe by Google [3]</a:t>
            </a:r>
            <a:endParaRPr b="0" i="0" sz="3200" u="none" cap="none" strike="noStrike">
              <a:solidFill>
                <a:schemeClr val="accent3"/>
              </a:solidFill>
              <a:latin typeface="Arial"/>
              <a:ea typeface="Arial"/>
              <a:cs typeface="Arial"/>
              <a:sym typeface="Arial"/>
            </a:endParaRPr>
          </a:p>
          <a:p>
            <a:pPr indent="-431800" lvl="0" marL="457200" marR="0" rtl="0" algn="l">
              <a:lnSpc>
                <a:spcPct val="100000"/>
              </a:lnSpc>
              <a:spcBef>
                <a:spcPts val="0"/>
              </a:spcBef>
              <a:spcAft>
                <a:spcPts val="0"/>
              </a:spcAft>
              <a:buClr>
                <a:schemeClr val="accent3"/>
              </a:buClr>
              <a:buSzPts val="3200"/>
              <a:buFont typeface="Arial"/>
              <a:buChar char="●"/>
            </a:pPr>
            <a:r>
              <a:rPr b="0" i="0" lang="en-US" sz="3200" u="none" cap="none" strike="noStrike">
                <a:solidFill>
                  <a:schemeClr val="accent3"/>
                </a:solidFill>
                <a:latin typeface="Arial"/>
                <a:ea typeface="Arial"/>
                <a:cs typeface="Arial"/>
                <a:sym typeface="Arial"/>
              </a:rPr>
              <a:t>Recognize hand gestures in real time, and provides the recognized the landmarks of the detected hands.</a:t>
            </a:r>
            <a:endParaRPr b="0" i="0" sz="3200" u="none" cap="none" strike="noStrike">
              <a:solidFill>
                <a:schemeClr val="accent3"/>
              </a:solidFill>
              <a:latin typeface="Arial"/>
              <a:ea typeface="Arial"/>
              <a:cs typeface="Arial"/>
              <a:sym typeface="Arial"/>
            </a:endParaRPr>
          </a:p>
        </p:txBody>
      </p:sp>
      <p:pic>
        <p:nvPicPr>
          <p:cNvPr id="163" name="Google Shape;163;p10"/>
          <p:cNvPicPr preferRelativeResize="0"/>
          <p:nvPr/>
        </p:nvPicPr>
        <p:blipFill rotWithShape="1">
          <a:blip r:embed="rId3">
            <a:alphaModFix/>
          </a:blip>
          <a:srcRect b="0" l="0" r="0" t="0"/>
          <a:stretch/>
        </p:blipFill>
        <p:spPr>
          <a:xfrm>
            <a:off x="10572600" y="1890350"/>
            <a:ext cx="6689300" cy="6506299"/>
          </a:xfrm>
          <a:prstGeom prst="rect">
            <a:avLst/>
          </a:prstGeom>
          <a:noFill/>
          <a:ln>
            <a:noFill/>
          </a:ln>
          <a:effectLst>
            <a:outerShdw blurRad="471488" rotWithShape="0" algn="bl" dir="5400000" dist="1905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nvSpPr>
        <p:spPr>
          <a:xfrm>
            <a:off x="626950" y="600000"/>
            <a:ext cx="17088300" cy="184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500"/>
              <a:buFont typeface="Arial"/>
              <a:buNone/>
            </a:pPr>
            <a:r>
              <a:rPr b="0" i="0" lang="en-US" sz="6000" u="none" cap="none" strike="noStrike">
                <a:solidFill>
                  <a:srgbClr val="1557FF"/>
                </a:solidFill>
                <a:latin typeface="Archivo Black"/>
                <a:ea typeface="Archivo Black"/>
                <a:cs typeface="Archivo Black"/>
                <a:sym typeface="Archivo Black"/>
              </a:rPr>
              <a:t>GOAL 2d:</a:t>
            </a:r>
            <a:endParaRPr b="0" i="0" sz="6000" u="none" cap="none" strike="noStrike">
              <a:solidFill>
                <a:srgbClr val="1557FF"/>
              </a:solidFill>
              <a:latin typeface="Archivo Black"/>
              <a:ea typeface="Archivo Black"/>
              <a:cs typeface="Archivo Black"/>
              <a:sym typeface="Archivo Black"/>
            </a:endParaRPr>
          </a:p>
          <a:p>
            <a:pPr indent="0" lvl="0" marL="0" marR="0" rtl="0" algn="ctr">
              <a:lnSpc>
                <a:spcPct val="100000"/>
              </a:lnSpc>
              <a:spcBef>
                <a:spcPts val="0"/>
              </a:spcBef>
              <a:spcAft>
                <a:spcPts val="0"/>
              </a:spcAft>
              <a:buClr>
                <a:srgbClr val="000000"/>
              </a:buClr>
              <a:buSzPts val="7500"/>
              <a:buFont typeface="Arial"/>
              <a:buNone/>
            </a:pPr>
            <a:r>
              <a:rPr b="0" i="0" lang="en-US" sz="6000" u="none" cap="none" strike="noStrike">
                <a:solidFill>
                  <a:srgbClr val="1557FF"/>
                </a:solidFill>
                <a:latin typeface="Archivo Black"/>
                <a:ea typeface="Archivo Black"/>
                <a:cs typeface="Archivo Black"/>
                <a:sym typeface="Archivo Black"/>
              </a:rPr>
              <a:t>Augmentation of Videos</a:t>
            </a:r>
            <a:endParaRPr b="0" i="0" sz="6000" u="none" cap="none" strike="noStrike">
              <a:solidFill>
                <a:srgbClr val="1557FF"/>
              </a:solidFill>
              <a:latin typeface="Archivo Black"/>
              <a:ea typeface="Archivo Black"/>
              <a:cs typeface="Archivo Black"/>
              <a:sym typeface="Archivo Black"/>
            </a:endParaRPr>
          </a:p>
        </p:txBody>
      </p:sp>
      <p:pic>
        <p:nvPicPr>
          <p:cNvPr id="169" name="Google Shape;169;p11"/>
          <p:cNvPicPr preferRelativeResize="0"/>
          <p:nvPr/>
        </p:nvPicPr>
        <p:blipFill rotWithShape="1">
          <a:blip r:embed="rId3">
            <a:alphaModFix/>
          </a:blip>
          <a:srcRect b="0" l="0" r="0" t="0"/>
          <a:stretch/>
        </p:blipFill>
        <p:spPr>
          <a:xfrm>
            <a:off x="866038" y="3571175"/>
            <a:ext cx="3901350" cy="3099077"/>
          </a:xfrm>
          <a:prstGeom prst="rect">
            <a:avLst/>
          </a:prstGeom>
          <a:noFill/>
          <a:ln>
            <a:noFill/>
          </a:ln>
        </p:spPr>
      </p:pic>
      <p:pic>
        <p:nvPicPr>
          <p:cNvPr id="170" name="Google Shape;170;p11"/>
          <p:cNvPicPr preferRelativeResize="0"/>
          <p:nvPr/>
        </p:nvPicPr>
        <p:blipFill rotWithShape="1">
          <a:blip r:embed="rId4">
            <a:alphaModFix/>
          </a:blip>
          <a:srcRect b="0" l="0" r="0" t="0"/>
          <a:stretch/>
        </p:blipFill>
        <p:spPr>
          <a:xfrm>
            <a:off x="4767387" y="3616750"/>
            <a:ext cx="4094230" cy="3099075"/>
          </a:xfrm>
          <a:prstGeom prst="rect">
            <a:avLst/>
          </a:prstGeom>
          <a:noFill/>
          <a:ln>
            <a:noFill/>
          </a:ln>
        </p:spPr>
      </p:pic>
      <p:pic>
        <p:nvPicPr>
          <p:cNvPr id="171" name="Google Shape;171;p11"/>
          <p:cNvPicPr preferRelativeResize="0"/>
          <p:nvPr/>
        </p:nvPicPr>
        <p:blipFill rotWithShape="1">
          <a:blip r:embed="rId5">
            <a:alphaModFix/>
          </a:blip>
          <a:srcRect b="0" l="14310" r="0" t="0"/>
          <a:stretch/>
        </p:blipFill>
        <p:spPr>
          <a:xfrm>
            <a:off x="8861613" y="3571173"/>
            <a:ext cx="3901350" cy="3099077"/>
          </a:xfrm>
          <a:prstGeom prst="rect">
            <a:avLst/>
          </a:prstGeom>
          <a:noFill/>
          <a:ln>
            <a:noFill/>
          </a:ln>
        </p:spPr>
      </p:pic>
      <p:pic>
        <p:nvPicPr>
          <p:cNvPr id="172" name="Google Shape;172;p11"/>
          <p:cNvPicPr preferRelativeResize="0"/>
          <p:nvPr/>
        </p:nvPicPr>
        <p:blipFill rotWithShape="1">
          <a:blip r:embed="rId6">
            <a:alphaModFix/>
          </a:blip>
          <a:srcRect b="0" l="0" r="0" t="0"/>
          <a:stretch/>
        </p:blipFill>
        <p:spPr>
          <a:xfrm>
            <a:off x="12762962" y="3571175"/>
            <a:ext cx="4659003" cy="3099074"/>
          </a:xfrm>
          <a:prstGeom prst="rect">
            <a:avLst/>
          </a:prstGeom>
          <a:noFill/>
          <a:ln>
            <a:noFill/>
          </a:ln>
        </p:spPr>
      </p:pic>
      <p:pic>
        <p:nvPicPr>
          <p:cNvPr id="173" name="Google Shape;173;p11"/>
          <p:cNvPicPr preferRelativeResize="0"/>
          <p:nvPr/>
        </p:nvPicPr>
        <p:blipFill rotWithShape="1">
          <a:blip r:embed="rId7">
            <a:alphaModFix/>
          </a:blip>
          <a:srcRect b="0" l="0" r="0" t="0"/>
          <a:stretch/>
        </p:blipFill>
        <p:spPr>
          <a:xfrm>
            <a:off x="10909200" y="6715825"/>
            <a:ext cx="4971975" cy="2493025"/>
          </a:xfrm>
          <a:prstGeom prst="rect">
            <a:avLst/>
          </a:prstGeom>
          <a:noFill/>
          <a:ln>
            <a:noFill/>
          </a:ln>
        </p:spPr>
      </p:pic>
      <p:pic>
        <p:nvPicPr>
          <p:cNvPr id="174" name="Google Shape;174;p11"/>
          <p:cNvPicPr preferRelativeResize="0"/>
          <p:nvPr/>
        </p:nvPicPr>
        <p:blipFill rotWithShape="1">
          <a:blip r:embed="rId8">
            <a:alphaModFix/>
          </a:blip>
          <a:srcRect b="0" l="0" r="0" t="0"/>
          <a:stretch/>
        </p:blipFill>
        <p:spPr>
          <a:xfrm>
            <a:off x="6745808" y="6715825"/>
            <a:ext cx="4163393" cy="2493025"/>
          </a:xfrm>
          <a:prstGeom prst="rect">
            <a:avLst/>
          </a:prstGeom>
          <a:noFill/>
          <a:ln>
            <a:noFill/>
          </a:ln>
        </p:spPr>
      </p:pic>
      <p:pic>
        <p:nvPicPr>
          <p:cNvPr id="175" name="Google Shape;175;p11"/>
          <p:cNvPicPr preferRelativeResize="0"/>
          <p:nvPr/>
        </p:nvPicPr>
        <p:blipFill rotWithShape="1">
          <a:blip r:embed="rId9">
            <a:alphaModFix/>
          </a:blip>
          <a:srcRect b="0" l="0" r="0" t="0"/>
          <a:stretch/>
        </p:blipFill>
        <p:spPr>
          <a:xfrm>
            <a:off x="234975" y="6670250"/>
            <a:ext cx="7479724" cy="2402474"/>
          </a:xfrm>
          <a:prstGeom prst="rect">
            <a:avLst/>
          </a:prstGeom>
          <a:noFill/>
          <a:ln>
            <a:noFill/>
          </a:ln>
        </p:spPr>
      </p:pic>
      <p:sp>
        <p:nvSpPr>
          <p:cNvPr id="176" name="Google Shape;176;p11"/>
          <p:cNvSpPr/>
          <p:nvPr/>
        </p:nvSpPr>
        <p:spPr>
          <a:xfrm>
            <a:off x="626938" y="2755675"/>
            <a:ext cx="17388600" cy="6971400"/>
          </a:xfrm>
          <a:prstGeom prst="can">
            <a:avLst>
              <a:gd fmla="val 7865"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25882"/>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2"/>
          <p:cNvSpPr txBox="1"/>
          <p:nvPr/>
        </p:nvSpPr>
        <p:spPr>
          <a:xfrm>
            <a:off x="1847947" y="2059868"/>
            <a:ext cx="15557400" cy="215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500"/>
              <a:buFont typeface="Arial"/>
              <a:buNone/>
            </a:pPr>
            <a:r>
              <a:t/>
            </a:r>
            <a:endParaRPr b="0" i="0" sz="1400" u="none" cap="none" strike="noStrike">
              <a:solidFill>
                <a:srgbClr val="000000"/>
              </a:solidFill>
              <a:latin typeface="Arial"/>
              <a:ea typeface="Arial"/>
              <a:cs typeface="Arial"/>
              <a:sym typeface="Arial"/>
            </a:endParaRPr>
          </a:p>
        </p:txBody>
      </p:sp>
      <p:grpSp>
        <p:nvGrpSpPr>
          <p:cNvPr id="182" name="Google Shape;182;p12"/>
          <p:cNvGrpSpPr/>
          <p:nvPr/>
        </p:nvGrpSpPr>
        <p:grpSpPr>
          <a:xfrm>
            <a:off x="454300" y="512966"/>
            <a:ext cx="3086120" cy="3086120"/>
            <a:chOff x="0" y="0"/>
            <a:chExt cx="812800" cy="812800"/>
          </a:xfrm>
        </p:grpSpPr>
        <p:sp>
          <p:nvSpPr>
            <p:cNvPr id="183" name="Google Shape;18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12"/>
          <p:cNvGrpSpPr/>
          <p:nvPr/>
        </p:nvGrpSpPr>
        <p:grpSpPr>
          <a:xfrm>
            <a:off x="774061" y="332139"/>
            <a:ext cx="3085741" cy="3266948"/>
            <a:chOff x="0" y="-47625"/>
            <a:chExt cx="812700" cy="860425"/>
          </a:xfrm>
        </p:grpSpPr>
        <p:sp>
          <p:nvSpPr>
            <p:cNvPr id="186" name="Google Shape;186;p12"/>
            <p:cNvSpPr/>
            <p:nvPr/>
          </p:nvSpPr>
          <p:spPr>
            <a:xfrm>
              <a:off x="0" y="0"/>
              <a:ext cx="47584" cy="812800"/>
            </a:xfrm>
            <a:custGeom>
              <a:rect b="b" l="l" r="r" t="t"/>
              <a:pathLst>
                <a:path extrusionOk="0" h="812800" w="47584">
                  <a:moveTo>
                    <a:pt x="0" y="0"/>
                  </a:moveTo>
                  <a:lnTo>
                    <a:pt x="47584" y="0"/>
                  </a:lnTo>
                  <a:lnTo>
                    <a:pt x="47584" y="812800"/>
                  </a:lnTo>
                  <a:lnTo>
                    <a:pt x="0" y="812800"/>
                  </a:lnTo>
                  <a:close/>
                </a:path>
              </a:pathLst>
            </a:custGeom>
            <a:solidFill>
              <a:srgbClr val="FFFFFF"/>
            </a:solidFill>
            <a:ln>
              <a:noFill/>
            </a:ln>
          </p:spPr>
        </p:sp>
        <p:sp>
          <p:nvSpPr>
            <p:cNvPr id="187" name="Google Shape;187;p12"/>
            <p:cNvSpPr txBox="1"/>
            <p:nvPr/>
          </p:nvSpPr>
          <p:spPr>
            <a:xfrm>
              <a:off x="0" y="-47625"/>
              <a:ext cx="812700" cy="860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12"/>
          <p:cNvSpPr txBox="1"/>
          <p:nvPr/>
        </p:nvSpPr>
        <p:spPr>
          <a:xfrm>
            <a:off x="1240469" y="1686475"/>
            <a:ext cx="14190300" cy="11235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9000"/>
              <a:buFont typeface="Arial"/>
              <a:buNone/>
            </a:pPr>
            <a:r>
              <a:rPr b="0" i="0" lang="en-US" sz="7300" u="none" cap="none" strike="noStrike">
                <a:solidFill>
                  <a:srgbClr val="1557FF"/>
                </a:solidFill>
                <a:latin typeface="Archivo Black"/>
                <a:ea typeface="Archivo Black"/>
                <a:cs typeface="Archivo Black"/>
                <a:sym typeface="Archivo Black"/>
              </a:rPr>
              <a:t>Goal 3: Model Training</a:t>
            </a:r>
            <a:endParaRPr b="0" i="0" sz="7300" u="none" cap="none" strike="noStrike">
              <a:solidFill>
                <a:srgbClr val="000000"/>
              </a:solidFill>
              <a:latin typeface="Arial"/>
              <a:ea typeface="Arial"/>
              <a:cs typeface="Arial"/>
              <a:sym typeface="Arial"/>
            </a:endParaRPr>
          </a:p>
        </p:txBody>
      </p:sp>
      <p:sp>
        <p:nvSpPr>
          <p:cNvPr id="189" name="Google Shape;189;p12"/>
          <p:cNvSpPr/>
          <p:nvPr/>
        </p:nvSpPr>
        <p:spPr>
          <a:xfrm>
            <a:off x="11364375" y="8891300"/>
            <a:ext cx="3238500" cy="894900"/>
          </a:xfrm>
          <a:prstGeom prst="rect">
            <a:avLst/>
          </a:prstGeom>
          <a:solidFill>
            <a:srgbClr val="99C0F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a:off x="1280188" y="4003000"/>
            <a:ext cx="15727625" cy="5783200"/>
          </a:xfrm>
          <a:prstGeom prst="flowChartPredefinedProcess">
            <a:avLst/>
          </a:prstGeom>
          <a:gradFill>
            <a:gsLst>
              <a:gs pos="0">
                <a:srgbClr val="83A3DD"/>
              </a:gs>
              <a:gs pos="100000">
                <a:srgbClr val="375FA6"/>
              </a:gs>
            </a:gsLst>
            <a:path path="circle">
              <a:fillToRect b="50%" l="50%" r="50%" t="50%"/>
            </a:path>
            <a:tileRect/>
          </a:gra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12"/>
          <p:cNvPicPr preferRelativeResize="0"/>
          <p:nvPr/>
        </p:nvPicPr>
        <p:blipFill rotWithShape="1">
          <a:blip r:embed="rId3">
            <a:alphaModFix/>
          </a:blip>
          <a:srcRect b="10740" l="0" r="0" t="12535"/>
          <a:stretch/>
        </p:blipFill>
        <p:spPr>
          <a:xfrm>
            <a:off x="3247150" y="4760813"/>
            <a:ext cx="11793725" cy="4267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13"/>
          <p:cNvGrpSpPr/>
          <p:nvPr/>
        </p:nvGrpSpPr>
        <p:grpSpPr>
          <a:xfrm>
            <a:off x="870313" y="567004"/>
            <a:ext cx="16645749" cy="9294084"/>
            <a:chOff x="0" y="0"/>
            <a:chExt cx="22194332" cy="12392113"/>
          </a:xfrm>
        </p:grpSpPr>
        <p:sp>
          <p:nvSpPr>
            <p:cNvPr id="197" name="Google Shape;197;p13"/>
            <p:cNvSpPr/>
            <p:nvPr/>
          </p:nvSpPr>
          <p:spPr>
            <a:xfrm>
              <a:off x="4028" y="1210497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3">
                <a:alphaModFix/>
              </a:blip>
              <a:stretch>
                <a:fillRect b="-5575360" l="0" r="-518" t="0"/>
              </a:stretch>
            </a:blipFill>
            <a:ln>
              <a:noFill/>
            </a:ln>
          </p:spPr>
        </p:sp>
        <p:sp>
          <p:nvSpPr>
            <p:cNvPr id="198" name="Google Shape;198;p13"/>
            <p:cNvSpPr/>
            <p:nvPr/>
          </p:nvSpPr>
          <p:spPr>
            <a:xfrm>
              <a:off x="0" y="77552"/>
              <a:ext cx="340312" cy="12301860"/>
            </a:xfrm>
            <a:custGeom>
              <a:rect b="b" l="l" r="r" t="t"/>
              <a:pathLst>
                <a:path extrusionOk="0" h="12301860" w="340312">
                  <a:moveTo>
                    <a:pt x="0" y="0"/>
                  </a:moveTo>
                  <a:lnTo>
                    <a:pt x="340312" y="0"/>
                  </a:lnTo>
                  <a:lnTo>
                    <a:pt x="340312" y="12301861"/>
                  </a:lnTo>
                  <a:lnTo>
                    <a:pt x="0" y="12301861"/>
                  </a:lnTo>
                  <a:lnTo>
                    <a:pt x="0" y="0"/>
                  </a:lnTo>
                  <a:close/>
                </a:path>
              </a:pathLst>
            </a:custGeom>
            <a:blipFill rotWithShape="1">
              <a:blip r:embed="rId4">
                <a:alphaModFix/>
              </a:blip>
              <a:stretch>
                <a:fillRect b="0" l="0" r="-5322991" t="0"/>
              </a:stretch>
            </a:blipFill>
            <a:ln>
              <a:noFill/>
            </a:ln>
          </p:spPr>
        </p:sp>
        <p:sp>
          <p:nvSpPr>
            <p:cNvPr id="199" name="Google Shape;199;p13"/>
            <p:cNvSpPr/>
            <p:nvPr/>
          </p:nvSpPr>
          <p:spPr>
            <a:xfrm>
              <a:off x="4028" y="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4">
                <a:alphaModFix/>
              </a:blip>
              <a:stretch>
                <a:fillRect b="-5575360" l="0" r="-518" t="0"/>
              </a:stretch>
            </a:blipFill>
            <a:ln>
              <a:noFill/>
            </a:ln>
          </p:spPr>
        </p:sp>
        <p:sp>
          <p:nvSpPr>
            <p:cNvPr id="200" name="Google Shape;200;p13"/>
            <p:cNvSpPr/>
            <p:nvPr/>
          </p:nvSpPr>
          <p:spPr>
            <a:xfrm rot="5400000">
              <a:off x="15859452" y="6057233"/>
              <a:ext cx="12379413" cy="290346"/>
            </a:xfrm>
            <a:custGeom>
              <a:rect b="b" l="l" r="r" t="t"/>
              <a:pathLst>
                <a:path extrusionOk="0" h="290346" w="12379413">
                  <a:moveTo>
                    <a:pt x="0" y="0"/>
                  </a:moveTo>
                  <a:lnTo>
                    <a:pt x="12379412" y="0"/>
                  </a:lnTo>
                  <a:lnTo>
                    <a:pt x="12379412" y="290346"/>
                  </a:lnTo>
                  <a:lnTo>
                    <a:pt x="0" y="290346"/>
                  </a:lnTo>
                  <a:lnTo>
                    <a:pt x="0" y="0"/>
                  </a:lnTo>
                  <a:close/>
                </a:path>
              </a:pathLst>
            </a:custGeom>
            <a:blipFill rotWithShape="1">
              <a:blip r:embed="rId5">
                <a:alphaModFix/>
              </a:blip>
              <a:stretch>
                <a:fillRect b="-2755511" l="0" r="-518" t="0"/>
              </a:stretch>
            </a:blipFill>
            <a:ln>
              <a:noFill/>
            </a:ln>
          </p:spPr>
        </p:sp>
      </p:grpSp>
      <p:pic>
        <p:nvPicPr>
          <p:cNvPr id="201" name="Google Shape;201;p13"/>
          <p:cNvPicPr preferRelativeResize="0"/>
          <p:nvPr/>
        </p:nvPicPr>
        <p:blipFill rotWithShape="1">
          <a:blip r:embed="rId6">
            <a:alphaModFix/>
          </a:blip>
          <a:srcRect b="0" l="0" r="0" t="0"/>
          <a:stretch/>
        </p:blipFill>
        <p:spPr>
          <a:xfrm>
            <a:off x="1496725" y="987374"/>
            <a:ext cx="5423625" cy="8330125"/>
          </a:xfrm>
          <a:prstGeom prst="rect">
            <a:avLst/>
          </a:prstGeom>
          <a:noFill/>
          <a:ln cap="flat" cmpd="sng" w="9525">
            <a:solidFill>
              <a:schemeClr val="dk1"/>
            </a:solidFill>
            <a:prstDash val="solid"/>
            <a:round/>
            <a:headEnd len="sm" w="sm" type="none"/>
            <a:tailEnd len="sm" w="sm" type="none"/>
          </a:ln>
          <a:effectLst>
            <a:outerShdw blurRad="1285875" rotWithShape="0" algn="bl" dir="6540000" dist="123825">
              <a:srgbClr val="99C0FB">
                <a:alpha val="52941"/>
              </a:srgbClr>
            </a:outerShdw>
          </a:effectLst>
        </p:spPr>
      </p:pic>
      <p:sp>
        <p:nvSpPr>
          <p:cNvPr id="202" name="Google Shape;202;p13"/>
          <p:cNvSpPr/>
          <p:nvPr/>
        </p:nvSpPr>
        <p:spPr>
          <a:xfrm rot="5400000">
            <a:off x="8801550" y="1520150"/>
            <a:ext cx="7611900" cy="7590300"/>
          </a:xfrm>
          <a:prstGeom prst="wedgeRectCallout">
            <a:avLst>
              <a:gd fmla="val -20942" name="adj1"/>
              <a:gd fmla="val 63558"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3"/>
          <p:cNvSpPr txBox="1"/>
          <p:nvPr/>
        </p:nvSpPr>
        <p:spPr>
          <a:xfrm>
            <a:off x="9182100" y="1759400"/>
            <a:ext cx="6850800" cy="7111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LSTM unit size=512</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ReLU activation function between Conv3D and MaxPooling3D layer</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Extracts spatial-temporal information from video sequences input</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3.7 million training parameters</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Hold-out Method for evaluation: 80% training dataset, 20% validation dataset.</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3D-CNN network  is used to learn spatial information from successive video frames.</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For temporal information from video frames and learning the sequence of the time series frames, the LSTM network is used for the classification of PSL.</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L2 batch normalization layer.</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Dropout layer to avoid overfitting.</a:t>
            </a:r>
            <a:endParaRPr b="0" i="0" sz="2400" u="none" cap="none" strike="noStrike">
              <a:solidFill>
                <a:schemeClr val="accent3"/>
              </a:solidFill>
              <a:latin typeface="Arial"/>
              <a:ea typeface="Arial"/>
              <a:cs typeface="Arial"/>
              <a:sym typeface="Arial"/>
            </a:endParaRPr>
          </a:p>
          <a:p>
            <a:pPr indent="-381000" lvl="0" marL="457200" marR="0" rtl="0" algn="l">
              <a:lnSpc>
                <a:spcPct val="100000"/>
              </a:lnSpc>
              <a:spcBef>
                <a:spcPts val="0"/>
              </a:spcBef>
              <a:spcAft>
                <a:spcPts val="0"/>
              </a:spcAft>
              <a:buClr>
                <a:schemeClr val="accent3"/>
              </a:buClr>
              <a:buSzPts val="2400"/>
              <a:buFont typeface="Arial"/>
              <a:buChar char="●"/>
            </a:pPr>
            <a:r>
              <a:rPr b="0" i="0" lang="en-US" sz="2400" u="none" cap="none" strike="noStrike">
                <a:solidFill>
                  <a:schemeClr val="accent3"/>
                </a:solidFill>
                <a:latin typeface="Arial"/>
                <a:ea typeface="Arial"/>
                <a:cs typeface="Arial"/>
                <a:sym typeface="Arial"/>
              </a:rPr>
              <a:t>As per paper: “Adadelta optimizer with our proposed 3D-CNN+LSTM model achieved the best accuracy”</a:t>
            </a:r>
            <a:endParaRPr b="0" i="0" sz="2400" u="none" cap="none" strike="noStrike">
              <a:solidFill>
                <a:schemeClr val="accent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p:nvPr/>
        </p:nvSpPr>
        <p:spPr>
          <a:xfrm>
            <a:off x="1977900" y="947400"/>
            <a:ext cx="14332200" cy="8392200"/>
          </a:xfrm>
          <a:prstGeom prst="roundRect">
            <a:avLst>
              <a:gd fmla="val 16667" name="adj"/>
            </a:avLst>
          </a:prstGeom>
          <a:gradFill>
            <a:gsLst>
              <a:gs pos="0">
                <a:srgbClr val="CDFFD8"/>
              </a:gs>
              <a:gs pos="100000">
                <a:srgbClr val="94B9FF"/>
              </a:gs>
            </a:gsLst>
            <a:lin ang="5400700"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4"/>
          <p:cNvSpPr/>
          <p:nvPr/>
        </p:nvSpPr>
        <p:spPr>
          <a:xfrm>
            <a:off x="4239750" y="1380300"/>
            <a:ext cx="9808506" cy="846612"/>
          </a:xfrm>
          <a:prstGeom prst="flowChartTerminator">
            <a:avLst/>
          </a:prstGeom>
          <a:gradFill>
            <a:gsLst>
              <a:gs pos="0">
                <a:srgbClr val="83A3DD"/>
              </a:gs>
              <a:gs pos="100000">
                <a:srgbClr val="375FA6"/>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Iteration 1</a:t>
            </a:r>
            <a:endParaRPr b="0" i="0" sz="3300" u="none" cap="none" strike="noStrike">
              <a:solidFill>
                <a:schemeClr val="lt1"/>
              </a:solidFill>
              <a:latin typeface="Arial"/>
              <a:ea typeface="Arial"/>
              <a:cs typeface="Arial"/>
              <a:sym typeface="Arial"/>
            </a:endParaRPr>
          </a:p>
        </p:txBody>
      </p:sp>
      <p:sp>
        <p:nvSpPr>
          <p:cNvPr id="210" name="Google Shape;210;p14"/>
          <p:cNvSpPr/>
          <p:nvPr/>
        </p:nvSpPr>
        <p:spPr>
          <a:xfrm>
            <a:off x="2113600" y="2998450"/>
            <a:ext cx="7323975" cy="5843500"/>
          </a:xfrm>
          <a:prstGeom prst="flowChartDisplay">
            <a:avLst/>
          </a:prstGeom>
          <a:gradFill>
            <a:gsLst>
              <a:gs pos="0">
                <a:srgbClr val="CDFFD8"/>
              </a:gs>
              <a:gs pos="100000">
                <a:srgbClr val="94B9FF"/>
              </a:gs>
            </a:gsLst>
            <a:lin ang="540070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000"/>
              </a:spcBef>
              <a:spcAft>
                <a:spcPts val="0"/>
              </a:spcAft>
              <a:buClr>
                <a:srgbClr val="000000"/>
              </a:buClr>
              <a:buSzPts val="2900"/>
              <a:buFont typeface="Arial"/>
              <a:buNone/>
            </a:pPr>
            <a:r>
              <a:rPr b="1" i="0" lang="en-US" sz="2900" u="none" cap="none" strike="noStrike">
                <a:solidFill>
                  <a:srgbClr val="000000"/>
                </a:solidFill>
                <a:latin typeface="Arial"/>
                <a:ea typeface="Arial"/>
                <a:cs typeface="Arial"/>
                <a:sym typeface="Arial"/>
              </a:rPr>
              <a:t>Hyperparameters:</a:t>
            </a:r>
            <a:endParaRPr b="0" i="0" sz="29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900" u="none" cap="none" strike="noStrike">
                <a:solidFill>
                  <a:srgbClr val="000000"/>
                </a:solidFill>
                <a:latin typeface="Arial"/>
                <a:ea typeface="Arial"/>
                <a:cs typeface="Arial"/>
                <a:sym typeface="Arial"/>
              </a:rPr>
              <a:t>frame_size=(112, 112)</a:t>
            </a:r>
            <a:endParaRPr b="0" i="0" sz="29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900" u="none" cap="none" strike="noStrike">
                <a:solidFill>
                  <a:srgbClr val="000000"/>
                </a:solidFill>
                <a:latin typeface="Arial"/>
                <a:ea typeface="Arial"/>
                <a:cs typeface="Arial"/>
                <a:sym typeface="Arial"/>
              </a:rPr>
              <a:t>num_frames=32</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learning rate=0.00001</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batch_size=1</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num_epochs=10</a:t>
            </a:r>
            <a:endParaRPr b="0" i="0" sz="29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900"/>
              <a:buFont typeface="Arial"/>
              <a:buNone/>
            </a:pPr>
            <a:r>
              <a:rPr b="1" i="0" lang="en-US" sz="2900" u="none" cap="none" strike="noStrike">
                <a:solidFill>
                  <a:srgbClr val="000000"/>
                </a:solidFill>
                <a:latin typeface="Arial"/>
                <a:ea typeface="Arial"/>
                <a:cs typeface="Arial"/>
                <a:sym typeface="Arial"/>
              </a:rPr>
              <a:t>Dataset Information:</a:t>
            </a:r>
            <a:endParaRPr b="1"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Total labels: 796</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Total videos: 11940</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Train videos: 10348</a:t>
            </a:r>
            <a:endParaRPr b="0" i="0" sz="2900" u="none" cap="none" strike="noStrike">
              <a:solidFill>
                <a:srgbClr val="000000"/>
              </a:solidFill>
              <a:latin typeface="Arial"/>
              <a:ea typeface="Arial"/>
              <a:cs typeface="Arial"/>
              <a:sym typeface="Arial"/>
            </a:endParaRPr>
          </a:p>
          <a:p>
            <a:pPr indent="-412750" lvl="0" marL="457200" marR="0" rtl="0" algn="l">
              <a:lnSpc>
                <a:spcPct val="100000"/>
              </a:lnSpc>
              <a:spcBef>
                <a:spcPts val="0"/>
              </a:spcBef>
              <a:spcAft>
                <a:spcPts val="0"/>
              </a:spcAft>
              <a:buClr>
                <a:srgbClr val="000000"/>
              </a:buClr>
              <a:buSzPts val="2900"/>
              <a:buFont typeface="Arial"/>
              <a:buChar char="●"/>
            </a:pPr>
            <a:r>
              <a:rPr b="0" i="0" lang="en-US" sz="2900" u="none" cap="none" strike="noStrike">
                <a:solidFill>
                  <a:srgbClr val="000000"/>
                </a:solidFill>
                <a:latin typeface="Arial"/>
                <a:ea typeface="Arial"/>
                <a:cs typeface="Arial"/>
                <a:sym typeface="Arial"/>
              </a:rPr>
              <a:t>Validation videos: 1592</a:t>
            </a:r>
            <a:endParaRPr b="0" i="0" sz="2900" u="none" cap="none" strike="noStrike">
              <a:solidFill>
                <a:srgbClr val="000000"/>
              </a:solidFill>
              <a:latin typeface="Arial"/>
              <a:ea typeface="Arial"/>
              <a:cs typeface="Arial"/>
              <a:sym typeface="Arial"/>
            </a:endParaRPr>
          </a:p>
        </p:txBody>
      </p:sp>
      <p:sp>
        <p:nvSpPr>
          <p:cNvPr id="211" name="Google Shape;211;p14"/>
          <p:cNvSpPr/>
          <p:nvPr/>
        </p:nvSpPr>
        <p:spPr>
          <a:xfrm>
            <a:off x="9829075" y="3821550"/>
            <a:ext cx="5676300" cy="4197300"/>
          </a:xfrm>
          <a:prstGeom prst="ellipse">
            <a:avLst/>
          </a:prstGeom>
          <a:gradFill>
            <a:gsLst>
              <a:gs pos="0">
                <a:srgbClr val="83A3DD"/>
              </a:gs>
              <a:gs pos="100000">
                <a:srgbClr val="375FA6"/>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1" i="0" lang="en-US" sz="2700" u="sng" cap="none" strike="noStrike">
                <a:solidFill>
                  <a:schemeClr val="lt1"/>
                </a:solidFill>
                <a:latin typeface="Arial"/>
                <a:ea typeface="Arial"/>
                <a:cs typeface="Arial"/>
                <a:sym typeface="Arial"/>
              </a:rPr>
              <a:t>Output</a:t>
            </a:r>
            <a:endParaRPr b="1" i="0" sz="2700" u="sng" cap="none" strike="noStrike">
              <a:solidFill>
                <a:schemeClr val="lt1"/>
              </a:solidFill>
              <a:latin typeface="Arial"/>
              <a:ea typeface="Arial"/>
              <a:cs typeface="Arial"/>
              <a:sym typeface="Arial"/>
            </a:endParaRPr>
          </a:p>
          <a:p>
            <a:pPr indent="-400050" lvl="0" marL="457200" marR="0" rtl="0" algn="l">
              <a:lnSpc>
                <a:spcPct val="100000"/>
              </a:lnSpc>
              <a:spcBef>
                <a:spcPts val="1000"/>
              </a:spcBef>
              <a:spcAft>
                <a:spcPts val="0"/>
              </a:spcAft>
              <a:buClr>
                <a:schemeClr val="lt1"/>
              </a:buClr>
              <a:buSzPts val="2700"/>
              <a:buFont typeface="Arial"/>
              <a:buChar char="●"/>
            </a:pPr>
            <a:r>
              <a:rPr b="0" i="0" lang="en-US" sz="2700" u="none" cap="none" strike="noStrike">
                <a:solidFill>
                  <a:schemeClr val="lt1"/>
                </a:solidFill>
                <a:latin typeface="Arial"/>
                <a:ea typeface="Arial"/>
                <a:cs typeface="Arial"/>
                <a:sym typeface="Arial"/>
              </a:rPr>
              <a:t>Loss: ~6.6796</a:t>
            </a:r>
            <a:endParaRPr b="0" i="0" sz="2700" u="none" cap="none" strike="noStrike">
              <a:solidFill>
                <a:schemeClr val="lt1"/>
              </a:solidFill>
              <a:latin typeface="Arial"/>
              <a:ea typeface="Arial"/>
              <a:cs typeface="Arial"/>
              <a:sym typeface="Arial"/>
            </a:endParaRPr>
          </a:p>
          <a:p>
            <a:pPr indent="-400050" lvl="0" marL="457200" marR="0" rtl="0" algn="l">
              <a:lnSpc>
                <a:spcPct val="100000"/>
              </a:lnSpc>
              <a:spcBef>
                <a:spcPts val="0"/>
              </a:spcBef>
              <a:spcAft>
                <a:spcPts val="0"/>
              </a:spcAft>
              <a:buClr>
                <a:schemeClr val="lt1"/>
              </a:buClr>
              <a:buSzPts val="2700"/>
              <a:buFont typeface="Arial"/>
              <a:buChar char="●"/>
            </a:pPr>
            <a:r>
              <a:rPr b="0" i="0" lang="en-US" sz="2700" u="none" cap="none" strike="noStrike">
                <a:solidFill>
                  <a:schemeClr val="lt1"/>
                </a:solidFill>
                <a:latin typeface="Arial"/>
                <a:ea typeface="Arial"/>
                <a:cs typeface="Arial"/>
                <a:sym typeface="Arial"/>
              </a:rPr>
              <a:t>Accuracy: 0.12%</a:t>
            </a:r>
            <a:endParaRPr b="0" i="0" sz="27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p:nvPr/>
        </p:nvSpPr>
        <p:spPr>
          <a:xfrm>
            <a:off x="1048275" y="682900"/>
            <a:ext cx="6589728" cy="1587600"/>
          </a:xfrm>
          <a:prstGeom prst="cloud">
            <a:avLst/>
          </a:prstGeom>
          <a:gradFill>
            <a:gsLst>
              <a:gs pos="0">
                <a:srgbClr val="CDFFD8"/>
              </a:gs>
              <a:gs pos="100000">
                <a:srgbClr val="94B9FF"/>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n-US" sz="3300" u="none" cap="none" strike="noStrike">
                <a:solidFill>
                  <a:srgbClr val="000000"/>
                </a:solidFill>
                <a:latin typeface="Archivo Black"/>
                <a:ea typeface="Archivo Black"/>
                <a:cs typeface="Archivo Black"/>
                <a:sym typeface="Archivo Black"/>
              </a:rPr>
              <a:t>Results</a:t>
            </a:r>
            <a:endParaRPr b="0" i="0" sz="3300" u="none" cap="none" strike="noStrike">
              <a:solidFill>
                <a:srgbClr val="000000"/>
              </a:solidFill>
              <a:latin typeface="Archivo Black"/>
              <a:ea typeface="Archivo Black"/>
              <a:cs typeface="Archivo Black"/>
              <a:sym typeface="Archivo Black"/>
            </a:endParaRPr>
          </a:p>
        </p:txBody>
      </p:sp>
      <p:sp>
        <p:nvSpPr>
          <p:cNvPr id="217" name="Google Shape;217;p15"/>
          <p:cNvSpPr/>
          <p:nvPr/>
        </p:nvSpPr>
        <p:spPr>
          <a:xfrm>
            <a:off x="1331000" y="2662000"/>
            <a:ext cx="15093300" cy="6415800"/>
          </a:xfrm>
          <a:prstGeom prst="rect">
            <a:avLst/>
          </a:prstGeom>
          <a:gradFill>
            <a:gsLst>
              <a:gs pos="0">
                <a:srgbClr val="CDFFD8"/>
              </a:gs>
              <a:gs pos="100000">
                <a:srgbClr val="94B9FF"/>
              </a:gs>
            </a:gsLst>
            <a:lin ang="540070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5"/>
          <p:cNvSpPr txBox="1"/>
          <p:nvPr/>
        </p:nvSpPr>
        <p:spPr>
          <a:xfrm>
            <a:off x="1852850" y="2803300"/>
            <a:ext cx="14049600" cy="6133200"/>
          </a:xfrm>
          <a:prstGeom prst="rect">
            <a:avLst/>
          </a:prstGeom>
          <a:noFill/>
          <a:ln>
            <a:noFill/>
          </a:ln>
        </p:spPr>
        <p:txBody>
          <a:bodyPr anchorCtr="0" anchor="ctr" bIns="91425" lIns="91425" spcFirstLastPara="1" rIns="91425" wrap="square" tIns="91425">
            <a:noAutofit/>
          </a:bodyPr>
          <a:lstStyle/>
          <a:p>
            <a:pPr indent="-393700" lvl="0" marL="4572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Due to quite </a:t>
            </a:r>
            <a:r>
              <a:rPr b="1" i="0" lang="en-US" sz="2500" u="none" cap="none" strike="noStrike">
                <a:solidFill>
                  <a:schemeClr val="accent3"/>
                </a:solidFill>
                <a:latin typeface="Arial"/>
                <a:ea typeface="Arial"/>
                <a:cs typeface="Arial"/>
                <a:sym typeface="Arial"/>
              </a:rPr>
              <a:t>unsatisfactory results</a:t>
            </a:r>
            <a:r>
              <a:rPr b="0" i="0" lang="en-US" sz="2600" u="none" cap="none" strike="noStrike">
                <a:solidFill>
                  <a:schemeClr val="accent3"/>
                </a:solidFill>
                <a:latin typeface="Arial"/>
                <a:ea typeface="Arial"/>
                <a:cs typeface="Arial"/>
                <a:sym typeface="Arial"/>
              </a:rPr>
              <a:t>, we tried to implement quite few changes to see that “can there be any change of hyperparameter which can improve results”. The changes were following:</a:t>
            </a:r>
            <a:endParaRPr b="0" i="0" sz="2600" u="none" cap="none" strike="noStrike">
              <a:solidFill>
                <a:schemeClr val="accent3"/>
              </a:solidFill>
              <a:latin typeface="Arial"/>
              <a:ea typeface="Arial"/>
              <a:cs typeface="Arial"/>
              <a:sym typeface="Arial"/>
            </a:endParaRPr>
          </a:p>
          <a:p>
            <a:pPr indent="-393700" lvl="1" marL="13716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Increase num_frames to 80</a:t>
            </a:r>
            <a:endParaRPr b="0" i="0" sz="2600" u="none" cap="none" strike="noStrike">
              <a:solidFill>
                <a:schemeClr val="accent3"/>
              </a:solidFill>
              <a:latin typeface="Arial"/>
              <a:ea typeface="Arial"/>
              <a:cs typeface="Arial"/>
              <a:sym typeface="Arial"/>
            </a:endParaRPr>
          </a:p>
          <a:p>
            <a:pPr indent="-393700" lvl="1" marL="13716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Increase batch_size to 4</a:t>
            </a:r>
            <a:endParaRPr b="0" i="0" sz="2600" u="none" cap="none" strike="noStrike">
              <a:solidFill>
                <a:schemeClr val="accent3"/>
              </a:solidFill>
              <a:latin typeface="Arial"/>
              <a:ea typeface="Arial"/>
              <a:cs typeface="Arial"/>
              <a:sym typeface="Arial"/>
            </a:endParaRPr>
          </a:p>
          <a:p>
            <a:pPr indent="-393700" lvl="1" marL="13716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Introduce “ReduceLROnPlateau” for dynamic change of learning rate w.r.t validation dataset loss</a:t>
            </a:r>
            <a:endParaRPr b="0" i="0" sz="2600" u="none" cap="none" strike="noStrike">
              <a:solidFill>
                <a:schemeClr val="accent3"/>
              </a:solidFill>
              <a:latin typeface="Arial"/>
              <a:ea typeface="Arial"/>
              <a:cs typeface="Arial"/>
              <a:sym typeface="Arial"/>
            </a:endParaRPr>
          </a:p>
          <a:p>
            <a:pPr indent="-393700" lvl="1" marL="13716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Increase num_epochs</a:t>
            </a:r>
            <a:endParaRPr b="0" i="0" sz="2600" u="none" cap="none" strike="noStrike">
              <a:solidFill>
                <a:schemeClr val="accent3"/>
              </a:solidFill>
              <a:latin typeface="Arial"/>
              <a:ea typeface="Arial"/>
              <a:cs typeface="Arial"/>
              <a:sym typeface="Arial"/>
            </a:endParaRPr>
          </a:p>
          <a:p>
            <a:pPr indent="-393700" lvl="1" marL="1371600" marR="0" rtl="0" algn="l">
              <a:lnSpc>
                <a:spcPct val="100000"/>
              </a:lnSpc>
              <a:spcBef>
                <a:spcPts val="0"/>
              </a:spcBef>
              <a:spcAft>
                <a:spcPts val="0"/>
              </a:spcAft>
              <a:buClr>
                <a:schemeClr val="accent3"/>
              </a:buClr>
              <a:buSzPts val="2600"/>
              <a:buFont typeface="Arial"/>
              <a:buChar char="○"/>
            </a:pPr>
            <a:r>
              <a:rPr b="0" i="0" lang="en-US" sz="2600" u="none" cap="none" strike="noStrike">
                <a:solidFill>
                  <a:schemeClr val="accent3"/>
                </a:solidFill>
                <a:latin typeface="Arial"/>
                <a:ea typeface="Arial"/>
                <a:cs typeface="Arial"/>
                <a:sym typeface="Arial"/>
              </a:rPr>
              <a:t>Increase learning rate to 0.001</a:t>
            </a:r>
            <a:endParaRPr b="0" i="0" sz="2600" u="none" cap="none" strike="noStrike">
              <a:solidFill>
                <a:schemeClr val="accent3"/>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600"/>
              <a:buFont typeface="Arial"/>
              <a:buNone/>
            </a:pPr>
            <a:r>
              <a:rPr b="0" i="0" lang="en-US" sz="2600" u="none" cap="none" strike="noStrike">
                <a:solidFill>
                  <a:schemeClr val="accent3"/>
                </a:solidFill>
                <a:latin typeface="Arial"/>
                <a:ea typeface="Arial"/>
                <a:cs typeface="Arial"/>
                <a:sym typeface="Arial"/>
              </a:rPr>
              <a:t>Still the final loss was “6.266662683542709” which wasn't quite satisfactory; it was found to be approximately 0.4 change in loss due to num_labels change to “Total labels: 526”, at the end.</a:t>
            </a:r>
            <a:endParaRPr b="0" i="0" sz="2600" u="none" cap="none" strike="noStrike">
              <a:solidFill>
                <a:schemeClr val="accent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chemeClr val="accent3"/>
                </a:solidFill>
                <a:latin typeface="Arial"/>
                <a:ea typeface="Arial"/>
                <a:cs typeface="Arial"/>
                <a:sym typeface="Arial"/>
              </a:rPr>
              <a:t>Therefore</a:t>
            </a:r>
            <a:r>
              <a:rPr b="1" i="0" lang="en-US" sz="2600" u="none" cap="none" strike="noStrike">
                <a:solidFill>
                  <a:schemeClr val="accent3"/>
                </a:solidFill>
                <a:latin typeface="Arial"/>
                <a:ea typeface="Arial"/>
                <a:cs typeface="Arial"/>
                <a:sym typeface="Arial"/>
              </a:rPr>
              <a:t>, </a:t>
            </a:r>
            <a:r>
              <a:rPr b="0" i="0" lang="en-US" sz="2600" u="none" cap="none" strike="noStrike">
                <a:solidFill>
                  <a:schemeClr val="accent3"/>
                </a:solidFill>
                <a:latin typeface="Arial"/>
                <a:ea typeface="Arial"/>
                <a:cs typeface="Arial"/>
                <a:sym typeface="Arial"/>
              </a:rPr>
              <a:t>we learned that the model’s architecture can only handle small labels size data. So for now, we decided to decrease </a:t>
            </a:r>
            <a:r>
              <a:rPr b="1" i="0" lang="en-US" sz="2550" u="none" cap="none" strike="noStrike">
                <a:solidFill>
                  <a:schemeClr val="accent3"/>
                </a:solidFill>
                <a:latin typeface="Arial"/>
                <a:ea typeface="Arial"/>
                <a:cs typeface="Arial"/>
                <a:sym typeface="Arial"/>
              </a:rPr>
              <a:t>“label size to 160”</a:t>
            </a:r>
            <a:r>
              <a:rPr b="0" i="0" lang="en-US" sz="2600" u="none" cap="none" strike="noStrike">
                <a:solidFill>
                  <a:schemeClr val="accent3"/>
                </a:solidFill>
                <a:latin typeface="Arial"/>
                <a:ea typeface="Arial"/>
                <a:cs typeface="Arial"/>
                <a:sym typeface="Arial"/>
              </a:rPr>
              <a:t>, and we will solve the large label size problem in FYP 2 through advanced Deep Learning techniques.</a:t>
            </a:r>
            <a:endParaRPr b="0" i="0" sz="2600" u="none" cap="none" strike="noStrike">
              <a:solidFill>
                <a:schemeClr val="accent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p:nvPr/>
        </p:nvSpPr>
        <p:spPr>
          <a:xfrm>
            <a:off x="2963850" y="2562900"/>
            <a:ext cx="12360300" cy="5161200"/>
          </a:xfrm>
          <a:prstGeom prst="foldedCorner">
            <a:avLst>
              <a:gd fmla="val 16667" name="adj"/>
            </a:avLst>
          </a:prstGeom>
          <a:solidFill>
            <a:schemeClr val="lt2"/>
          </a:solidFill>
          <a:ln cap="flat" cmpd="sng" w="9525">
            <a:solidFill>
              <a:schemeClr val="dk2"/>
            </a:solidFill>
            <a:prstDash val="solid"/>
            <a:round/>
            <a:headEnd len="sm" w="sm" type="none"/>
            <a:tailEnd len="sm" w="sm" type="none"/>
          </a:ln>
          <a:effectLst>
            <a:outerShdw blurRad="228600" rotWithShape="0" algn="bl" dir="5400000" dist="19050">
              <a:schemeClr val="lt2">
                <a:alpha val="80000"/>
              </a:schemeClr>
            </a:outerShdw>
            <a:reflection blurRad="0" dir="5400000" dist="38100" endA="0" endPos="30000" fadeDir="5400012" kx="0" rotWithShape="0" algn="bl" stA="5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000000"/>
                </a:solidFill>
                <a:latin typeface="Arial"/>
                <a:ea typeface="Arial"/>
                <a:cs typeface="Arial"/>
                <a:sym typeface="Arial"/>
              </a:rPr>
              <a:t>START OF FYP II</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p:nvPr/>
        </p:nvSpPr>
        <p:spPr>
          <a:xfrm>
            <a:off x="1765200" y="947400"/>
            <a:ext cx="14332200" cy="7647300"/>
          </a:xfrm>
          <a:prstGeom prst="roundRect">
            <a:avLst>
              <a:gd fmla="val 16667" name="adj"/>
            </a:avLst>
          </a:prstGeom>
          <a:gradFill>
            <a:gsLst>
              <a:gs pos="0">
                <a:srgbClr val="CDFFD8"/>
              </a:gs>
              <a:gs pos="100000">
                <a:srgbClr val="94B9FF"/>
              </a:gs>
            </a:gsLst>
            <a:lin ang="5400700"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7"/>
          <p:cNvSpPr/>
          <p:nvPr/>
        </p:nvSpPr>
        <p:spPr>
          <a:xfrm>
            <a:off x="4239750" y="1380300"/>
            <a:ext cx="9808506" cy="846612"/>
          </a:xfrm>
          <a:prstGeom prst="flowChartTerminator">
            <a:avLst/>
          </a:prstGeom>
          <a:gradFill>
            <a:gsLst>
              <a:gs pos="0">
                <a:srgbClr val="83A3DD"/>
              </a:gs>
              <a:gs pos="100000">
                <a:srgbClr val="375FA6"/>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Moving forward to FYP II - decisions</a:t>
            </a:r>
            <a:endParaRPr b="0" i="0" sz="3300" u="none" cap="none" strike="noStrike">
              <a:solidFill>
                <a:schemeClr val="lt1"/>
              </a:solidFill>
              <a:latin typeface="Arial"/>
              <a:ea typeface="Arial"/>
              <a:cs typeface="Arial"/>
              <a:sym typeface="Arial"/>
            </a:endParaRPr>
          </a:p>
        </p:txBody>
      </p:sp>
      <p:sp>
        <p:nvSpPr>
          <p:cNvPr id="230" name="Google Shape;230;p17"/>
          <p:cNvSpPr txBox="1"/>
          <p:nvPr/>
        </p:nvSpPr>
        <p:spPr>
          <a:xfrm>
            <a:off x="2662500" y="3056850"/>
            <a:ext cx="12537600" cy="57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accent3"/>
                </a:solidFill>
                <a:latin typeface="Arial"/>
                <a:ea typeface="Arial"/>
                <a:cs typeface="Arial"/>
                <a:sym typeface="Arial"/>
              </a:rPr>
              <a:t>The FYP I was unsuccessful in recognizing PSL signs accurately, and especially high loss and very low accuracy. Due to this, we explored various Sign Language techniques, and made some changes in our approach:</a:t>
            </a:r>
            <a:endParaRPr b="0" i="0" sz="3000" u="none" cap="none" strike="noStrike">
              <a:solidFill>
                <a:schemeClr val="accent3"/>
              </a:solidFill>
              <a:latin typeface="Arial"/>
              <a:ea typeface="Arial"/>
              <a:cs typeface="Arial"/>
              <a:sym typeface="Arial"/>
            </a:endParaRPr>
          </a:p>
          <a:p>
            <a:pPr indent="-419100" lvl="0" marL="457200" marR="0" rtl="0" algn="l">
              <a:lnSpc>
                <a:spcPct val="100000"/>
              </a:lnSpc>
              <a:spcBef>
                <a:spcPts val="0"/>
              </a:spcBef>
              <a:spcAft>
                <a:spcPts val="0"/>
              </a:spcAft>
              <a:buClr>
                <a:schemeClr val="accent3"/>
              </a:buClr>
              <a:buSzPts val="3000"/>
              <a:buFont typeface="Arial"/>
              <a:buChar char="●"/>
            </a:pPr>
            <a:r>
              <a:rPr b="0" i="0" lang="en-US" sz="3000" u="none" cap="none" strike="noStrike">
                <a:solidFill>
                  <a:schemeClr val="accent3"/>
                </a:solidFill>
                <a:latin typeface="Arial"/>
                <a:ea typeface="Arial"/>
                <a:cs typeface="Arial"/>
                <a:sym typeface="Arial"/>
              </a:rPr>
              <a:t>Label Size decreased to 104</a:t>
            </a:r>
            <a:endParaRPr b="0" i="0" sz="3000" u="none" cap="none" strike="noStrike">
              <a:solidFill>
                <a:schemeClr val="accent3"/>
              </a:solidFill>
              <a:latin typeface="Arial"/>
              <a:ea typeface="Arial"/>
              <a:cs typeface="Arial"/>
              <a:sym typeface="Arial"/>
            </a:endParaRPr>
          </a:p>
          <a:p>
            <a:pPr indent="-419100" lvl="0" marL="457200" marR="0" rtl="0" algn="l">
              <a:lnSpc>
                <a:spcPct val="100000"/>
              </a:lnSpc>
              <a:spcBef>
                <a:spcPts val="0"/>
              </a:spcBef>
              <a:spcAft>
                <a:spcPts val="0"/>
              </a:spcAft>
              <a:buClr>
                <a:schemeClr val="accent3"/>
              </a:buClr>
              <a:buSzPts val="3000"/>
              <a:buFont typeface="Arial"/>
              <a:buChar char="●"/>
            </a:pPr>
            <a:r>
              <a:rPr b="0" i="0" lang="en-US" sz="3000" u="none" cap="none" strike="noStrike">
                <a:solidFill>
                  <a:schemeClr val="accent3"/>
                </a:solidFill>
                <a:latin typeface="Arial"/>
                <a:ea typeface="Arial"/>
                <a:cs typeface="Arial"/>
                <a:sym typeface="Arial"/>
              </a:rPr>
              <a:t>New techniques introduced for augmentation [5]</a:t>
            </a:r>
            <a:endParaRPr b="0" i="0" sz="3000" u="none" cap="none" strike="noStrike">
              <a:solidFill>
                <a:schemeClr val="accent3"/>
              </a:solidFill>
              <a:latin typeface="Arial"/>
              <a:ea typeface="Arial"/>
              <a:cs typeface="Arial"/>
              <a:sym typeface="Arial"/>
            </a:endParaRPr>
          </a:p>
          <a:p>
            <a:pPr indent="-419100" lvl="0" marL="457200" marR="0" rtl="0" algn="l">
              <a:lnSpc>
                <a:spcPct val="100000"/>
              </a:lnSpc>
              <a:spcBef>
                <a:spcPts val="0"/>
              </a:spcBef>
              <a:spcAft>
                <a:spcPts val="0"/>
              </a:spcAft>
              <a:buClr>
                <a:schemeClr val="accent3"/>
              </a:buClr>
              <a:buSzPts val="3000"/>
              <a:buFont typeface="Arial"/>
              <a:buChar char="●"/>
            </a:pPr>
            <a:r>
              <a:rPr b="0" i="0" lang="en-US" sz="3000" u="none" cap="none" strike="noStrike">
                <a:solidFill>
                  <a:schemeClr val="accent3"/>
                </a:solidFill>
                <a:latin typeface="Arial"/>
                <a:ea typeface="Arial"/>
                <a:cs typeface="Arial"/>
                <a:sym typeface="Arial"/>
              </a:rPr>
              <a:t>Recorded our own dataset to bring variations in original PSL dataset.</a:t>
            </a:r>
            <a:endParaRPr b="0" i="0" sz="3000" u="none" cap="none" strike="noStrike">
              <a:solidFill>
                <a:schemeClr val="accent3"/>
              </a:solidFill>
              <a:latin typeface="Arial"/>
              <a:ea typeface="Arial"/>
              <a:cs typeface="Arial"/>
              <a:sym typeface="Arial"/>
            </a:endParaRPr>
          </a:p>
          <a:p>
            <a:pPr indent="-419100" lvl="0" marL="457200" marR="0" rtl="0" algn="l">
              <a:lnSpc>
                <a:spcPct val="100000"/>
              </a:lnSpc>
              <a:spcBef>
                <a:spcPts val="0"/>
              </a:spcBef>
              <a:spcAft>
                <a:spcPts val="0"/>
              </a:spcAft>
              <a:buClr>
                <a:schemeClr val="accent3"/>
              </a:buClr>
              <a:buSzPts val="3000"/>
              <a:buFont typeface="Arial"/>
              <a:buChar char="●"/>
            </a:pPr>
            <a:r>
              <a:rPr b="0" i="0" lang="en-US" sz="3000" u="none" cap="none" strike="noStrike">
                <a:solidFill>
                  <a:schemeClr val="accent3"/>
                </a:solidFill>
                <a:latin typeface="Arial"/>
                <a:ea typeface="Arial"/>
                <a:cs typeface="Arial"/>
                <a:sym typeface="Arial"/>
              </a:rPr>
              <a:t>Switched to</a:t>
            </a:r>
            <a:r>
              <a:rPr lang="en-US" sz="3000">
                <a:solidFill>
                  <a:schemeClr val="accent3"/>
                </a:solidFill>
              </a:rPr>
              <a:t> different advanced deep learning models to determine the effective one for PSL Recognition system.</a:t>
            </a:r>
            <a:endParaRPr sz="3000">
              <a:solidFill>
                <a:schemeClr val="accent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g335f2425625_0_0"/>
          <p:cNvPicPr preferRelativeResize="0"/>
          <p:nvPr/>
        </p:nvPicPr>
        <p:blipFill>
          <a:blip r:embed="rId3">
            <a:alphaModFix/>
          </a:blip>
          <a:stretch>
            <a:fillRect/>
          </a:stretch>
        </p:blipFill>
        <p:spPr>
          <a:xfrm>
            <a:off x="476563" y="1378850"/>
            <a:ext cx="17334875" cy="8821150"/>
          </a:xfrm>
          <a:prstGeom prst="rect">
            <a:avLst/>
          </a:prstGeom>
          <a:noFill/>
          <a:ln cap="flat" cmpd="sng" w="19050">
            <a:solidFill>
              <a:schemeClr val="dk2"/>
            </a:solidFill>
            <a:prstDash val="solid"/>
            <a:round/>
            <a:headEnd len="sm" w="sm" type="none"/>
            <a:tailEnd len="sm" w="sm" type="none"/>
          </a:ln>
        </p:spPr>
      </p:pic>
      <p:sp>
        <p:nvSpPr>
          <p:cNvPr id="236" name="Google Shape;236;g335f2425625_0_0"/>
          <p:cNvSpPr/>
          <p:nvPr/>
        </p:nvSpPr>
        <p:spPr>
          <a:xfrm>
            <a:off x="4239750" y="532250"/>
            <a:ext cx="9808506" cy="846612"/>
          </a:xfrm>
          <a:prstGeom prst="flowChartTerminator">
            <a:avLst/>
          </a:prstGeom>
          <a:gradFill>
            <a:gsLst>
              <a:gs pos="0">
                <a:srgbClr val="83A3DD"/>
              </a:gs>
              <a:gs pos="100000">
                <a:srgbClr val="375FA6"/>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lang="en-US" sz="3300">
                <a:solidFill>
                  <a:schemeClr val="lt1"/>
                </a:solidFill>
              </a:rPr>
              <a:t>Systematic Diagram defining whole FYP</a:t>
            </a:r>
            <a:endParaRPr b="0" i="0" sz="33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nvSpPr>
        <p:spPr>
          <a:xfrm>
            <a:off x="687523" y="1110300"/>
            <a:ext cx="16218300" cy="115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7500" u="none" cap="none" strike="noStrike">
                <a:solidFill>
                  <a:srgbClr val="1557FF"/>
                </a:solidFill>
                <a:latin typeface="Archivo Black"/>
                <a:ea typeface="Archivo Black"/>
                <a:cs typeface="Archivo Black"/>
                <a:sym typeface="Archivo Black"/>
              </a:rPr>
              <a:t>FYP II - Goal 1 </a:t>
            </a:r>
            <a:endParaRPr b="0" i="0" sz="1400" u="none" cap="none" strike="noStrike">
              <a:solidFill>
                <a:srgbClr val="000000"/>
              </a:solidFill>
              <a:latin typeface="Arial"/>
              <a:ea typeface="Arial"/>
              <a:cs typeface="Arial"/>
              <a:sym typeface="Arial"/>
            </a:endParaRPr>
          </a:p>
        </p:txBody>
      </p:sp>
      <p:sp>
        <p:nvSpPr>
          <p:cNvPr id="242" name="Google Shape;242;p18"/>
          <p:cNvSpPr txBox="1"/>
          <p:nvPr/>
        </p:nvSpPr>
        <p:spPr>
          <a:xfrm>
            <a:off x="687525" y="3429000"/>
            <a:ext cx="8979600" cy="4309800"/>
          </a:xfrm>
          <a:prstGeom prst="rect">
            <a:avLst/>
          </a:prstGeom>
          <a:noFill/>
          <a:ln>
            <a:noFill/>
          </a:ln>
        </p:spPr>
        <p:txBody>
          <a:bodyPr anchorCtr="0" anchor="t" bIns="0" lIns="0" spcFirstLastPara="1" rIns="0" wrap="square" tIns="0">
            <a:spAutoFit/>
          </a:bodyPr>
          <a:lstStyle/>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We collaborated with PSL deaf community to retrieve PSL original signs.</a:t>
            </a:r>
            <a:endParaRPr b="0" i="0" sz="35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Each member recorded 3 videos per PSL sign+1 original video, leading to 10 different videos per PSL sign.</a:t>
            </a:r>
            <a:endParaRPr b="0" i="0" sz="35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Each video recorded in a different manner to introduce variations in PSL dataset</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00000"/>
              </a:solidFill>
              <a:latin typeface="Arial"/>
              <a:ea typeface="Arial"/>
              <a:cs typeface="Arial"/>
              <a:sym typeface="Arial"/>
            </a:endParaRPr>
          </a:p>
        </p:txBody>
      </p:sp>
      <p:pic>
        <p:nvPicPr>
          <p:cNvPr id="243" name="Google Shape;243;p18"/>
          <p:cNvPicPr preferRelativeResize="0"/>
          <p:nvPr/>
        </p:nvPicPr>
        <p:blipFill rotWithShape="1">
          <a:blip r:embed="rId3">
            <a:alphaModFix/>
          </a:blip>
          <a:srcRect b="0" l="0" r="0" t="0"/>
          <a:stretch/>
        </p:blipFill>
        <p:spPr>
          <a:xfrm>
            <a:off x="13695975" y="2988600"/>
            <a:ext cx="3354233" cy="4309800"/>
          </a:xfrm>
          <a:prstGeom prst="rect">
            <a:avLst/>
          </a:prstGeom>
          <a:noFill/>
          <a:ln>
            <a:noFill/>
          </a:ln>
        </p:spPr>
      </p:pic>
      <p:pic>
        <p:nvPicPr>
          <p:cNvPr id="244" name="Google Shape;244;p18"/>
          <p:cNvPicPr preferRelativeResize="0"/>
          <p:nvPr/>
        </p:nvPicPr>
        <p:blipFill rotWithShape="1">
          <a:blip r:embed="rId4">
            <a:alphaModFix/>
          </a:blip>
          <a:srcRect b="0" l="0" r="0" t="0"/>
          <a:stretch/>
        </p:blipFill>
        <p:spPr>
          <a:xfrm>
            <a:off x="9902875" y="1274100"/>
            <a:ext cx="3793100" cy="3577000"/>
          </a:xfrm>
          <a:prstGeom prst="rect">
            <a:avLst/>
          </a:prstGeom>
          <a:noFill/>
          <a:ln>
            <a:noFill/>
          </a:ln>
        </p:spPr>
      </p:pic>
      <p:pic>
        <p:nvPicPr>
          <p:cNvPr id="245" name="Google Shape;245;p18"/>
          <p:cNvPicPr preferRelativeResize="0"/>
          <p:nvPr/>
        </p:nvPicPr>
        <p:blipFill rotWithShape="1">
          <a:blip r:embed="rId5">
            <a:alphaModFix/>
          </a:blip>
          <a:srcRect b="0" l="0" r="0" t="0"/>
          <a:stretch/>
        </p:blipFill>
        <p:spPr>
          <a:xfrm>
            <a:off x="9902875" y="4851100"/>
            <a:ext cx="3793100" cy="339861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nvSpPr>
        <p:spPr>
          <a:xfrm>
            <a:off x="687523" y="1110300"/>
            <a:ext cx="16218300" cy="115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0"/>
              <a:buFont typeface="Arial"/>
              <a:buNone/>
            </a:pPr>
            <a:r>
              <a:rPr b="0" i="0" lang="en-US" sz="7500" u="none" cap="none" strike="noStrike">
                <a:solidFill>
                  <a:srgbClr val="1557FF"/>
                </a:solidFill>
                <a:latin typeface="Archivo Black"/>
                <a:ea typeface="Archivo Black"/>
                <a:cs typeface="Archivo Black"/>
                <a:sym typeface="Archivo Black"/>
              </a:rPr>
              <a:t>FYP II - Goal 2 </a:t>
            </a:r>
            <a:endParaRPr b="0" i="0" sz="1400" u="none" cap="none" strike="noStrike">
              <a:solidFill>
                <a:srgbClr val="000000"/>
              </a:solidFill>
              <a:latin typeface="Arial"/>
              <a:ea typeface="Arial"/>
              <a:cs typeface="Arial"/>
              <a:sym typeface="Arial"/>
            </a:endParaRPr>
          </a:p>
        </p:txBody>
      </p:sp>
      <p:sp>
        <p:nvSpPr>
          <p:cNvPr id="251" name="Google Shape;251;p19"/>
          <p:cNvSpPr txBox="1"/>
          <p:nvPr/>
        </p:nvSpPr>
        <p:spPr>
          <a:xfrm>
            <a:off x="687525" y="3796650"/>
            <a:ext cx="8979600" cy="2693700"/>
          </a:xfrm>
          <a:prstGeom prst="rect">
            <a:avLst/>
          </a:prstGeom>
          <a:noFill/>
          <a:ln>
            <a:noFill/>
          </a:ln>
        </p:spPr>
        <p:txBody>
          <a:bodyPr anchorCtr="0" anchor="t" bIns="0" lIns="0" spcFirstLastPara="1" rIns="0" wrap="square" tIns="0">
            <a:spAutoFit/>
          </a:bodyPr>
          <a:lstStyle/>
          <a:p>
            <a:pPr indent="-450850" lvl="0" marL="457200" marR="0" rtl="0" algn="l">
              <a:lnSpc>
                <a:spcPct val="100000"/>
              </a:lnSpc>
              <a:spcBef>
                <a:spcPts val="0"/>
              </a:spcBef>
              <a:spcAft>
                <a:spcPts val="0"/>
              </a:spcAft>
              <a:buClr>
                <a:srgbClr val="000000"/>
              </a:buClr>
              <a:buSzPts val="3500"/>
              <a:buFont typeface="Arial"/>
              <a:buChar char="❖"/>
            </a:pPr>
            <a:r>
              <a:rPr b="0" i="0" lang="en-US" sz="3500" u="none" cap="none" strike="noStrike">
                <a:solidFill>
                  <a:srgbClr val="000000"/>
                </a:solidFill>
                <a:latin typeface="Arial"/>
                <a:ea typeface="Arial"/>
                <a:cs typeface="Arial"/>
                <a:sym typeface="Arial"/>
              </a:rPr>
              <a:t>To increase the size of dataset and further improve the model’s performance, we performed 11 different augmentation techniques, lead to 60 videos per label.</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00000"/>
              </a:solidFill>
              <a:latin typeface="Arial"/>
              <a:ea typeface="Arial"/>
              <a:cs typeface="Arial"/>
              <a:sym typeface="Arial"/>
            </a:endParaRPr>
          </a:p>
        </p:txBody>
      </p:sp>
      <p:pic>
        <p:nvPicPr>
          <p:cNvPr id="252" name="Google Shape;252;p19"/>
          <p:cNvPicPr preferRelativeResize="0"/>
          <p:nvPr/>
        </p:nvPicPr>
        <p:blipFill rotWithShape="1">
          <a:blip r:embed="rId3">
            <a:alphaModFix/>
          </a:blip>
          <a:srcRect b="10913" l="1810" r="4880" t="0"/>
          <a:stretch/>
        </p:blipFill>
        <p:spPr>
          <a:xfrm>
            <a:off x="11291775" y="971825"/>
            <a:ext cx="5614050" cy="8343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35f2425625_0_8"/>
          <p:cNvSpPr txBox="1"/>
          <p:nvPr/>
        </p:nvSpPr>
        <p:spPr>
          <a:xfrm>
            <a:off x="1584450" y="3429000"/>
            <a:ext cx="15119100" cy="5331900"/>
          </a:xfrm>
          <a:prstGeom prst="rect">
            <a:avLst/>
          </a:prstGeom>
          <a:noFill/>
          <a:ln>
            <a:noFill/>
          </a:ln>
        </p:spPr>
        <p:txBody>
          <a:bodyPr anchorCtr="0" anchor="t" bIns="0" lIns="0" spcFirstLastPara="1" rIns="0" wrap="square" tIns="0">
            <a:spAutoFit/>
          </a:bodyPr>
          <a:lstStyle/>
          <a:p>
            <a:pPr indent="-431800" lvl="0" marL="457200" marR="0" rtl="0" algn="l">
              <a:lnSpc>
                <a:spcPct val="100000"/>
              </a:lnSpc>
              <a:spcBef>
                <a:spcPts val="0"/>
              </a:spcBef>
              <a:spcAft>
                <a:spcPts val="0"/>
              </a:spcAft>
              <a:buSzPts val="3200"/>
              <a:buChar char="●"/>
            </a:pPr>
            <a:r>
              <a:rPr lang="en-US" sz="3200"/>
              <a:t>Once the PSL Final dataset was complete, it was </a:t>
            </a:r>
            <a:r>
              <a:rPr b="1" lang="en-US" sz="3200"/>
              <a:t>split</a:t>
            </a:r>
            <a:r>
              <a:rPr lang="en-US" sz="3200"/>
              <a:t> into train, evaluation, and test sets to ensure the effectiveness of deep learning models’s training.</a:t>
            </a:r>
            <a:endParaRPr sz="3200"/>
          </a:p>
          <a:p>
            <a:pPr indent="0" lvl="0" marL="457200" marR="0" rtl="0" algn="l">
              <a:lnSpc>
                <a:spcPct val="100000"/>
              </a:lnSpc>
              <a:spcBef>
                <a:spcPts val="0"/>
              </a:spcBef>
              <a:spcAft>
                <a:spcPts val="0"/>
              </a:spcAft>
              <a:buNone/>
            </a:pPr>
            <a:r>
              <a:t/>
            </a:r>
            <a:endParaRPr sz="3200"/>
          </a:p>
          <a:p>
            <a:pPr indent="0" lvl="0" marL="457200" rtl="0" algn="l">
              <a:lnSpc>
                <a:spcPct val="115000"/>
              </a:lnSpc>
              <a:spcBef>
                <a:spcPts val="0"/>
              </a:spcBef>
              <a:spcAft>
                <a:spcPts val="0"/>
              </a:spcAft>
              <a:buNone/>
            </a:pPr>
            <a:r>
              <a:rPr b="1" lang="en-US" sz="3200">
                <a:solidFill>
                  <a:srgbClr val="1557FF"/>
                </a:solidFill>
              </a:rPr>
              <a:t>Final Dataset Size</a:t>
            </a:r>
            <a:endParaRPr b="1" sz="3200">
              <a:solidFill>
                <a:srgbClr val="1557FF"/>
              </a:solidFill>
            </a:endParaRPr>
          </a:p>
          <a:p>
            <a:pPr indent="-431800" lvl="0" marL="1371600" rtl="0" algn="l">
              <a:lnSpc>
                <a:spcPct val="160000"/>
              </a:lnSpc>
              <a:spcBef>
                <a:spcPts val="1100"/>
              </a:spcBef>
              <a:spcAft>
                <a:spcPts val="0"/>
              </a:spcAft>
              <a:buSzPts val="3200"/>
              <a:buChar char="❖"/>
            </a:pPr>
            <a:r>
              <a:rPr lang="en-US" sz="3200"/>
              <a:t>Training: 4,992 examples (80%)</a:t>
            </a:r>
            <a:endParaRPr sz="3200"/>
          </a:p>
          <a:p>
            <a:pPr indent="-431800" lvl="0" marL="1371600" rtl="0" algn="l">
              <a:lnSpc>
                <a:spcPct val="160000"/>
              </a:lnSpc>
              <a:spcBef>
                <a:spcPts val="0"/>
              </a:spcBef>
              <a:spcAft>
                <a:spcPts val="0"/>
              </a:spcAft>
              <a:buSzPts val="3200"/>
              <a:buChar char="❖"/>
            </a:pPr>
            <a:r>
              <a:rPr lang="en-US" sz="3200"/>
              <a:t>Validation: 832 examples (15%)</a:t>
            </a:r>
            <a:endParaRPr sz="3200"/>
          </a:p>
          <a:p>
            <a:pPr indent="-431800" lvl="0" marL="1371600" rtl="0" algn="l">
              <a:lnSpc>
                <a:spcPct val="160000"/>
              </a:lnSpc>
              <a:spcBef>
                <a:spcPts val="0"/>
              </a:spcBef>
              <a:spcAft>
                <a:spcPts val="0"/>
              </a:spcAft>
              <a:buSzPts val="3200"/>
              <a:buChar char="❖"/>
            </a:pPr>
            <a:r>
              <a:rPr lang="en-US" sz="3200"/>
              <a:t>Test: 416 examples (5%)</a:t>
            </a:r>
            <a:endParaRPr sz="3200"/>
          </a:p>
          <a:p>
            <a:pPr indent="0" lvl="0" marL="457200" marR="0" rtl="0" algn="l">
              <a:lnSpc>
                <a:spcPct val="100000"/>
              </a:lnSpc>
              <a:spcBef>
                <a:spcPts val="1900"/>
              </a:spcBef>
              <a:spcAft>
                <a:spcPts val="0"/>
              </a:spcAft>
              <a:buNone/>
            </a:pPr>
            <a:r>
              <a:t/>
            </a:r>
            <a:endParaRPr b="0" i="0" sz="3500" u="none" cap="none" strike="noStrike">
              <a:solidFill>
                <a:srgbClr val="000000"/>
              </a:solidFill>
              <a:latin typeface="Arial"/>
              <a:ea typeface="Arial"/>
              <a:cs typeface="Arial"/>
              <a:sym typeface="Arial"/>
            </a:endParaRPr>
          </a:p>
        </p:txBody>
      </p:sp>
      <p:grpSp>
        <p:nvGrpSpPr>
          <p:cNvPr id="258" name="Google Shape;258;g335f2425625_0_8"/>
          <p:cNvGrpSpPr/>
          <p:nvPr/>
        </p:nvGrpSpPr>
        <p:grpSpPr>
          <a:xfrm>
            <a:off x="826275" y="512275"/>
            <a:ext cx="2201062" cy="2084426"/>
            <a:chOff x="0" y="0"/>
            <a:chExt cx="812800" cy="812800"/>
          </a:xfrm>
        </p:grpSpPr>
        <p:sp>
          <p:nvSpPr>
            <p:cNvPr id="259" name="Google Shape;259;g335f2425625_0_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35f2425625_0_8"/>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261" name="Google Shape;261;g335f2425625_0_8"/>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rgbClr val="1557FF"/>
                </a:solidFill>
                <a:latin typeface="Archivo Black"/>
                <a:ea typeface="Archivo Black"/>
                <a:cs typeface="Archivo Black"/>
                <a:sym typeface="Archivo Black"/>
              </a:rPr>
              <a:t>FYP II - Goal 3</a:t>
            </a:r>
            <a:r>
              <a:rPr lang="en-US" sz="6400">
                <a:solidFill>
                  <a:srgbClr val="1557FF"/>
                </a:solidFill>
                <a:latin typeface="Archivo Black"/>
                <a:ea typeface="Archivo Black"/>
                <a:cs typeface="Archivo Black"/>
                <a:sym typeface="Archivo Black"/>
              </a:rPr>
              <a:t> </a:t>
            </a:r>
            <a:endParaRPr sz="8300">
              <a:solidFill>
                <a:srgbClr val="1557FF"/>
              </a:solidFill>
              <a:latin typeface="Archivo Black"/>
              <a:ea typeface="Archivo Black"/>
              <a:cs typeface="Archivo Black"/>
              <a:sym typeface="Archivo Blac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35f2425625_0_16"/>
          <p:cNvSpPr txBox="1"/>
          <p:nvPr/>
        </p:nvSpPr>
        <p:spPr>
          <a:xfrm>
            <a:off x="1649925" y="3796650"/>
            <a:ext cx="15119100" cy="5170800"/>
          </a:xfrm>
          <a:prstGeom prst="rect">
            <a:avLst/>
          </a:prstGeom>
          <a:noFill/>
          <a:ln>
            <a:noFill/>
          </a:ln>
        </p:spPr>
        <p:txBody>
          <a:bodyPr anchorCtr="0" anchor="t" bIns="0" lIns="0" spcFirstLastPara="1" rIns="0" wrap="square" tIns="0">
            <a:spAutoFit/>
          </a:bodyPr>
          <a:lstStyle/>
          <a:p>
            <a:pPr indent="-431800" lvl="0" marL="457200" rtl="0" algn="l">
              <a:lnSpc>
                <a:spcPct val="115000"/>
              </a:lnSpc>
              <a:spcBef>
                <a:spcPts val="0"/>
              </a:spcBef>
              <a:spcAft>
                <a:spcPts val="0"/>
              </a:spcAft>
              <a:buSzPts val="3200"/>
              <a:buChar char="●"/>
            </a:pPr>
            <a:r>
              <a:rPr lang="en-US" sz="3200"/>
              <a:t>We </a:t>
            </a:r>
            <a:r>
              <a:rPr b="1" lang="en-US" sz="3200"/>
              <a:t>trained </a:t>
            </a:r>
            <a:r>
              <a:rPr b="1" lang="en-US" sz="3200"/>
              <a:t>three different advanced deep learning models</a:t>
            </a:r>
            <a:r>
              <a:rPr lang="en-US" sz="3200"/>
              <a:t> to determine the most effective model for the PSL recognition system:</a:t>
            </a:r>
            <a:endParaRPr sz="3200"/>
          </a:p>
          <a:p>
            <a:pPr indent="-431800" lvl="0" marL="1828800" rtl="0" algn="l">
              <a:lnSpc>
                <a:spcPct val="115000"/>
              </a:lnSpc>
              <a:spcBef>
                <a:spcPts val="1000"/>
              </a:spcBef>
              <a:spcAft>
                <a:spcPts val="0"/>
              </a:spcAft>
              <a:buSzPts val="3200"/>
              <a:buAutoNum type="arabicPeriod"/>
            </a:pPr>
            <a:r>
              <a:rPr lang="en-US" sz="3200"/>
              <a:t>Video Vision Transformer (ViViT)</a:t>
            </a:r>
            <a:endParaRPr sz="3200"/>
          </a:p>
          <a:p>
            <a:pPr indent="-431800" lvl="0" marL="1828800" rtl="0" algn="l">
              <a:lnSpc>
                <a:spcPct val="115000"/>
              </a:lnSpc>
              <a:spcBef>
                <a:spcPts val="0"/>
              </a:spcBef>
              <a:spcAft>
                <a:spcPts val="0"/>
              </a:spcAft>
              <a:buSzPts val="3200"/>
              <a:buAutoNum type="arabicPeriod"/>
            </a:pPr>
            <a:r>
              <a:rPr lang="en-US" sz="3200"/>
              <a:t>ResNet-18 + LSTM</a:t>
            </a:r>
            <a:endParaRPr sz="3200"/>
          </a:p>
          <a:p>
            <a:pPr indent="-431800" lvl="0" marL="1828800" rtl="0" algn="l">
              <a:lnSpc>
                <a:spcPct val="115000"/>
              </a:lnSpc>
              <a:spcBef>
                <a:spcPts val="0"/>
              </a:spcBef>
              <a:spcAft>
                <a:spcPts val="0"/>
              </a:spcAft>
              <a:buSzPts val="3200"/>
              <a:buAutoNum type="arabicPeriod"/>
            </a:pPr>
            <a:r>
              <a:rPr lang="en-US" sz="3200"/>
              <a:t>3DCNN + Residual Block + BiLSTM (Proposed Model)</a:t>
            </a:r>
            <a:endParaRPr sz="3200"/>
          </a:p>
          <a:p>
            <a:pPr indent="0" lvl="0" marL="1828800" rtl="0" algn="l">
              <a:lnSpc>
                <a:spcPct val="115000"/>
              </a:lnSpc>
              <a:spcBef>
                <a:spcPts val="400"/>
              </a:spcBef>
              <a:spcAft>
                <a:spcPts val="0"/>
              </a:spcAft>
              <a:buNone/>
            </a:pPr>
            <a:r>
              <a:t/>
            </a:r>
            <a:endParaRPr sz="3200"/>
          </a:p>
          <a:p>
            <a:pPr indent="0" lvl="0" marL="0" rtl="0" algn="l">
              <a:lnSpc>
                <a:spcPct val="115000"/>
              </a:lnSpc>
              <a:spcBef>
                <a:spcPts val="1900"/>
              </a:spcBef>
              <a:spcAft>
                <a:spcPts val="0"/>
              </a:spcAft>
              <a:buNone/>
            </a:pPr>
            <a:r>
              <a:t/>
            </a:r>
            <a:endParaRPr sz="3200"/>
          </a:p>
          <a:p>
            <a:pPr indent="0" lvl="0" marL="457200" marR="0" rtl="0" algn="l">
              <a:lnSpc>
                <a:spcPct val="100000"/>
              </a:lnSpc>
              <a:spcBef>
                <a:spcPts val="1900"/>
              </a:spcBef>
              <a:spcAft>
                <a:spcPts val="0"/>
              </a:spcAft>
              <a:buNone/>
            </a:pPr>
            <a:r>
              <a:t/>
            </a:r>
            <a:endParaRPr b="0" i="0" sz="3500" u="none" cap="none" strike="noStrike">
              <a:solidFill>
                <a:srgbClr val="000000"/>
              </a:solidFill>
              <a:latin typeface="Arial"/>
              <a:ea typeface="Arial"/>
              <a:cs typeface="Arial"/>
              <a:sym typeface="Arial"/>
            </a:endParaRPr>
          </a:p>
        </p:txBody>
      </p:sp>
      <p:grpSp>
        <p:nvGrpSpPr>
          <p:cNvPr id="267" name="Google Shape;267;g335f2425625_0_16"/>
          <p:cNvGrpSpPr/>
          <p:nvPr/>
        </p:nvGrpSpPr>
        <p:grpSpPr>
          <a:xfrm>
            <a:off x="826275" y="512275"/>
            <a:ext cx="2201062" cy="2084426"/>
            <a:chOff x="0" y="0"/>
            <a:chExt cx="812800" cy="812800"/>
          </a:xfrm>
        </p:grpSpPr>
        <p:sp>
          <p:nvSpPr>
            <p:cNvPr id="268" name="Google Shape;268;g335f2425625_0_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335f2425625_0_16"/>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270" name="Google Shape;270;g335f2425625_0_16"/>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rgbClr val="1557FF"/>
                </a:solidFill>
                <a:latin typeface="Archivo Black"/>
                <a:ea typeface="Archivo Black"/>
                <a:cs typeface="Archivo Black"/>
                <a:sym typeface="Archivo Black"/>
              </a:rPr>
              <a:t>FYP II - Goal 4 </a:t>
            </a:r>
            <a:endParaRPr sz="8300">
              <a:solidFill>
                <a:srgbClr val="1557FF"/>
              </a:solidFill>
              <a:latin typeface="Archivo Black"/>
              <a:ea typeface="Archivo Black"/>
              <a:cs typeface="Archivo Black"/>
              <a:sym typeface="Archivo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grpSp>
        <p:nvGrpSpPr>
          <p:cNvPr id="275" name="Google Shape;275;g335f2425625_0_24"/>
          <p:cNvGrpSpPr/>
          <p:nvPr/>
        </p:nvGrpSpPr>
        <p:grpSpPr>
          <a:xfrm>
            <a:off x="826275" y="512275"/>
            <a:ext cx="2201062" cy="2084426"/>
            <a:chOff x="0" y="0"/>
            <a:chExt cx="812800" cy="812800"/>
          </a:xfrm>
        </p:grpSpPr>
        <p:sp>
          <p:nvSpPr>
            <p:cNvPr id="276" name="Google Shape;276;g335f2425625_0_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35f2425625_0_24"/>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278" name="Google Shape;278;g335f2425625_0_24"/>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chemeClr val="dk1"/>
                </a:solidFill>
                <a:latin typeface="Archivo Black"/>
                <a:ea typeface="Archivo Black"/>
                <a:cs typeface="Archivo Black"/>
                <a:sym typeface="Archivo Black"/>
              </a:rPr>
              <a:t>FYP II - Goal 4 (i)</a:t>
            </a:r>
            <a:endParaRPr sz="9000">
              <a:solidFill>
                <a:srgbClr val="1557FF"/>
              </a:solidFill>
              <a:latin typeface="Archivo Black"/>
              <a:ea typeface="Archivo Black"/>
              <a:cs typeface="Archivo Black"/>
              <a:sym typeface="Archivo Black"/>
            </a:endParaRPr>
          </a:p>
        </p:txBody>
      </p:sp>
      <p:sp>
        <p:nvSpPr>
          <p:cNvPr id="279" name="Google Shape;279;g335f2425625_0_24"/>
          <p:cNvSpPr txBox="1"/>
          <p:nvPr/>
        </p:nvSpPr>
        <p:spPr>
          <a:xfrm>
            <a:off x="1590250" y="3958350"/>
            <a:ext cx="10462800" cy="5727600"/>
          </a:xfrm>
          <a:prstGeom prst="rect">
            <a:avLst/>
          </a:prstGeom>
          <a:noFill/>
          <a:ln>
            <a:noFill/>
          </a:ln>
        </p:spPr>
        <p:txBody>
          <a:bodyPr anchorCtr="0" anchor="t" bIns="91425" lIns="91425" spcFirstLastPara="1" rIns="91425" wrap="square" tIns="91425">
            <a:noAutofit/>
          </a:bodyPr>
          <a:lstStyle/>
          <a:p>
            <a:pPr indent="-431800" lvl="0" marL="457200" rtl="0" algn="l">
              <a:lnSpc>
                <a:spcPct val="100000"/>
              </a:lnSpc>
              <a:spcBef>
                <a:spcPts val="1000"/>
              </a:spcBef>
              <a:spcAft>
                <a:spcPts val="0"/>
              </a:spcAft>
              <a:buSzPts val="3200"/>
              <a:buChar char="●"/>
            </a:pPr>
            <a:r>
              <a:rPr lang="en-US" sz="3200"/>
              <a:t>Extends ViT with temporal modeling for video.</a:t>
            </a:r>
            <a:endParaRPr sz="3200"/>
          </a:p>
          <a:p>
            <a:pPr indent="-431800" lvl="0" marL="457200" rtl="0" algn="l">
              <a:lnSpc>
                <a:spcPct val="100000"/>
              </a:lnSpc>
              <a:spcBef>
                <a:spcPts val="1200"/>
              </a:spcBef>
              <a:spcAft>
                <a:spcPts val="0"/>
              </a:spcAft>
              <a:buSzPts val="3200"/>
              <a:buChar char="●"/>
            </a:pPr>
            <a:r>
              <a:rPr lang="en-US" sz="3200"/>
              <a:t>Divides input into 32 frames, each split into 16×16 patches.</a:t>
            </a:r>
            <a:endParaRPr sz="3200"/>
          </a:p>
          <a:p>
            <a:pPr indent="-431800" lvl="0" marL="457200" rtl="0" algn="l">
              <a:lnSpc>
                <a:spcPct val="100000"/>
              </a:lnSpc>
              <a:spcBef>
                <a:spcPts val="1000"/>
              </a:spcBef>
              <a:spcAft>
                <a:spcPts val="0"/>
              </a:spcAft>
              <a:buSzPts val="3200"/>
              <a:buChar char="●"/>
            </a:pPr>
            <a:r>
              <a:rPr lang="en-US" sz="3200"/>
              <a:t>Combines 2D spatial and 1D temporal embeddings for sequence preservation.</a:t>
            </a:r>
            <a:endParaRPr sz="3200"/>
          </a:p>
          <a:p>
            <a:pPr indent="-431800" lvl="0" marL="457200" rtl="0" algn="l">
              <a:lnSpc>
                <a:spcPct val="100000"/>
              </a:lnSpc>
              <a:spcBef>
                <a:spcPts val="1000"/>
              </a:spcBef>
              <a:spcAft>
                <a:spcPts val="1200"/>
              </a:spcAft>
              <a:buSzPts val="3200"/>
              <a:buChar char="●"/>
            </a:pPr>
            <a:r>
              <a:rPr lang="en-US" sz="3200"/>
              <a:t>96% training accuracy, 75% evaluation accuracy (21% gap due to overfitting).</a:t>
            </a:r>
            <a:endParaRPr sz="3200"/>
          </a:p>
        </p:txBody>
      </p:sp>
      <p:sp>
        <p:nvSpPr>
          <p:cNvPr id="280" name="Google Shape;280;g335f2425625_0_24"/>
          <p:cNvSpPr txBox="1"/>
          <p:nvPr/>
        </p:nvSpPr>
        <p:spPr>
          <a:xfrm>
            <a:off x="1535550" y="2923525"/>
            <a:ext cx="15216900" cy="70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US" sz="3400">
                <a:solidFill>
                  <a:srgbClr val="1557FF"/>
                </a:solidFill>
                <a:latin typeface="Archivo Black"/>
                <a:ea typeface="Archivo Black"/>
                <a:cs typeface="Archivo Black"/>
                <a:sym typeface="Archivo Black"/>
              </a:rPr>
              <a:t>Model 1: Video Vision Transformer (ViViT)</a:t>
            </a:r>
            <a:endParaRPr sz="3400">
              <a:solidFill>
                <a:srgbClr val="1557FF"/>
              </a:solidFill>
              <a:latin typeface="Archivo Black"/>
              <a:ea typeface="Archivo Black"/>
              <a:cs typeface="Archivo Black"/>
              <a:sym typeface="Archivo Black"/>
            </a:endParaRPr>
          </a:p>
        </p:txBody>
      </p:sp>
      <p:pic>
        <p:nvPicPr>
          <p:cNvPr id="281" name="Google Shape;281;g335f2425625_0_24"/>
          <p:cNvPicPr preferRelativeResize="0"/>
          <p:nvPr/>
        </p:nvPicPr>
        <p:blipFill rotWithShape="1">
          <a:blip r:embed="rId3">
            <a:alphaModFix/>
          </a:blip>
          <a:srcRect b="2065" l="3031" r="5935" t="1437"/>
          <a:stretch/>
        </p:blipFill>
        <p:spPr>
          <a:xfrm>
            <a:off x="12313950" y="2761425"/>
            <a:ext cx="5350100" cy="66485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g335f2425625_0_37"/>
          <p:cNvGrpSpPr/>
          <p:nvPr/>
        </p:nvGrpSpPr>
        <p:grpSpPr>
          <a:xfrm>
            <a:off x="826275" y="512275"/>
            <a:ext cx="2201062" cy="2084426"/>
            <a:chOff x="0" y="0"/>
            <a:chExt cx="812800" cy="812800"/>
          </a:xfrm>
        </p:grpSpPr>
        <p:sp>
          <p:nvSpPr>
            <p:cNvPr id="287" name="Google Shape;287;g335f2425625_0_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35f2425625_0_37"/>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289" name="Google Shape;289;g335f2425625_0_37"/>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chemeClr val="dk1"/>
                </a:solidFill>
                <a:latin typeface="Archivo Black"/>
                <a:ea typeface="Archivo Black"/>
                <a:cs typeface="Archivo Black"/>
                <a:sym typeface="Archivo Black"/>
              </a:rPr>
              <a:t>FYP II - Goal 4 (ii)</a:t>
            </a:r>
            <a:endParaRPr sz="9000">
              <a:solidFill>
                <a:srgbClr val="1557FF"/>
              </a:solidFill>
              <a:latin typeface="Archivo Black"/>
              <a:ea typeface="Archivo Black"/>
              <a:cs typeface="Archivo Black"/>
              <a:sym typeface="Archivo Black"/>
            </a:endParaRPr>
          </a:p>
        </p:txBody>
      </p:sp>
      <p:sp>
        <p:nvSpPr>
          <p:cNvPr id="290" name="Google Shape;290;g335f2425625_0_37"/>
          <p:cNvSpPr txBox="1"/>
          <p:nvPr/>
        </p:nvSpPr>
        <p:spPr>
          <a:xfrm>
            <a:off x="826275" y="3958350"/>
            <a:ext cx="10462800" cy="5727600"/>
          </a:xfrm>
          <a:prstGeom prst="rect">
            <a:avLst/>
          </a:prstGeom>
          <a:noFill/>
          <a:ln>
            <a:noFill/>
          </a:ln>
        </p:spPr>
        <p:txBody>
          <a:bodyPr anchorCtr="0" anchor="t" bIns="91425" lIns="91425" spcFirstLastPara="1" rIns="91425" wrap="square" tIns="91425">
            <a:noAutofit/>
          </a:bodyPr>
          <a:lstStyle/>
          <a:p>
            <a:pPr indent="-431800" lvl="0" marL="457200" rtl="0" algn="l">
              <a:spcBef>
                <a:spcPts val="1000"/>
              </a:spcBef>
              <a:spcAft>
                <a:spcPts val="0"/>
              </a:spcAft>
              <a:buSzPts val="3200"/>
              <a:buChar char="●"/>
            </a:pPr>
            <a:r>
              <a:rPr lang="en-US" sz="3200"/>
              <a:t>Used re-trained ResNet-18 for spatial feature extraction, combined with a one-layer LSTM.</a:t>
            </a:r>
            <a:endParaRPr sz="3200"/>
          </a:p>
          <a:p>
            <a:pPr indent="-431800" lvl="0" marL="457200" rtl="0" algn="l">
              <a:spcBef>
                <a:spcPts val="1200"/>
              </a:spcBef>
              <a:spcAft>
                <a:spcPts val="0"/>
              </a:spcAft>
              <a:buSzPts val="3200"/>
              <a:buChar char="●"/>
            </a:pPr>
            <a:r>
              <a:rPr lang="en-US" sz="3200"/>
              <a:t>Single-layer LSTM captures sequential dynamics.</a:t>
            </a:r>
            <a:endParaRPr sz="3200"/>
          </a:p>
          <a:p>
            <a:pPr indent="-431800" lvl="0" marL="457200" rtl="0" algn="l">
              <a:spcBef>
                <a:spcPts val="1000"/>
              </a:spcBef>
              <a:spcAft>
                <a:spcPts val="0"/>
              </a:spcAft>
              <a:buSzPts val="3200"/>
              <a:buChar char="●"/>
            </a:pPr>
            <a:r>
              <a:rPr lang="en-US" sz="3200"/>
              <a:t>70 epochs, batch size 8, learning rate 1e-4, Cross Entropy Loss with label smoothing.</a:t>
            </a:r>
            <a:endParaRPr sz="3200"/>
          </a:p>
          <a:p>
            <a:pPr indent="-431800" lvl="0" marL="457200" rtl="0" algn="l">
              <a:spcBef>
                <a:spcPts val="1000"/>
              </a:spcBef>
              <a:spcAft>
                <a:spcPts val="1200"/>
              </a:spcAft>
              <a:buSzPts val="3200"/>
              <a:buChar char="●"/>
            </a:pPr>
            <a:r>
              <a:rPr lang="en-US" sz="3200"/>
              <a:t>91% training accuracy, 78% evaluation accuracy – better generalization than ViViT.</a:t>
            </a:r>
            <a:endParaRPr sz="3200"/>
          </a:p>
        </p:txBody>
      </p:sp>
      <p:sp>
        <p:nvSpPr>
          <p:cNvPr id="291" name="Google Shape;291;g335f2425625_0_37"/>
          <p:cNvSpPr txBox="1"/>
          <p:nvPr/>
        </p:nvSpPr>
        <p:spPr>
          <a:xfrm>
            <a:off x="1535550" y="2923525"/>
            <a:ext cx="15216900" cy="70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US" sz="3400">
                <a:solidFill>
                  <a:srgbClr val="1557FF"/>
                </a:solidFill>
                <a:latin typeface="Archivo Black"/>
                <a:ea typeface="Archivo Black"/>
                <a:cs typeface="Archivo Black"/>
                <a:sym typeface="Archivo Black"/>
              </a:rPr>
              <a:t>Model 2: ResNet-18+LSTM</a:t>
            </a:r>
            <a:endParaRPr sz="3400">
              <a:solidFill>
                <a:srgbClr val="1557FF"/>
              </a:solidFill>
              <a:latin typeface="Archivo Black"/>
              <a:ea typeface="Archivo Black"/>
              <a:cs typeface="Archivo Black"/>
              <a:sym typeface="Archivo Black"/>
            </a:endParaRPr>
          </a:p>
        </p:txBody>
      </p:sp>
      <p:pic>
        <p:nvPicPr>
          <p:cNvPr id="292" name="Google Shape;292;g335f2425625_0_37"/>
          <p:cNvPicPr preferRelativeResize="0"/>
          <p:nvPr/>
        </p:nvPicPr>
        <p:blipFill>
          <a:blip r:embed="rId3">
            <a:alphaModFix/>
          </a:blip>
          <a:stretch>
            <a:fillRect/>
          </a:stretch>
        </p:blipFill>
        <p:spPr>
          <a:xfrm>
            <a:off x="10911325" y="2923525"/>
            <a:ext cx="7177450" cy="6632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g335f2425625_0_48"/>
          <p:cNvGrpSpPr/>
          <p:nvPr/>
        </p:nvGrpSpPr>
        <p:grpSpPr>
          <a:xfrm>
            <a:off x="826275" y="512275"/>
            <a:ext cx="2201062" cy="2084426"/>
            <a:chOff x="0" y="0"/>
            <a:chExt cx="812800" cy="812800"/>
          </a:xfrm>
        </p:grpSpPr>
        <p:sp>
          <p:nvSpPr>
            <p:cNvPr id="298" name="Google Shape;298;g335f2425625_0_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35f2425625_0_48"/>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300" name="Google Shape;300;g335f2425625_0_48"/>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chemeClr val="dk1"/>
                </a:solidFill>
                <a:latin typeface="Archivo Black"/>
                <a:ea typeface="Archivo Black"/>
                <a:cs typeface="Archivo Black"/>
                <a:sym typeface="Archivo Black"/>
              </a:rPr>
              <a:t>FYP II - Goal 4 (iii)</a:t>
            </a:r>
            <a:endParaRPr sz="9000">
              <a:solidFill>
                <a:srgbClr val="1557FF"/>
              </a:solidFill>
              <a:latin typeface="Archivo Black"/>
              <a:ea typeface="Archivo Black"/>
              <a:cs typeface="Archivo Black"/>
              <a:sym typeface="Archivo Black"/>
            </a:endParaRPr>
          </a:p>
        </p:txBody>
      </p:sp>
      <p:sp>
        <p:nvSpPr>
          <p:cNvPr id="301" name="Google Shape;301;g335f2425625_0_48"/>
          <p:cNvSpPr txBox="1"/>
          <p:nvPr/>
        </p:nvSpPr>
        <p:spPr>
          <a:xfrm>
            <a:off x="826275" y="3958350"/>
            <a:ext cx="8160300" cy="5902500"/>
          </a:xfrm>
          <a:prstGeom prst="rect">
            <a:avLst/>
          </a:prstGeom>
          <a:noFill/>
          <a:ln>
            <a:noFill/>
          </a:ln>
        </p:spPr>
        <p:txBody>
          <a:bodyPr anchorCtr="0" anchor="t" bIns="91425" lIns="91425" spcFirstLastPara="1" rIns="91425" wrap="square" tIns="91425">
            <a:noAutofit/>
          </a:bodyPr>
          <a:lstStyle/>
          <a:p>
            <a:pPr indent="-431800" lvl="0" marL="457200" rtl="0" algn="l">
              <a:spcBef>
                <a:spcPts val="1200"/>
              </a:spcBef>
              <a:spcAft>
                <a:spcPts val="0"/>
              </a:spcAft>
              <a:buSzPts val="3200"/>
              <a:buChar char="●"/>
            </a:pPr>
            <a:r>
              <a:rPr lang="en-US" sz="3200"/>
              <a:t>3D convolutions for spatial-temporal extraction, residual blocks for deeper learning, and BiLSTM for sequence modeling.</a:t>
            </a:r>
            <a:endParaRPr sz="3200"/>
          </a:p>
          <a:p>
            <a:pPr indent="-431800" lvl="0" marL="457200" rtl="0" algn="l">
              <a:spcBef>
                <a:spcPts val="0"/>
              </a:spcBef>
              <a:spcAft>
                <a:spcPts val="0"/>
              </a:spcAft>
              <a:buSzPts val="3200"/>
              <a:buChar char="●"/>
            </a:pPr>
            <a:r>
              <a:rPr lang="en-US" sz="3200"/>
              <a:t>Trained for 10 epochs (batch size 8, LR: 1e-3, 9.3M params).</a:t>
            </a:r>
            <a:endParaRPr sz="3200"/>
          </a:p>
          <a:p>
            <a:pPr indent="-431800" lvl="0" marL="457200" rtl="0" algn="l">
              <a:spcBef>
                <a:spcPts val="0"/>
              </a:spcBef>
              <a:spcAft>
                <a:spcPts val="0"/>
              </a:spcAft>
              <a:buSzPts val="3200"/>
              <a:buChar char="●"/>
            </a:pPr>
            <a:r>
              <a:rPr lang="en-US" sz="3200"/>
              <a:t>Achieved 88% training, 84% eval, 83.89% test accuracy.</a:t>
            </a:r>
            <a:endParaRPr sz="3200"/>
          </a:p>
          <a:p>
            <a:pPr indent="-431800" lvl="0" marL="457200" rtl="0" algn="l">
              <a:spcBef>
                <a:spcPts val="0"/>
              </a:spcBef>
              <a:spcAft>
                <a:spcPts val="0"/>
              </a:spcAft>
              <a:buSzPts val="3200"/>
              <a:buChar char="●"/>
            </a:pPr>
            <a:r>
              <a:rPr lang="en-US" sz="3200"/>
              <a:t>Precision: 0.88 | Recall: 0.84 | F1 Score: 0.84</a:t>
            </a:r>
            <a:endParaRPr sz="3200"/>
          </a:p>
        </p:txBody>
      </p:sp>
      <p:sp>
        <p:nvSpPr>
          <p:cNvPr id="302" name="Google Shape;302;g335f2425625_0_48"/>
          <p:cNvSpPr txBox="1"/>
          <p:nvPr/>
        </p:nvSpPr>
        <p:spPr>
          <a:xfrm>
            <a:off x="1535550" y="2923525"/>
            <a:ext cx="15216900" cy="70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US" sz="3400">
                <a:solidFill>
                  <a:schemeClr val="dk1"/>
                </a:solidFill>
                <a:latin typeface="Archivo Black"/>
                <a:ea typeface="Archivo Black"/>
                <a:cs typeface="Archivo Black"/>
                <a:sym typeface="Archivo Black"/>
              </a:rPr>
              <a:t>Model 3: 3DCNN + Residual Block + BiLSTM</a:t>
            </a:r>
            <a:endParaRPr sz="3400">
              <a:solidFill>
                <a:srgbClr val="1557FF"/>
              </a:solidFill>
              <a:latin typeface="Archivo Black"/>
              <a:ea typeface="Archivo Black"/>
              <a:cs typeface="Archivo Black"/>
              <a:sym typeface="Archivo Black"/>
            </a:endParaRPr>
          </a:p>
        </p:txBody>
      </p:sp>
      <p:pic>
        <p:nvPicPr>
          <p:cNvPr id="303" name="Google Shape;303;g335f2425625_0_48"/>
          <p:cNvPicPr preferRelativeResize="0"/>
          <p:nvPr/>
        </p:nvPicPr>
        <p:blipFill>
          <a:blip r:embed="rId3">
            <a:alphaModFix/>
          </a:blip>
          <a:stretch>
            <a:fillRect/>
          </a:stretch>
        </p:blipFill>
        <p:spPr>
          <a:xfrm>
            <a:off x="9395525" y="4017075"/>
            <a:ext cx="8696725" cy="5785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grpSp>
        <p:nvGrpSpPr>
          <p:cNvPr id="308" name="Google Shape;308;g335f2425625_0_61"/>
          <p:cNvGrpSpPr/>
          <p:nvPr/>
        </p:nvGrpSpPr>
        <p:grpSpPr>
          <a:xfrm>
            <a:off x="826275" y="512275"/>
            <a:ext cx="2201062" cy="2084426"/>
            <a:chOff x="0" y="0"/>
            <a:chExt cx="812800" cy="812800"/>
          </a:xfrm>
        </p:grpSpPr>
        <p:sp>
          <p:nvSpPr>
            <p:cNvPr id="309" name="Google Shape;309;g335f2425625_0_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35f2425625_0_61"/>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311" name="Google Shape;311;g335f2425625_0_61"/>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chemeClr val="dk1"/>
                </a:solidFill>
                <a:latin typeface="Archivo Black"/>
                <a:ea typeface="Archivo Black"/>
                <a:cs typeface="Archivo Black"/>
                <a:sym typeface="Archivo Black"/>
              </a:rPr>
              <a:t>FYP II - Goal 5</a:t>
            </a:r>
            <a:endParaRPr sz="8300">
              <a:solidFill>
                <a:srgbClr val="1557FF"/>
              </a:solidFill>
              <a:latin typeface="Archivo Black"/>
              <a:ea typeface="Archivo Black"/>
              <a:cs typeface="Archivo Black"/>
              <a:sym typeface="Archivo Black"/>
            </a:endParaRPr>
          </a:p>
        </p:txBody>
      </p:sp>
      <p:sp>
        <p:nvSpPr>
          <p:cNvPr id="312" name="Google Shape;312;g335f2425625_0_61"/>
          <p:cNvSpPr txBox="1"/>
          <p:nvPr/>
        </p:nvSpPr>
        <p:spPr>
          <a:xfrm>
            <a:off x="1649450" y="4251400"/>
            <a:ext cx="15100500" cy="541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t/>
            </a:r>
            <a:endParaRPr sz="3200"/>
          </a:p>
        </p:txBody>
      </p:sp>
      <p:sp>
        <p:nvSpPr>
          <p:cNvPr id="313" name="Google Shape;313;g335f2425625_0_61"/>
          <p:cNvSpPr txBox="1"/>
          <p:nvPr/>
        </p:nvSpPr>
        <p:spPr>
          <a:xfrm>
            <a:off x="1719150" y="3229200"/>
            <a:ext cx="15216900" cy="6272700"/>
          </a:xfrm>
          <a:prstGeom prst="rect">
            <a:avLst/>
          </a:prstGeom>
          <a:noFill/>
          <a:ln>
            <a:noFill/>
          </a:ln>
        </p:spPr>
        <p:txBody>
          <a:bodyPr anchorCtr="0" anchor="t" bIns="91425" lIns="91425" spcFirstLastPara="1" rIns="91425" wrap="square" tIns="91425">
            <a:noAutofit/>
          </a:bodyPr>
          <a:lstStyle/>
          <a:p>
            <a:pPr indent="-431800" lvl="0" marL="457200" rtl="0" algn="l">
              <a:lnSpc>
                <a:spcPct val="115000"/>
              </a:lnSpc>
              <a:spcBef>
                <a:spcPts val="0"/>
              </a:spcBef>
              <a:spcAft>
                <a:spcPts val="0"/>
              </a:spcAft>
              <a:buClr>
                <a:srgbClr val="191919"/>
              </a:buClr>
              <a:buSzPts val="3200"/>
              <a:buChar char="●"/>
            </a:pPr>
            <a:r>
              <a:rPr lang="en-US" sz="3200">
                <a:solidFill>
                  <a:srgbClr val="191919"/>
                </a:solidFill>
              </a:rPr>
              <a:t>To evaluate the models’ performance we used </a:t>
            </a:r>
            <a:r>
              <a:rPr b="1" lang="en-US" sz="3200">
                <a:solidFill>
                  <a:srgbClr val="191919"/>
                </a:solidFill>
              </a:rPr>
              <a:t>four key </a:t>
            </a:r>
            <a:r>
              <a:rPr b="1" lang="en-US" sz="3200">
                <a:solidFill>
                  <a:srgbClr val="191919"/>
                </a:solidFill>
              </a:rPr>
              <a:t>performance</a:t>
            </a:r>
            <a:r>
              <a:rPr b="1" lang="en-US" sz="3200">
                <a:solidFill>
                  <a:srgbClr val="191919"/>
                </a:solidFill>
              </a:rPr>
              <a:t> metrics</a:t>
            </a:r>
            <a:r>
              <a:rPr lang="en-US" sz="3200">
                <a:solidFill>
                  <a:srgbClr val="191919"/>
                </a:solidFill>
              </a:rPr>
              <a:t>:</a:t>
            </a:r>
            <a:endParaRPr sz="3200">
              <a:solidFill>
                <a:srgbClr val="191919"/>
              </a:solidFill>
            </a:endParaRPr>
          </a:p>
          <a:p>
            <a:pPr indent="0" lvl="0" marL="0" rtl="0" algn="l">
              <a:lnSpc>
                <a:spcPct val="115000"/>
              </a:lnSpc>
              <a:spcBef>
                <a:spcPts val="0"/>
              </a:spcBef>
              <a:spcAft>
                <a:spcPts val="0"/>
              </a:spcAft>
              <a:buNone/>
            </a:pPr>
            <a:r>
              <a:t/>
            </a:r>
            <a:endParaRPr sz="3200">
              <a:solidFill>
                <a:srgbClr val="191919"/>
              </a:solidFill>
            </a:endParaRPr>
          </a:p>
          <a:p>
            <a:pPr indent="-431800" lvl="1" marL="914400" rtl="0" algn="l">
              <a:lnSpc>
                <a:spcPct val="100000"/>
              </a:lnSpc>
              <a:spcBef>
                <a:spcPts val="0"/>
              </a:spcBef>
              <a:spcAft>
                <a:spcPts val="0"/>
              </a:spcAft>
              <a:buClr>
                <a:srgbClr val="191919"/>
              </a:buClr>
              <a:buSzPts val="3200"/>
              <a:buChar char="○"/>
            </a:pPr>
            <a:r>
              <a:rPr b="1" lang="en-US" sz="3200">
                <a:solidFill>
                  <a:srgbClr val="191919"/>
                </a:solidFill>
              </a:rPr>
              <a:t>Accuracy:</a:t>
            </a:r>
            <a:r>
              <a:rPr lang="en-US" sz="3200">
                <a:solidFill>
                  <a:srgbClr val="191919"/>
                </a:solidFill>
              </a:rPr>
              <a:t> Percentage of overall correct predictions, giving us a broad view of model performance.</a:t>
            </a:r>
            <a:endParaRPr sz="3200">
              <a:solidFill>
                <a:srgbClr val="191919"/>
              </a:solidFill>
            </a:endParaRPr>
          </a:p>
          <a:p>
            <a:pPr indent="-431800" lvl="1" marL="914400" rtl="0" algn="l">
              <a:lnSpc>
                <a:spcPct val="100000"/>
              </a:lnSpc>
              <a:spcBef>
                <a:spcPts val="1000"/>
              </a:spcBef>
              <a:spcAft>
                <a:spcPts val="0"/>
              </a:spcAft>
              <a:buClr>
                <a:srgbClr val="191919"/>
              </a:buClr>
              <a:buSzPts val="3200"/>
              <a:buChar char="○"/>
            </a:pPr>
            <a:r>
              <a:rPr b="1" lang="en-US" sz="3200">
                <a:solidFill>
                  <a:srgbClr val="191919"/>
                </a:solidFill>
              </a:rPr>
              <a:t>Precision</a:t>
            </a:r>
            <a:r>
              <a:rPr lang="en-US" sz="3200">
                <a:solidFill>
                  <a:srgbClr val="191919"/>
                </a:solidFill>
              </a:rPr>
              <a:t> to evaluate how many predicted signs were actually correct</a:t>
            </a:r>
            <a:endParaRPr sz="3200">
              <a:solidFill>
                <a:srgbClr val="191919"/>
              </a:solidFill>
            </a:endParaRPr>
          </a:p>
          <a:p>
            <a:pPr indent="-431800" lvl="1" marL="914400" rtl="0" algn="l">
              <a:lnSpc>
                <a:spcPct val="100000"/>
              </a:lnSpc>
              <a:spcBef>
                <a:spcPts val="1000"/>
              </a:spcBef>
              <a:spcAft>
                <a:spcPts val="0"/>
              </a:spcAft>
              <a:buClr>
                <a:srgbClr val="191919"/>
              </a:buClr>
              <a:buSzPts val="3200"/>
              <a:buChar char="○"/>
            </a:pPr>
            <a:r>
              <a:rPr b="1" lang="en-US" sz="3200">
                <a:solidFill>
                  <a:srgbClr val="191919"/>
                </a:solidFill>
              </a:rPr>
              <a:t>Recall</a:t>
            </a:r>
            <a:r>
              <a:rPr lang="en-US" sz="3200">
                <a:solidFill>
                  <a:srgbClr val="191919"/>
                </a:solidFill>
              </a:rPr>
              <a:t> to check how many actual signs were correctly predicted</a:t>
            </a:r>
            <a:endParaRPr sz="3200">
              <a:solidFill>
                <a:srgbClr val="191919"/>
              </a:solidFill>
            </a:endParaRPr>
          </a:p>
          <a:p>
            <a:pPr indent="-431800" lvl="1" marL="914400" rtl="0" algn="l">
              <a:lnSpc>
                <a:spcPct val="100000"/>
              </a:lnSpc>
              <a:spcBef>
                <a:spcPts val="1000"/>
              </a:spcBef>
              <a:spcAft>
                <a:spcPts val="0"/>
              </a:spcAft>
              <a:buClr>
                <a:srgbClr val="191919"/>
              </a:buClr>
              <a:buSzPts val="3200"/>
              <a:buChar char="○"/>
            </a:pPr>
            <a:r>
              <a:rPr b="1" lang="en-US" sz="3200">
                <a:solidFill>
                  <a:srgbClr val="191919"/>
                </a:solidFill>
              </a:rPr>
              <a:t>F1</a:t>
            </a:r>
            <a:r>
              <a:rPr lang="en-US" sz="3200">
                <a:solidFill>
                  <a:srgbClr val="191919"/>
                </a:solidFill>
              </a:rPr>
              <a:t> </a:t>
            </a:r>
            <a:r>
              <a:rPr b="1" lang="en-US" sz="3200">
                <a:solidFill>
                  <a:srgbClr val="191919"/>
                </a:solidFill>
              </a:rPr>
              <a:t>score:</a:t>
            </a:r>
            <a:r>
              <a:rPr lang="en-US" sz="3200">
                <a:solidFill>
                  <a:srgbClr val="191919"/>
                </a:solidFill>
              </a:rPr>
              <a:t> balancing precision and recall for better fairness.</a:t>
            </a:r>
            <a:endParaRPr sz="3200">
              <a:solidFill>
                <a:srgbClr val="191919"/>
              </a:solidFill>
            </a:endParaRPr>
          </a:p>
          <a:p>
            <a:pPr indent="0" lvl="0" marL="1828800" rtl="0" algn="l">
              <a:lnSpc>
                <a:spcPct val="115000"/>
              </a:lnSpc>
              <a:spcBef>
                <a:spcPts val="0"/>
              </a:spcBef>
              <a:spcAft>
                <a:spcPts val="0"/>
              </a:spcAft>
              <a:buNone/>
            </a:pPr>
            <a:r>
              <a:t/>
            </a:r>
            <a:endParaRPr sz="3200">
              <a:solidFill>
                <a:srgbClr val="19191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g335f2425625_0_70"/>
          <p:cNvGrpSpPr/>
          <p:nvPr/>
        </p:nvGrpSpPr>
        <p:grpSpPr>
          <a:xfrm>
            <a:off x="826275" y="512275"/>
            <a:ext cx="2201062" cy="2084426"/>
            <a:chOff x="0" y="0"/>
            <a:chExt cx="812800" cy="812800"/>
          </a:xfrm>
        </p:grpSpPr>
        <p:sp>
          <p:nvSpPr>
            <p:cNvPr id="319" name="Google Shape;319;g335f2425625_0_7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335f2425625_0_70"/>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321" name="Google Shape;321;g335f2425625_0_70"/>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rgbClr val="1557FF"/>
                </a:solidFill>
                <a:latin typeface="Archivo Black"/>
                <a:ea typeface="Archivo Black"/>
                <a:cs typeface="Archivo Black"/>
                <a:sym typeface="Archivo Black"/>
              </a:rPr>
              <a:t>Result Analysis:</a:t>
            </a:r>
            <a:endParaRPr sz="8300">
              <a:solidFill>
                <a:srgbClr val="1557FF"/>
              </a:solidFill>
              <a:latin typeface="Archivo Black"/>
              <a:ea typeface="Archivo Black"/>
              <a:cs typeface="Archivo Black"/>
              <a:sym typeface="Archivo Black"/>
            </a:endParaRPr>
          </a:p>
        </p:txBody>
      </p:sp>
      <p:sp>
        <p:nvSpPr>
          <p:cNvPr id="322" name="Google Shape;322;g335f2425625_0_70"/>
          <p:cNvSpPr txBox="1"/>
          <p:nvPr/>
        </p:nvSpPr>
        <p:spPr>
          <a:xfrm>
            <a:off x="1044950" y="3287200"/>
            <a:ext cx="6737100" cy="62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3200">
                <a:solidFill>
                  <a:srgbClr val="1557FF"/>
                </a:solidFill>
              </a:rPr>
              <a:t>Key Observations:</a:t>
            </a:r>
            <a:endParaRPr b="1" sz="3200">
              <a:solidFill>
                <a:srgbClr val="1557FF"/>
              </a:solidFill>
            </a:endParaRPr>
          </a:p>
          <a:p>
            <a:pPr indent="-431800" lvl="0" marL="457200" rtl="0" algn="l">
              <a:lnSpc>
                <a:spcPct val="115000"/>
              </a:lnSpc>
              <a:spcBef>
                <a:spcPts val="1000"/>
              </a:spcBef>
              <a:spcAft>
                <a:spcPts val="0"/>
              </a:spcAft>
              <a:buClr>
                <a:srgbClr val="191919"/>
              </a:buClr>
              <a:buSzPts val="3200"/>
              <a:buChar char="●"/>
            </a:pPr>
            <a:r>
              <a:rPr lang="en-US" sz="3200">
                <a:solidFill>
                  <a:srgbClr val="191919"/>
                </a:solidFill>
              </a:rPr>
              <a:t>ViViT: 21% accuracy gap between training and evaluation (overfitting)</a:t>
            </a:r>
            <a:endParaRPr sz="3200">
              <a:solidFill>
                <a:srgbClr val="191919"/>
              </a:solidFill>
            </a:endParaRPr>
          </a:p>
          <a:p>
            <a:pPr indent="-431800" lvl="0" marL="457200" rtl="0" algn="l">
              <a:lnSpc>
                <a:spcPct val="115000"/>
              </a:lnSpc>
              <a:spcBef>
                <a:spcPts val="0"/>
              </a:spcBef>
              <a:spcAft>
                <a:spcPts val="0"/>
              </a:spcAft>
              <a:buClr>
                <a:srgbClr val="191919"/>
              </a:buClr>
              <a:buSzPts val="3200"/>
              <a:buChar char="●"/>
            </a:pPr>
            <a:r>
              <a:rPr lang="en-US" sz="3200">
                <a:solidFill>
                  <a:srgbClr val="191919"/>
                </a:solidFill>
              </a:rPr>
              <a:t>ResNet-18 + LSTM: Reduced gap but still underperformed on evaluation</a:t>
            </a:r>
            <a:endParaRPr sz="3200">
              <a:solidFill>
                <a:srgbClr val="191919"/>
              </a:solidFill>
            </a:endParaRPr>
          </a:p>
          <a:p>
            <a:pPr indent="-431800" lvl="0" marL="457200" rtl="0" algn="l">
              <a:lnSpc>
                <a:spcPct val="115000"/>
              </a:lnSpc>
              <a:spcBef>
                <a:spcPts val="0"/>
              </a:spcBef>
              <a:spcAft>
                <a:spcPts val="0"/>
              </a:spcAft>
              <a:buClr>
                <a:srgbClr val="191919"/>
              </a:buClr>
              <a:buSzPts val="3200"/>
              <a:buChar char="●"/>
            </a:pPr>
            <a:r>
              <a:rPr lang="en-US" sz="3200">
                <a:solidFill>
                  <a:srgbClr val="191919"/>
                </a:solidFill>
              </a:rPr>
              <a:t>Our proposed model: Best generalization with minimal gap</a:t>
            </a:r>
            <a:endParaRPr sz="3200">
              <a:solidFill>
                <a:srgbClr val="191919"/>
              </a:solidFill>
            </a:endParaRPr>
          </a:p>
        </p:txBody>
      </p:sp>
      <p:sp>
        <p:nvSpPr>
          <p:cNvPr id="323" name="Google Shape;323;g335f2425625_0_70"/>
          <p:cNvSpPr txBox="1"/>
          <p:nvPr/>
        </p:nvSpPr>
        <p:spPr>
          <a:xfrm>
            <a:off x="9571475" y="3484750"/>
            <a:ext cx="8131200" cy="58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rgbClr val="191919"/>
              </a:solidFill>
            </a:endParaRPr>
          </a:p>
        </p:txBody>
      </p:sp>
      <p:graphicFrame>
        <p:nvGraphicFramePr>
          <p:cNvPr id="324" name="Google Shape;324;g335f2425625_0_70"/>
          <p:cNvGraphicFramePr/>
          <p:nvPr/>
        </p:nvGraphicFramePr>
        <p:xfrm>
          <a:off x="7782050" y="3287200"/>
          <a:ext cx="3000000" cy="3000000"/>
        </p:xfrm>
        <a:graphic>
          <a:graphicData uri="http://schemas.openxmlformats.org/drawingml/2006/table">
            <a:tbl>
              <a:tblPr>
                <a:noFill/>
                <a:tableStyleId>{0B4B6421-AAF5-459B-B793-F2D41C6C678B}</a:tableStyleId>
              </a:tblPr>
              <a:tblGrid>
                <a:gridCol w="1454825"/>
                <a:gridCol w="1582250"/>
                <a:gridCol w="1786125"/>
                <a:gridCol w="1607750"/>
                <a:gridCol w="1607750"/>
                <a:gridCol w="1607750"/>
              </a:tblGrid>
              <a:tr h="1247700">
                <a:tc>
                  <a:txBody>
                    <a:bodyPr/>
                    <a:lstStyle/>
                    <a:p>
                      <a:pPr indent="0" lvl="0" marL="0" rtl="0" algn="l">
                        <a:spcBef>
                          <a:spcPts val="0"/>
                        </a:spcBef>
                        <a:spcAft>
                          <a:spcPts val="0"/>
                        </a:spcAft>
                        <a:buNone/>
                      </a:pPr>
                      <a:r>
                        <a:rPr b="1" lang="en-US" sz="2200"/>
                        <a:t>Model</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2200"/>
                        <a:t>Training Accuracy</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2200"/>
                        <a:t>Evaluation Accuracy</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2200"/>
                        <a:t>Train</a:t>
                      </a:r>
                      <a:endParaRPr b="1" sz="2200"/>
                    </a:p>
                    <a:p>
                      <a:pPr indent="0" lvl="0" marL="0" rtl="0" algn="l">
                        <a:spcBef>
                          <a:spcPts val="0"/>
                        </a:spcBef>
                        <a:spcAft>
                          <a:spcPts val="0"/>
                        </a:spcAft>
                        <a:buNone/>
                      </a:pPr>
                      <a:r>
                        <a:rPr b="1" lang="en-US" sz="2200"/>
                        <a:t>Precision</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2200"/>
                        <a:t>Train </a:t>
                      </a:r>
                      <a:endParaRPr b="1" sz="2200"/>
                    </a:p>
                    <a:p>
                      <a:pPr indent="0" lvl="0" marL="0" rtl="0" algn="l">
                        <a:spcBef>
                          <a:spcPts val="0"/>
                        </a:spcBef>
                        <a:spcAft>
                          <a:spcPts val="0"/>
                        </a:spcAft>
                        <a:buNone/>
                      </a:pPr>
                      <a:r>
                        <a:rPr b="1" lang="en-US" sz="2200"/>
                        <a:t>Recall</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2200"/>
                        <a:t>Train </a:t>
                      </a:r>
                      <a:endParaRPr b="1" sz="2200"/>
                    </a:p>
                    <a:p>
                      <a:pPr indent="0" lvl="0" marL="0" rtl="0" algn="l">
                        <a:spcBef>
                          <a:spcPts val="0"/>
                        </a:spcBef>
                        <a:spcAft>
                          <a:spcPts val="0"/>
                        </a:spcAft>
                        <a:buNone/>
                      </a:pPr>
                      <a:r>
                        <a:rPr b="1" lang="en-US" sz="2200"/>
                        <a:t>F1 score</a:t>
                      </a:r>
                      <a:endParaRPr b="1"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121575">
                <a:tc>
                  <a:txBody>
                    <a:bodyPr/>
                    <a:lstStyle/>
                    <a:p>
                      <a:pPr indent="0" lvl="0" marL="0" rtl="0" algn="l">
                        <a:spcBef>
                          <a:spcPts val="0"/>
                        </a:spcBef>
                        <a:spcAft>
                          <a:spcPts val="0"/>
                        </a:spcAft>
                        <a:buNone/>
                      </a:pPr>
                      <a:r>
                        <a:rPr lang="en-US" sz="2200"/>
                        <a:t>ViViT</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75% </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0.97</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078575">
                <a:tc>
                  <a:txBody>
                    <a:bodyPr/>
                    <a:lstStyle/>
                    <a:p>
                      <a:pPr indent="0" lvl="0" marL="0" rtl="0" algn="l">
                        <a:spcBef>
                          <a:spcPts val="0"/>
                        </a:spcBef>
                        <a:spcAft>
                          <a:spcPts val="0"/>
                        </a:spcAft>
                        <a:buNone/>
                      </a:pPr>
                      <a:r>
                        <a:rPr lang="en-US" sz="2200"/>
                        <a:t>ResNet+ LSTM</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84%</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0.96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2044350">
                <a:tc>
                  <a:txBody>
                    <a:bodyPr/>
                    <a:lstStyle/>
                    <a:p>
                      <a:pPr indent="0" lvl="0" marL="0" rtl="0" algn="l">
                        <a:spcBef>
                          <a:spcPts val="0"/>
                        </a:spcBef>
                        <a:spcAft>
                          <a:spcPts val="0"/>
                        </a:spcAft>
                        <a:buNone/>
                      </a:pPr>
                      <a:r>
                        <a:rPr lang="en-US" sz="2200"/>
                        <a:t>3DCNN + Residual Block + BiLSTM</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87%</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86%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0.89</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0.87</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200"/>
                        <a:t>0.86</a:t>
                      </a:r>
                      <a:endParaRPr sz="2200"/>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35f2425625_0_80"/>
          <p:cNvSpPr txBox="1"/>
          <p:nvPr/>
        </p:nvSpPr>
        <p:spPr>
          <a:xfrm>
            <a:off x="1584450" y="3165950"/>
            <a:ext cx="15119100" cy="5024100"/>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SzPts val="2900"/>
              <a:buChar char="●"/>
            </a:pPr>
            <a:r>
              <a:rPr lang="en-US" sz="3200"/>
              <a:t>Developed a comprehensive PSL recognition system to bridge the communication gap for the deaf community in Pakistan.</a:t>
            </a:r>
            <a:endParaRPr sz="3200"/>
          </a:p>
          <a:p>
            <a:pPr indent="-412750" lvl="0" marL="457200" marR="0" rtl="0" algn="l">
              <a:lnSpc>
                <a:spcPct val="115000"/>
              </a:lnSpc>
              <a:spcBef>
                <a:spcPts val="0"/>
              </a:spcBef>
              <a:spcAft>
                <a:spcPts val="0"/>
              </a:spcAft>
              <a:buSzPts val="2900"/>
              <a:buChar char="●"/>
            </a:pPr>
            <a:r>
              <a:rPr lang="en-US" sz="3200"/>
              <a:t>Created a custom dataset of 104 daily-use PSL signs with extensive frame-level augmentation.</a:t>
            </a:r>
            <a:endParaRPr sz="3200"/>
          </a:p>
          <a:p>
            <a:pPr indent="-412750" lvl="0" marL="457200" marR="0" rtl="0" algn="l">
              <a:lnSpc>
                <a:spcPct val="115000"/>
              </a:lnSpc>
              <a:spcBef>
                <a:spcPts val="0"/>
              </a:spcBef>
              <a:spcAft>
                <a:spcPts val="0"/>
              </a:spcAft>
              <a:buSzPts val="2900"/>
              <a:buChar char="●"/>
            </a:pPr>
            <a:r>
              <a:rPr lang="en-US" sz="3200"/>
              <a:t>Evaluated ViViT, ResNet18+LSTM, and a proposed 3D CNN+Residual+BiLSTM model.</a:t>
            </a:r>
            <a:endParaRPr sz="3200"/>
          </a:p>
          <a:p>
            <a:pPr indent="-412750" lvl="0" marL="457200" marR="0" rtl="0" algn="l">
              <a:lnSpc>
                <a:spcPct val="115000"/>
              </a:lnSpc>
              <a:spcBef>
                <a:spcPts val="0"/>
              </a:spcBef>
              <a:spcAft>
                <a:spcPts val="0"/>
              </a:spcAft>
              <a:buSzPts val="2900"/>
              <a:buChar char="●"/>
            </a:pPr>
            <a:r>
              <a:rPr lang="en-US" sz="3200"/>
              <a:t>Proposed model achieved best performance: 8</a:t>
            </a:r>
            <a:r>
              <a:rPr lang="en-US" sz="3200"/>
              <a:t>3.89%</a:t>
            </a:r>
            <a:r>
              <a:rPr lang="en-US" sz="3200"/>
              <a:t> accuracy, F1 score: 0.84 on unseen data.</a:t>
            </a:r>
            <a:endParaRPr sz="3200"/>
          </a:p>
          <a:p>
            <a:pPr indent="0" lvl="0" marL="457200" marR="0" rtl="0" algn="l">
              <a:lnSpc>
                <a:spcPct val="115000"/>
              </a:lnSpc>
              <a:spcBef>
                <a:spcPts val="0"/>
              </a:spcBef>
              <a:spcAft>
                <a:spcPts val="0"/>
              </a:spcAft>
              <a:buNone/>
            </a:pPr>
            <a:r>
              <a:t/>
            </a:r>
            <a:endParaRPr sz="3200"/>
          </a:p>
        </p:txBody>
      </p:sp>
      <p:grpSp>
        <p:nvGrpSpPr>
          <p:cNvPr id="330" name="Google Shape;330;g335f2425625_0_80"/>
          <p:cNvGrpSpPr/>
          <p:nvPr/>
        </p:nvGrpSpPr>
        <p:grpSpPr>
          <a:xfrm>
            <a:off x="826275" y="512275"/>
            <a:ext cx="2201062" cy="2084426"/>
            <a:chOff x="0" y="0"/>
            <a:chExt cx="812800" cy="812800"/>
          </a:xfrm>
        </p:grpSpPr>
        <p:sp>
          <p:nvSpPr>
            <p:cNvPr id="331" name="Google Shape;331;g335f2425625_0_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335f2425625_0_80"/>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333" name="Google Shape;333;g335f2425625_0_80"/>
          <p:cNvSpPr txBox="1"/>
          <p:nvPr/>
        </p:nvSpPr>
        <p:spPr>
          <a:xfrm>
            <a:off x="1590250" y="1211300"/>
            <a:ext cx="156957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rgbClr val="1557FF"/>
                </a:solidFill>
                <a:latin typeface="Archivo Black"/>
                <a:ea typeface="Archivo Black"/>
                <a:cs typeface="Archivo Black"/>
                <a:sym typeface="Archivo Black"/>
              </a:rPr>
              <a:t>Conclusion of our FYP</a:t>
            </a:r>
            <a:endParaRPr sz="8300">
              <a:solidFill>
                <a:srgbClr val="1557FF"/>
              </a:solidFill>
              <a:latin typeface="Archivo Black"/>
              <a:ea typeface="Archivo Black"/>
              <a:cs typeface="Archivo Black"/>
              <a:sym typeface="Archivo Black"/>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35f2425625_0_88"/>
          <p:cNvSpPr txBox="1"/>
          <p:nvPr/>
        </p:nvSpPr>
        <p:spPr>
          <a:xfrm>
            <a:off x="1584450" y="4144625"/>
            <a:ext cx="15119100" cy="2191800"/>
          </a:xfrm>
          <a:prstGeom prst="rect">
            <a:avLst/>
          </a:prstGeom>
          <a:noFill/>
          <a:ln>
            <a:noFill/>
          </a:ln>
        </p:spPr>
        <p:txBody>
          <a:bodyPr anchorCtr="0" anchor="t" bIns="0" lIns="0" spcFirstLastPara="1" rIns="0" wrap="square" tIns="0">
            <a:spAutoFit/>
          </a:bodyPr>
          <a:lstStyle/>
          <a:p>
            <a:pPr indent="-431800" lvl="0" marL="457200" marR="0" rtl="0" algn="l">
              <a:lnSpc>
                <a:spcPct val="115000"/>
              </a:lnSpc>
              <a:spcBef>
                <a:spcPts val="0"/>
              </a:spcBef>
              <a:spcAft>
                <a:spcPts val="0"/>
              </a:spcAft>
              <a:buSzPts val="3200"/>
              <a:buChar char="●"/>
            </a:pPr>
            <a:r>
              <a:rPr lang="en-US" sz="3200"/>
              <a:t>Implement the </a:t>
            </a:r>
            <a:r>
              <a:rPr b="1" lang="en-US" sz="3200"/>
              <a:t>real-time inference</a:t>
            </a:r>
            <a:r>
              <a:rPr lang="en-US" sz="3200"/>
              <a:t> to one of the best deep learning model.</a:t>
            </a:r>
            <a:endParaRPr sz="3200"/>
          </a:p>
          <a:p>
            <a:pPr indent="-431800" lvl="0" marL="457200" marR="0" rtl="0" algn="l">
              <a:lnSpc>
                <a:spcPct val="115000"/>
              </a:lnSpc>
              <a:spcBef>
                <a:spcPts val="0"/>
              </a:spcBef>
              <a:spcAft>
                <a:spcPts val="0"/>
              </a:spcAft>
              <a:buSzPts val="3200"/>
              <a:buChar char="●"/>
            </a:pPr>
            <a:r>
              <a:rPr lang="en-US" sz="3200"/>
              <a:t>Implement the </a:t>
            </a:r>
            <a:r>
              <a:rPr b="1" lang="en-US" sz="3200"/>
              <a:t>sentence-wise inference</a:t>
            </a:r>
            <a:r>
              <a:rPr lang="en-US" sz="3200"/>
              <a:t> with nano seconds of inference.</a:t>
            </a:r>
            <a:endParaRPr sz="3200"/>
          </a:p>
          <a:p>
            <a:pPr indent="-431800" lvl="0" marL="457200" marR="0" rtl="0" algn="l">
              <a:lnSpc>
                <a:spcPct val="115000"/>
              </a:lnSpc>
              <a:spcBef>
                <a:spcPts val="0"/>
              </a:spcBef>
              <a:spcAft>
                <a:spcPts val="0"/>
              </a:spcAft>
              <a:buSzPts val="3200"/>
              <a:buChar char="●"/>
            </a:pPr>
            <a:r>
              <a:rPr b="1" lang="en-US" sz="3200"/>
              <a:t>Increase</a:t>
            </a:r>
            <a:r>
              <a:rPr lang="en-US" sz="3200"/>
              <a:t> the </a:t>
            </a:r>
            <a:r>
              <a:rPr b="1" lang="en-US" sz="3200"/>
              <a:t>robustness and performance of the trained models</a:t>
            </a:r>
            <a:r>
              <a:rPr lang="en-US" sz="3200"/>
              <a:t>, with </a:t>
            </a:r>
            <a:r>
              <a:rPr b="1" lang="en-US" sz="3200"/>
              <a:t>minimal gap</a:t>
            </a:r>
            <a:r>
              <a:rPr lang="en-US" sz="3200"/>
              <a:t> between training, evaluation and test set.</a:t>
            </a:r>
            <a:endParaRPr sz="3200"/>
          </a:p>
        </p:txBody>
      </p:sp>
      <p:grpSp>
        <p:nvGrpSpPr>
          <p:cNvPr id="339" name="Google Shape;339;g335f2425625_0_88"/>
          <p:cNvGrpSpPr/>
          <p:nvPr/>
        </p:nvGrpSpPr>
        <p:grpSpPr>
          <a:xfrm>
            <a:off x="826275" y="512275"/>
            <a:ext cx="2201062" cy="2084426"/>
            <a:chOff x="0" y="0"/>
            <a:chExt cx="812800" cy="812800"/>
          </a:xfrm>
        </p:grpSpPr>
        <p:sp>
          <p:nvSpPr>
            <p:cNvPr id="340" name="Google Shape;340;g335f2425625_0_8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F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35f2425625_0_88"/>
            <p:cNvSpPr txBox="1"/>
            <p:nvPr/>
          </p:nvSpPr>
          <p:spPr>
            <a:xfrm>
              <a:off x="76200" y="28575"/>
              <a:ext cx="660300" cy="708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1557FF"/>
                </a:solidFill>
                <a:latin typeface="Calibri"/>
                <a:ea typeface="Calibri"/>
                <a:cs typeface="Calibri"/>
                <a:sym typeface="Calibri"/>
              </a:endParaRPr>
            </a:p>
          </p:txBody>
        </p:sp>
      </p:grpSp>
      <p:sp>
        <p:nvSpPr>
          <p:cNvPr id="342" name="Google Shape;342;g335f2425625_0_88"/>
          <p:cNvSpPr txBox="1"/>
          <p:nvPr/>
        </p:nvSpPr>
        <p:spPr>
          <a:xfrm>
            <a:off x="1590250" y="1211300"/>
            <a:ext cx="159432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7500"/>
              <a:buFont typeface="Arial"/>
              <a:buNone/>
            </a:pPr>
            <a:r>
              <a:rPr lang="en-US" sz="9000">
                <a:solidFill>
                  <a:srgbClr val="1557FF"/>
                </a:solidFill>
                <a:latin typeface="Archivo Black"/>
                <a:ea typeface="Archivo Black"/>
                <a:cs typeface="Archivo Black"/>
                <a:sym typeface="Archivo Black"/>
              </a:rPr>
              <a:t>Future Work</a:t>
            </a:r>
            <a:endParaRPr sz="8300">
              <a:solidFill>
                <a:srgbClr val="1557FF"/>
              </a:solidFill>
              <a:latin typeface="Archivo Black"/>
              <a:ea typeface="Archivo Black"/>
              <a:cs typeface="Archivo Black"/>
              <a:sym typeface="Archivo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21"/>
          <p:cNvGrpSpPr/>
          <p:nvPr/>
        </p:nvGrpSpPr>
        <p:grpSpPr>
          <a:xfrm>
            <a:off x="870313" y="567004"/>
            <a:ext cx="16645748" cy="9294084"/>
            <a:chOff x="0" y="0"/>
            <a:chExt cx="22194332" cy="12392113"/>
          </a:xfrm>
        </p:grpSpPr>
        <p:sp>
          <p:nvSpPr>
            <p:cNvPr id="348" name="Google Shape;348;p21"/>
            <p:cNvSpPr/>
            <p:nvPr/>
          </p:nvSpPr>
          <p:spPr>
            <a:xfrm>
              <a:off x="4028" y="1210497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3">
                <a:alphaModFix/>
              </a:blip>
              <a:stretch>
                <a:fillRect b="-5575360" l="0" r="-520" t="0"/>
              </a:stretch>
            </a:blipFill>
            <a:ln>
              <a:noFill/>
            </a:ln>
          </p:spPr>
        </p:sp>
        <p:sp>
          <p:nvSpPr>
            <p:cNvPr id="349" name="Google Shape;349;p21"/>
            <p:cNvSpPr/>
            <p:nvPr/>
          </p:nvSpPr>
          <p:spPr>
            <a:xfrm>
              <a:off x="0" y="77552"/>
              <a:ext cx="340312" cy="12301860"/>
            </a:xfrm>
            <a:custGeom>
              <a:rect b="b" l="l" r="r" t="t"/>
              <a:pathLst>
                <a:path extrusionOk="0" h="12301860" w="340312">
                  <a:moveTo>
                    <a:pt x="0" y="0"/>
                  </a:moveTo>
                  <a:lnTo>
                    <a:pt x="340312" y="0"/>
                  </a:lnTo>
                  <a:lnTo>
                    <a:pt x="340312" y="12301861"/>
                  </a:lnTo>
                  <a:lnTo>
                    <a:pt x="0" y="12301861"/>
                  </a:lnTo>
                  <a:lnTo>
                    <a:pt x="0" y="0"/>
                  </a:lnTo>
                  <a:close/>
                </a:path>
              </a:pathLst>
            </a:custGeom>
            <a:blipFill rotWithShape="1">
              <a:blip r:embed="rId4">
                <a:alphaModFix/>
              </a:blip>
              <a:stretch>
                <a:fillRect b="0" l="0" r="-5322991" t="0"/>
              </a:stretch>
            </a:blipFill>
            <a:ln>
              <a:noFill/>
            </a:ln>
          </p:spPr>
        </p:sp>
        <p:sp>
          <p:nvSpPr>
            <p:cNvPr id="350" name="Google Shape;350;p21"/>
            <p:cNvSpPr/>
            <p:nvPr/>
          </p:nvSpPr>
          <p:spPr>
            <a:xfrm>
              <a:off x="4028" y="0"/>
              <a:ext cx="22190303" cy="261743"/>
            </a:xfrm>
            <a:custGeom>
              <a:rect b="b" l="l" r="r" t="t"/>
              <a:pathLst>
                <a:path extrusionOk="0" h="261743" w="22190303">
                  <a:moveTo>
                    <a:pt x="0" y="0"/>
                  </a:moveTo>
                  <a:lnTo>
                    <a:pt x="22190303" y="0"/>
                  </a:lnTo>
                  <a:lnTo>
                    <a:pt x="22190303" y="261743"/>
                  </a:lnTo>
                  <a:lnTo>
                    <a:pt x="0" y="261743"/>
                  </a:lnTo>
                  <a:lnTo>
                    <a:pt x="0" y="0"/>
                  </a:lnTo>
                  <a:close/>
                </a:path>
              </a:pathLst>
            </a:custGeom>
            <a:blipFill rotWithShape="1">
              <a:blip r:embed="rId4">
                <a:alphaModFix/>
              </a:blip>
              <a:stretch>
                <a:fillRect b="-5575360" l="0" r="-520" t="0"/>
              </a:stretch>
            </a:blipFill>
            <a:ln>
              <a:noFill/>
            </a:ln>
          </p:spPr>
        </p:sp>
        <p:sp>
          <p:nvSpPr>
            <p:cNvPr id="351" name="Google Shape;351;p21"/>
            <p:cNvSpPr/>
            <p:nvPr/>
          </p:nvSpPr>
          <p:spPr>
            <a:xfrm rot="5400000">
              <a:off x="15859452" y="6057233"/>
              <a:ext cx="12379413" cy="290346"/>
            </a:xfrm>
            <a:custGeom>
              <a:rect b="b" l="l" r="r" t="t"/>
              <a:pathLst>
                <a:path extrusionOk="0" h="290346" w="12379413">
                  <a:moveTo>
                    <a:pt x="0" y="0"/>
                  </a:moveTo>
                  <a:lnTo>
                    <a:pt x="12379412" y="0"/>
                  </a:lnTo>
                  <a:lnTo>
                    <a:pt x="12379412" y="290346"/>
                  </a:lnTo>
                  <a:lnTo>
                    <a:pt x="0" y="290346"/>
                  </a:lnTo>
                  <a:lnTo>
                    <a:pt x="0" y="0"/>
                  </a:lnTo>
                  <a:close/>
                </a:path>
              </a:pathLst>
            </a:custGeom>
            <a:blipFill rotWithShape="1">
              <a:blip r:embed="rId5">
                <a:alphaModFix/>
              </a:blip>
              <a:stretch>
                <a:fillRect b="-2755511" l="0" r="-520" t="0"/>
              </a:stretch>
            </a:blipFill>
            <a:ln>
              <a:noFill/>
            </a:ln>
          </p:spPr>
        </p:sp>
      </p:grpSp>
      <p:sp>
        <p:nvSpPr>
          <p:cNvPr id="352" name="Google Shape;352;p21"/>
          <p:cNvSpPr/>
          <p:nvPr/>
        </p:nvSpPr>
        <p:spPr>
          <a:xfrm rot="2406556">
            <a:off x="2592045" y="339944"/>
            <a:ext cx="2851399" cy="2851388"/>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6">
              <a:alphaModFix/>
            </a:blip>
            <a:stretch>
              <a:fillRect b="0" l="-78571" r="-25040" t="-2953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1"/>
          <p:cNvSpPr txBox="1"/>
          <p:nvPr/>
        </p:nvSpPr>
        <p:spPr>
          <a:xfrm>
            <a:off x="3108650" y="3774525"/>
            <a:ext cx="12543900" cy="3047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9000"/>
              <a:buFont typeface="Arial"/>
              <a:buNone/>
            </a:pPr>
            <a:r>
              <a:rPr b="0" i="0" lang="en-US" sz="9000" u="none" cap="none" strike="noStrike">
                <a:solidFill>
                  <a:srgbClr val="1557FF"/>
                </a:solidFill>
                <a:latin typeface="Archivo Black"/>
                <a:ea typeface="Archivo Black"/>
                <a:cs typeface="Archivo Black"/>
                <a:sym typeface="Archivo Black"/>
              </a:rPr>
              <a:t>ANY Suggestions?</a:t>
            </a:r>
            <a:endParaRPr b="0" i="0" sz="9000" u="none" cap="none" strike="noStrike">
              <a:solidFill>
                <a:srgbClr val="1557FF"/>
              </a:solidFill>
              <a:latin typeface="Archivo Black"/>
              <a:ea typeface="Archivo Black"/>
              <a:cs typeface="Archivo Black"/>
              <a:sym typeface="Archivo Black"/>
            </a:endParaRPr>
          </a:p>
          <a:p>
            <a:pPr indent="0" lvl="0" marL="0" marR="0" rtl="0" algn="ctr">
              <a:lnSpc>
                <a:spcPct val="120000"/>
              </a:lnSpc>
              <a:spcBef>
                <a:spcPts val="0"/>
              </a:spcBef>
              <a:spcAft>
                <a:spcPts val="0"/>
              </a:spcAft>
              <a:buClr>
                <a:srgbClr val="000000"/>
              </a:buClr>
              <a:buSzPts val="9000"/>
              <a:buFont typeface="Arial"/>
              <a:buNone/>
            </a:pPr>
            <a:r>
              <a:rPr b="0" i="0" lang="en-US" sz="9000" u="none" cap="none" strike="noStrike">
                <a:solidFill>
                  <a:srgbClr val="1557FF"/>
                </a:solidFill>
                <a:latin typeface="Archivo Black"/>
                <a:ea typeface="Archivo Black"/>
                <a:cs typeface="Archivo Black"/>
                <a:sym typeface="Archivo Black"/>
              </a:rPr>
              <a:t>Thank you!</a:t>
            </a:r>
            <a:endParaRPr b="0" i="0" sz="1400" u="none" cap="none" strike="noStrike">
              <a:solidFill>
                <a:srgbClr val="000000"/>
              </a:solidFill>
              <a:latin typeface="Arial"/>
              <a:ea typeface="Arial"/>
              <a:cs typeface="Arial"/>
              <a:sym typeface="Arial"/>
            </a:endParaRPr>
          </a:p>
        </p:txBody>
      </p:sp>
      <p:sp>
        <p:nvSpPr>
          <p:cNvPr id="354" name="Google Shape;354;p21"/>
          <p:cNvSpPr/>
          <p:nvPr/>
        </p:nvSpPr>
        <p:spPr>
          <a:xfrm rot="-6155915">
            <a:off x="13130372" y="2462487"/>
            <a:ext cx="1302216" cy="130221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7">
              <a:alphaModFix/>
            </a:blip>
            <a:stretch>
              <a:fillRect b="0" l="-24897" r="-2489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1"/>
          <p:cNvSpPr/>
          <p:nvPr/>
        </p:nvSpPr>
        <p:spPr>
          <a:xfrm>
            <a:off x="8666431" y="7478806"/>
            <a:ext cx="1428346" cy="14283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8">
              <a:alphaModFix/>
            </a:blip>
            <a:stretch>
              <a:fillRect b="0" l="-26769" r="-2676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6" name="Google Shape;356;p21"/>
          <p:cNvPicPr preferRelativeResize="0"/>
          <p:nvPr/>
        </p:nvPicPr>
        <p:blipFill rotWithShape="1">
          <a:blip r:embed="rId9">
            <a:alphaModFix/>
          </a:blip>
          <a:srcRect b="0" l="0" r="0" t="0"/>
          <a:stretch/>
        </p:blipFill>
        <p:spPr>
          <a:xfrm rot="-1310455">
            <a:off x="295403" y="6549616"/>
            <a:ext cx="4554272" cy="4017774"/>
          </a:xfrm>
          <a:prstGeom prst="rect">
            <a:avLst/>
          </a:prstGeom>
          <a:noFill/>
          <a:ln>
            <a:noFill/>
          </a:ln>
        </p:spPr>
      </p:pic>
      <p:pic>
        <p:nvPicPr>
          <p:cNvPr id="357" name="Google Shape;357;p21"/>
          <p:cNvPicPr preferRelativeResize="0"/>
          <p:nvPr/>
        </p:nvPicPr>
        <p:blipFill rotWithShape="1">
          <a:blip r:embed="rId10">
            <a:alphaModFix/>
          </a:blip>
          <a:srcRect b="0" l="0" r="0" t="0"/>
          <a:stretch/>
        </p:blipFill>
        <p:spPr>
          <a:xfrm rot="2067651">
            <a:off x="14294912" y="6588013"/>
            <a:ext cx="3209925" cy="3209925"/>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1000"/>
                                        <p:tgtEl>
                                          <p:spTgt spid="356"/>
                                        </p:tgtEl>
                                        <p:attrNameLst>
                                          <p:attrName>ppt_w</p:attrName>
                                        </p:attrNameLst>
                                      </p:cBhvr>
                                      <p:tavLst>
                                        <p:tav fmla="" tm="0">
                                          <p:val>
                                            <p:strVal val="0"/>
                                          </p:val>
                                        </p:tav>
                                        <p:tav fmla="" tm="100000">
                                          <p:val>
                                            <p:strVal val="#ppt_w"/>
                                          </p:val>
                                        </p:tav>
                                      </p:tavLst>
                                    </p:anim>
                                    <p:anim calcmode="lin" valueType="num">
                                      <p:cBhvr additive="base">
                                        <p:cTn dur="1000"/>
                                        <p:tgtEl>
                                          <p:spTgt spid="3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1000"/>
                                        <p:tgtEl>
                                          <p:spTgt spid="357"/>
                                        </p:tgtEl>
                                        <p:attrNameLst>
                                          <p:attrName>ppt_w</p:attrName>
                                        </p:attrNameLst>
                                      </p:cBhvr>
                                      <p:tavLst>
                                        <p:tav fmla="" tm="0">
                                          <p:val>
                                            <p:strVal val="0"/>
                                          </p:val>
                                        </p:tav>
                                        <p:tav fmla="" tm="100000">
                                          <p:val>
                                            <p:strVal val="#ppt_w"/>
                                          </p:val>
                                        </p:tav>
                                      </p:tavLst>
                                    </p:anim>
                                    <p:anim calcmode="lin" valueType="num">
                                      <p:cBhvr additive="base">
                                        <p:cTn dur="1000"/>
                                        <p:tgtEl>
                                          <p:spTgt spid="35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2"/>
          <p:cNvSpPr txBox="1"/>
          <p:nvPr>
            <p:ph type="ctrTitle"/>
          </p:nvPr>
        </p:nvSpPr>
        <p:spPr>
          <a:xfrm>
            <a:off x="3238975" y="613100"/>
            <a:ext cx="110898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References</a:t>
            </a:r>
            <a:endParaRPr/>
          </a:p>
        </p:txBody>
      </p:sp>
      <p:sp>
        <p:nvSpPr>
          <p:cNvPr id="363" name="Google Shape;363;p22"/>
          <p:cNvSpPr txBox="1"/>
          <p:nvPr>
            <p:ph idx="1" type="subTitle"/>
          </p:nvPr>
        </p:nvSpPr>
        <p:spPr>
          <a:xfrm>
            <a:off x="746700" y="2083100"/>
            <a:ext cx="16794600" cy="7520100"/>
          </a:xfrm>
          <a:prstGeom prst="rect">
            <a:avLst/>
          </a:prstGeom>
          <a:noFill/>
          <a:ln>
            <a:noFill/>
          </a:ln>
        </p:spPr>
        <p:txBody>
          <a:bodyPr anchorCtr="0" anchor="t" bIns="45700" lIns="91425" spcFirstLastPara="1" rIns="91425" wrap="square" tIns="45700">
            <a:normAutofit fontScale="92500" lnSpcReduction="10000"/>
          </a:bodyPr>
          <a:lstStyle/>
          <a:p>
            <a:pPr indent="-416560" lvl="0" marL="457200" rtl="0" algn="l">
              <a:lnSpc>
                <a:spcPct val="100000"/>
              </a:lnSpc>
              <a:spcBef>
                <a:spcPts val="640"/>
              </a:spcBef>
              <a:spcAft>
                <a:spcPts val="0"/>
              </a:spcAft>
              <a:buSzPct val="100000"/>
              <a:buAutoNum type="arabicPeriod"/>
            </a:pPr>
            <a:r>
              <a:rPr lang="en-US"/>
              <a:t>Hamza, H.M., Wali, A. Pakistan sign language recognition: leveraging deep learning models with limited dataset. Machine Vision and Applications 34, 71 (2023). </a:t>
            </a:r>
            <a:r>
              <a:rPr lang="en-US" u="sng">
                <a:solidFill>
                  <a:schemeClr val="hlink"/>
                </a:solidFill>
                <a:hlinkClick r:id="rId3"/>
              </a:rPr>
              <a:t>https://doi.org/10.1007/s00138-023-01429-8</a:t>
            </a:r>
            <a:endParaRPr/>
          </a:p>
          <a:p>
            <a:pPr indent="-416560" lvl="0" marL="457200" marR="0" rtl="0" algn="l">
              <a:lnSpc>
                <a:spcPct val="100000"/>
              </a:lnSpc>
              <a:spcBef>
                <a:spcPts val="0"/>
              </a:spcBef>
              <a:spcAft>
                <a:spcPts val="0"/>
              </a:spcAft>
              <a:buSzPct val="100000"/>
              <a:buAutoNum type="arabicPeriod"/>
            </a:pPr>
            <a:r>
              <a:rPr lang="en-US"/>
              <a:t>Muneeb Ur Rehman, F. Ahmed, M. Attique Khan, Usman Tariq, Faisal Abdul Aziz Alfouzan, Nouf M. Alzahrani, &amp; Jawad Ahmad, Dynamic Hand Gesture Recognition Using 3D-CNN and LSTM Networks, Computers, Materials &amp; Continua (2022). </a:t>
            </a:r>
            <a:r>
              <a:rPr lang="en-US" u="sng">
                <a:solidFill>
                  <a:schemeClr val="hlink"/>
                </a:solidFill>
                <a:hlinkClick r:id="rId4"/>
              </a:rPr>
              <a:t>https://www.researchgate.net/publication/357489586_Dynamic_Hand_Gesture_Recognition_Using_3D-CNN_and_LSTM_Networks</a:t>
            </a:r>
            <a:endParaRPr/>
          </a:p>
          <a:p>
            <a:pPr indent="-416560" lvl="0" marL="457200" marR="0" rtl="0" algn="l">
              <a:lnSpc>
                <a:spcPct val="115000"/>
              </a:lnSpc>
              <a:spcBef>
                <a:spcPts val="0"/>
              </a:spcBef>
              <a:spcAft>
                <a:spcPts val="0"/>
              </a:spcAft>
              <a:buSzPct val="100000"/>
              <a:buAutoNum type="arabicPeriod"/>
            </a:pPr>
            <a:r>
              <a:rPr lang="en-US"/>
              <a:t>Samaan, G. H., Wadie, A. R., Attia, A. K., Asaad, A. M., Kamel, A. E., Slim, S. O., Abdallah, M. S., &amp; Cho, Y.-I. (2022). MediaPipe’s Landmarks with RNN for Dynamic Sign Language Recognition. Electronics, 11(19), 3228. </a:t>
            </a:r>
            <a:r>
              <a:rPr lang="en-US" u="sng">
                <a:solidFill>
                  <a:schemeClr val="hlink"/>
                </a:solidFill>
                <a:hlinkClick r:id="rId5"/>
              </a:rPr>
              <a:t>https://doi.org/10.3390/electronics11193228</a:t>
            </a:r>
            <a:endParaRPr/>
          </a:p>
          <a:p>
            <a:pPr indent="-416560" lvl="0" marL="457200" marR="0" rtl="0" algn="l">
              <a:lnSpc>
                <a:spcPct val="115000"/>
              </a:lnSpc>
              <a:spcBef>
                <a:spcPts val="0"/>
              </a:spcBef>
              <a:spcAft>
                <a:spcPts val="0"/>
              </a:spcAft>
              <a:buSzPct val="100000"/>
              <a:buAutoNum type="arabicPeriod"/>
            </a:pPr>
            <a:r>
              <a:rPr lang="en-US"/>
              <a:t>Z. Doždor, Z. Kalafatić, Ž. Ban and T. Hrkać, "TY-Net: Transforming YOLO for Hand Gesture Recognition", IEEE Access, vol. 11</a:t>
            </a:r>
            <a:endParaRPr/>
          </a:p>
          <a:p>
            <a:pPr indent="-416560" lvl="0" marL="457200" marR="0" rtl="0" algn="l">
              <a:lnSpc>
                <a:spcPct val="115000"/>
              </a:lnSpc>
              <a:spcBef>
                <a:spcPts val="0"/>
              </a:spcBef>
              <a:spcAft>
                <a:spcPts val="0"/>
              </a:spcAft>
              <a:buSzPct val="100000"/>
              <a:buAutoNum type="arabicPeriod"/>
            </a:pPr>
            <a:r>
              <a:rPr lang="en-US" u="sng">
                <a:solidFill>
                  <a:schemeClr val="hlink"/>
                </a:solidFill>
                <a:hlinkClick r:id="rId6"/>
              </a:rPr>
              <a:t>https://aclanthology.org/W19-6615.pdf</a:t>
            </a:r>
            <a:endParaRPr/>
          </a:p>
          <a:p>
            <a:pPr indent="-416560" lvl="0" marL="457200" marR="0" rtl="0" algn="l">
              <a:lnSpc>
                <a:spcPct val="115000"/>
              </a:lnSpc>
              <a:spcBef>
                <a:spcPts val="0"/>
              </a:spcBef>
              <a:spcAft>
                <a:spcPts val="0"/>
              </a:spcAft>
              <a:buSzPct val="100000"/>
              <a:buAutoNum type="arabicPeriod"/>
            </a:pPr>
            <a:r>
              <a:rPr lang="en-US"/>
              <a:t>https://www.mdpi.com/2313-433X/10/6/149#:~:text=ResNet%20extracts%20the%20sign%20language,rate%20of%20sign%20language%20actions.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I Agency Pitch Deck">
  <a:themeElements>
    <a:clrScheme name="Office">
      <a:dk1>
        <a:srgbClr val="1557FF"/>
      </a:dk1>
      <a:lt1>
        <a:srgbClr val="FFFFFF"/>
      </a:lt1>
      <a:dk2>
        <a:srgbClr val="4F7DCF"/>
      </a:dk2>
      <a:lt2>
        <a:srgbClr val="DFEAF5"/>
      </a:lt2>
      <a:accent1>
        <a:srgbClr val="CDFFD8"/>
      </a:accent1>
      <a:accent2>
        <a:srgbClr val="888888"/>
      </a:accent2>
      <a:accent3>
        <a:srgbClr val="191919"/>
      </a:accent3>
      <a:accent4>
        <a:srgbClr val="1557FF"/>
      </a:accent4>
      <a:accent5>
        <a:srgbClr val="4F7DCF"/>
      </a:accent5>
      <a:accent6>
        <a:srgbClr val="CDFFD8"/>
      </a:accent6>
      <a:hlink>
        <a:srgbClr val="1557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